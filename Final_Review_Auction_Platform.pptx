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 id="268" r:id="rId16"/>
    <p:sldId id="269"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Naive (SELECT then UPDATE)</c:v>
                </c:pt>
              </c:strCache>
            </c:strRef>
          </c:tx>
          <c:spPr>
            <a:solidFill>
              <a:srgbClr val="B3122B"/>
            </a:solidFill>
            <a:effectLst/>
          </c:spPr>
          <c:invertIfNegative val="0"/>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2050</c:v>
                </c:pt>
                <c:pt idx="1">
                  <c:v>1400</c:v>
                </c:pt>
                <c:pt idx="2">
                  <c:v>1900</c:v>
                </c:pt>
                <c:pt idx="3">
                  <c:v>1800</c:v>
                </c:pt>
                <c:pt idx="4">
                  <c:v>1300</c:v>
                </c:pt>
                <c:pt idx="5">
                  <c:v>2050</c:v>
                </c:pt>
                <c:pt idx="6">
                  <c:v>1550</c:v>
                </c:pt>
                <c:pt idx="7">
                  <c:v>1800</c:v>
                </c:pt>
                <c:pt idx="8">
                  <c:v>1500</c:v>
                </c:pt>
                <c:pt idx="9">
                  <c:v>1650</c:v>
                </c:pt>
              </c:numCache>
            </c:numRef>
          </c:val>
          <c:extLst>
            <c:ext xmlns:c16="http://schemas.microsoft.com/office/drawing/2014/chart" uri="{C3380CC4-5D6E-409C-BE32-E72D297353CC}">
              <c16:uniqueId val="{00000000-6F21-4E96-82D8-0DC96C2F30CA}"/>
            </c:ext>
          </c:extLst>
        </c:ser>
        <c:ser>
          <c:idx val="1"/>
          <c:order val="1"/>
          <c:tx>
            <c:strRef>
              <c:f>Sheet1!$C$1</c:f>
              <c:strCache>
                <c:ptCount val="1"/>
                <c:pt idx="0">
                  <c:v>Row lock (FOR UPDATE)</c:v>
                </c:pt>
              </c:strCache>
            </c:strRef>
          </c:tx>
          <c:spPr>
            <a:solidFill>
              <a:srgbClr val="15803D"/>
            </a:solidFill>
            <a:effectLst/>
          </c:spPr>
          <c:invertIfNegative val="0"/>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2050</c:v>
                </c:pt>
                <c:pt idx="1">
                  <c:v>2050</c:v>
                </c:pt>
                <c:pt idx="2">
                  <c:v>2050</c:v>
                </c:pt>
                <c:pt idx="3">
                  <c:v>2050</c:v>
                </c:pt>
                <c:pt idx="4">
                  <c:v>2050</c:v>
                </c:pt>
                <c:pt idx="5">
                  <c:v>2050</c:v>
                </c:pt>
                <c:pt idx="6">
                  <c:v>2050</c:v>
                </c:pt>
                <c:pt idx="7">
                  <c:v>2050</c:v>
                </c:pt>
                <c:pt idx="8">
                  <c:v>2050</c:v>
                </c:pt>
                <c:pt idx="9">
                  <c:v>2050</c:v>
                </c:pt>
              </c:numCache>
            </c:numRef>
          </c:val>
          <c:extLst>
            <c:ext xmlns:c16="http://schemas.microsoft.com/office/drawing/2014/chart" uri="{C3380CC4-5D6E-409C-BE32-E72D297353CC}">
              <c16:uniqueId val="{00000001-6F21-4E96-82D8-0DC96C2F30CA}"/>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title>
          <c:tx>
            <c:rich>
              <a:bodyPr/>
              <a:lstStyle/>
              <a:p>
                <a:pPr>
                  <a:defRPr sz="1000" b="0" i="0" u="none" strike="noStrike">
                    <a:solidFill>
                      <a:srgbClr val="64748B"/>
                    </a:solidFill>
                    <a:latin typeface="Arial"/>
                  </a:defRPr>
                </a:pPr>
                <a:r>
                  <a:rPr sz="1000" b="0" i="0" u="none" strike="noStrike">
                    <a:solidFill>
                      <a:srgbClr val="64748B"/>
                    </a:solidFill>
                    <a:latin typeface="Arial"/>
                  </a:rPr>
                  <a:t>Round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2200"/>
          <c:min val="1000"/>
        </c:scaling>
        <c:delete val="0"/>
        <c:axPos val="l"/>
        <c:majorGridlines>
          <c:spPr>
            <a:ln w="6350" cap="flat">
              <a:solidFill>
                <a:srgbClr val="E2E8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Final highest bid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majorUnit val="200"/>
      </c:valAx>
      <c:spPr>
        <a:noFill/>
        <a:ln>
          <a:noFill/>
        </a:ln>
        <a:effectLst/>
      </c:spPr>
    </c:plotArea>
    <c:legend>
      <c:legendPos val="b"/>
      <c:overlay val="0"/>
      <c:txPr>
        <a:bodyPr/>
        <a:lstStyle/>
        <a:p>
          <a:pPr>
            <a:defRPr sz="1050">
              <a:solidFill>
                <a:srgbClr val="1E293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99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is an online auction platform whose main contribution is correct handling of simultaneous bids. The headline result: under 20 simultaneous bidders, our approach produced the correct highest bid in 10 out of 10 test rounds, while a plain SELECT-then-UPDATE approach got it right only twice in 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the highest bid is 500. User A bids 600 and user B bids 550 at almost the same moment. Both read 500, both think they are valid, A writes 600, then B writes 550 on top of it. The lower bid wins. The root cause is that read, check and write are three separate steps with nothing locking the row. We reproduced this: with 20 simultaneous bidders the plain approach ended with a wrong highest bid in 8 of 10 rounds.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fix wraps the whole bid in one MySQL transaction. We start the transaction, then SELECT the auction row FOR UPDATE, which takes a row lock; any other bidder on that auction waits. We validate against the locked, fresh value, write the new highest bid and the bid history row together, and commit, which releases the lock. If MySQL reports a deadlock we retry up to three times with a small random back-off.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client talks to the Express server over REST with a JWT, and over a Socket.IO WebSocket for live events. The server talks to MySQL through a mysql2 connection pool; the pool matters because each concurrent bid needs its own connection to hold its own transaction and lock. Below is the life of one bid from click to every open screen.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has five tables: users, products, auctions, bids and auction_results. A product has many auctions, an auction has many bids, a user places many bids and creates products, and each closed auction has exactly one result row. All tables are InnoDB, which is required for transactions and row-level locks, and there is an index on auction id plus amount on the bids 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project, condensed from placeBidTransaction in bidController.js. The row lock on the auction is taken first, which is the line that makes every other bidder on the same auction wait. Validation then uses the locked value rather than a stale read. The update and the insert are in the same transaction, and commit releases the lock. If a deadlock error 1213 is raised, the wrapper retries up to three times.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bidder flow in the running application. On the left, the auction list shows each product, its current highest bid and its status. On the right, the detail page shows the current highest bid, the bid form, and the full bid history with bidder names and amounts.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two captures of the same open page, taken before and after a different user placed a bid through the API. The page moved from 2400 to 2650 without any reload, pushed over Socket.IO. On the right is the admin dashboard where administrators create products and auctions.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same experiment ten times. Twenty users bid distinct amounts from 1100 to 2050 at the same instant, so the correct final highest bid is always 2050. The plain read-then-write version ended with a wrong value in eight of ten rounds, sometimes as low as 1300. Our row-locking version ended at 2050 every single time, and the bid history was strictly increasing. Note that the naive version includes a 20 millisecond simulated processing delay between the read and the write.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test cases we executed against the running application. The first three are the concurrency tests: four distinct simultaneous bids, four users bidding the exact same amount where exactly one must win, and the twenty-bidder stress test repeated ten times. The rest cover validation, authentication, authorisation, the auto-close job and the live update. Tests were run on MariaDB 10.11 with InnoDB, which has the same row-locking behaviour as MySQL 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commercial auction sites have the core features but are closed-source, so their database design and concurrency handling cannot be studied. Basic academic projects usually skip transaction handling entirely. Our system keeps the same core features and adds a documented, tested locking approach plus live bid updates.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stack is open source: React with Vite on the front end, Node.js and Express on the back end, MySQL with InnoDB for storage and Socket.IO for real-time events. Development used VS Code, Git and GitHub and MySQL Workbench, and the application runs on Windows or Linux in any modern browser.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working auction platform and showed with measurements that row-level locking inside one transaction makes simultaneous bidding safe, 10 of 10 rounds correct versus 2 of 10 for the naive version. Bids reach every open page in real time. For future work we plan payments, a mobile app, notifications, AI-based price guidance, fraud detection, and edit and delete screens for products and auctions.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we can run the concurrency test live on the running application.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buNone/>
            </a:pPr>
            <a:r>
              <a:rPr lang="en-US" sz="1200" b="1" kern="0" spc="400" dirty="0">
                <a:solidFill>
                  <a:srgbClr val="7DD3FC"/>
                </a:solidFill>
                <a:latin typeface="Calibri" pitchFamily="34" charset="0"/>
                <a:ea typeface="Calibri" pitchFamily="34" charset="-122"/>
                <a:cs typeface="Calibri" pitchFamily="34" charset="-120"/>
              </a:rPr>
              <a:t>FINAL REVIEW</a:t>
            </a:r>
            <a:endParaRPr lang="en-US" sz="1200" dirty="0"/>
          </a:p>
        </p:txBody>
      </p:sp>
      <p:sp>
        <p:nvSpPr>
          <p:cNvPr id="3" name="Text 1"/>
          <p:cNvSpPr/>
          <p:nvPr/>
        </p:nvSpPr>
        <p:spPr>
          <a:xfrm>
            <a:off x="548640" y="822960"/>
            <a:ext cx="5669280" cy="16002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Online Auction and Bidding Platform with Real-Time Concurrency Handling</a:t>
            </a:r>
            <a:endParaRPr lang="en-US" sz="3000" dirty="0"/>
          </a:p>
        </p:txBody>
      </p:sp>
      <p:sp>
        <p:nvSpPr>
          <p:cNvPr id="4" name="Text 2"/>
          <p:cNvSpPr/>
          <p:nvPr/>
        </p:nvSpPr>
        <p:spPr>
          <a:xfrm>
            <a:off x="548640" y="2606040"/>
            <a:ext cx="6537960" cy="1333500"/>
          </a:xfrm>
          <a:prstGeom prst="rect">
            <a:avLst/>
          </a:prstGeom>
          <a:noFill/>
          <a:ln/>
        </p:spPr>
        <p:txBody>
          <a:bodyPr wrap="square" lIns="0" tIns="0" rIns="0" bIns="0" rtlCol="0" anchor="t"/>
          <a:lstStyle/>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Team 22  ·  Section 7</a:t>
            </a:r>
            <a:endParaRPr lang="en-US" sz="1500" dirty="0"/>
          </a:p>
          <a:p>
            <a:pPr marL="0" indent="0">
              <a:spcAft>
                <a:spcPts val="400"/>
              </a:spcAft>
              <a:buNone/>
            </a:pPr>
            <a:r>
              <a:rPr lang="en-US" sz="1300" dirty="0">
                <a:solidFill>
                  <a:srgbClr val="CBD5E1"/>
                </a:solidFill>
                <a:latin typeface="Calibri" pitchFamily="34" charset="0"/>
                <a:ea typeface="Calibri" pitchFamily="34" charset="-122"/>
                <a:cs typeface="Calibri" pitchFamily="34" charset="-120"/>
              </a:rPr>
              <a:t>Param Manasvi (Team Lead) – 2520030072</a:t>
            </a:r>
            <a:endParaRPr lang="en-US" sz="1500" dirty="0"/>
          </a:p>
          <a:p>
            <a:pPr marL="0" indent="0">
              <a:spcAft>
                <a:spcPts val="400"/>
              </a:spcAft>
              <a:buNone/>
            </a:pPr>
            <a:r>
              <a:rPr lang="en-US" sz="1300" dirty="0">
                <a:solidFill>
                  <a:srgbClr val="CBD5E1"/>
                </a:solidFill>
                <a:latin typeface="Calibri" pitchFamily="34" charset="0"/>
                <a:ea typeface="Calibri" pitchFamily="34" charset="-122"/>
                <a:cs typeface="Calibri" pitchFamily="34" charset="-120"/>
              </a:rPr>
              <a:t>Ch. Shravya Chowdary – 2520030322</a:t>
            </a:r>
            <a:endParaRPr lang="en-US" sz="1500" dirty="0"/>
          </a:p>
          <a:p>
            <a:pPr marL="0" indent="0">
              <a:spcAft>
                <a:spcPts val="400"/>
              </a:spcAft>
              <a:buNone/>
            </a:pPr>
            <a:r>
              <a:rPr lang="en-US" sz="1300" dirty="0">
                <a:solidFill>
                  <a:srgbClr val="CBD5E1"/>
                </a:solidFill>
                <a:latin typeface="Calibri" pitchFamily="34" charset="0"/>
                <a:ea typeface="Calibri" pitchFamily="34" charset="-122"/>
                <a:cs typeface="Calibri" pitchFamily="34" charset="-120"/>
              </a:rPr>
              <a:t>Guide: Dr. Y. Subbarayudu, Assistant Professor, Dept. of CSE</a:t>
            </a:r>
            <a:endParaRPr lang="en-US" sz="1500" dirty="0"/>
          </a:p>
        </p:txBody>
      </p:sp>
      <p:sp>
        <p:nvSpPr>
          <p:cNvPr id="5" name="Text 3"/>
          <p:cNvSpPr/>
          <p:nvPr/>
        </p:nvSpPr>
        <p:spPr>
          <a:xfrm>
            <a:off x="548640" y="4160520"/>
            <a:ext cx="5669280" cy="4572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Database Systems Engineering and Distributed Backend Development (25CS1302E)  ·  Y25 · 2026-27 · Trimester 4</a:t>
            </a:r>
            <a:endParaRPr lang="en-US" sz="1050" dirty="0"/>
          </a:p>
        </p:txBody>
      </p:sp>
      <p:sp>
        <p:nvSpPr>
          <p:cNvPr id="6" name="Shape 4"/>
          <p:cNvSpPr/>
          <p:nvPr/>
        </p:nvSpPr>
        <p:spPr>
          <a:xfrm>
            <a:off x="6492240" y="502920"/>
            <a:ext cx="2194560" cy="1539240"/>
          </a:xfrm>
          <a:prstGeom prst="roundRect">
            <a:avLst>
              <a:gd name="adj" fmla="val 8696"/>
            </a:avLst>
          </a:prstGeom>
          <a:solidFill>
            <a:srgbClr val="FFFFFF"/>
          </a:solidFill>
          <a:ln w="12700">
            <a:solidFill>
              <a:srgbClr val="FFFFFF"/>
            </a:solidFill>
            <a:prstDash val="solid"/>
          </a:ln>
        </p:spPr>
      </p:sp>
      <p:pic>
        <p:nvPicPr>
          <p:cNvPr id="7" name="Image 0" descr="/home/claude/deck/logo.png"/>
          <p:cNvPicPr>
            <a:picLocks noChangeAspect="1"/>
          </p:cNvPicPr>
          <p:nvPr/>
        </p:nvPicPr>
        <p:blipFill>
          <a:blip r:embed="rId3"/>
          <a:stretch>
            <a:fillRect/>
          </a:stretch>
        </p:blipFill>
        <p:spPr>
          <a:xfrm>
            <a:off x="6583680" y="535940"/>
            <a:ext cx="2057400" cy="1485900"/>
          </a:xfrm>
          <a:prstGeom prst="rect">
            <a:avLst/>
          </a:prstGeom>
        </p:spPr>
      </p:pic>
      <p:sp>
        <p:nvSpPr>
          <p:cNvPr id="9" name="Text 6"/>
          <p:cNvSpPr/>
          <p:nvPr/>
        </p:nvSpPr>
        <p:spPr>
          <a:xfrm>
            <a:off x="6583680" y="1965960"/>
            <a:ext cx="2011680" cy="914400"/>
          </a:xfrm>
          <a:prstGeom prst="rect">
            <a:avLst/>
          </a:prstGeom>
          <a:noFill/>
          <a:ln/>
        </p:spPr>
        <p:txBody>
          <a:bodyPr wrap="square" lIns="0" tIns="0" rIns="0" bIns="0" rtlCol="0" anchor="ctr"/>
          <a:lstStyle/>
          <a:p>
            <a:pPr marL="0" indent="0" algn="ctr">
              <a:buNone/>
            </a:pPr>
            <a:endParaRPr lang="en-US" sz="4600" dirty="0"/>
          </a:p>
        </p:txBody>
      </p:sp>
      <p:sp>
        <p:nvSpPr>
          <p:cNvPr id="10" name="Text 7"/>
          <p:cNvSpPr/>
          <p:nvPr/>
        </p:nvSpPr>
        <p:spPr>
          <a:xfrm>
            <a:off x="6675120" y="2926080"/>
            <a:ext cx="1828800" cy="868680"/>
          </a:xfrm>
          <a:prstGeom prst="rect">
            <a:avLst/>
          </a:prstGeom>
          <a:noFill/>
          <a:ln/>
        </p:spPr>
        <p:txBody>
          <a:bodyPr wrap="square" lIns="0" tIns="0" rIns="0" bIns="0" rtlCol="0" anchor="t"/>
          <a:lstStyle/>
          <a:p>
            <a:pPr marL="0" indent="0" algn="ctr">
              <a:buNone/>
            </a:pPr>
            <a:endParaRPr lang="en-US" sz="1200" dirty="0"/>
          </a:p>
        </p:txBody>
      </p:sp>
      <p:sp>
        <p:nvSpPr>
          <p:cNvPr id="11" name="Text 8"/>
          <p:cNvSpPr/>
          <p:nvPr/>
        </p:nvSpPr>
        <p:spPr>
          <a:xfrm>
            <a:off x="6675120" y="3840480"/>
            <a:ext cx="1828800" cy="502920"/>
          </a:xfrm>
          <a:prstGeom prst="rect">
            <a:avLst/>
          </a:prstGeom>
          <a:noFill/>
          <a:ln/>
        </p:spPr>
        <p:txBody>
          <a:bodyPr wrap="square" lIns="0" tIns="0" rIns="0" bIns="0" rtlCol="0" anchor="t"/>
          <a:lstStyle/>
          <a:p>
            <a:pPr marL="0" indent="0" algn="ctr">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The Problem: A Race Condition</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Why a simple SELECT then UPDATE is unsafe when bids arrive together</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8" name="Text 4"/>
          <p:cNvSpPr/>
          <p:nvPr/>
        </p:nvSpPr>
        <p:spPr>
          <a:xfrm>
            <a:off x="1097280" y="1234440"/>
            <a:ext cx="457200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Highest bid in database: ₹500</a:t>
            </a:r>
            <a:endParaRPr lang="en-US" sz="1200" dirty="0"/>
          </a:p>
        </p:txBody>
      </p:sp>
      <p:sp>
        <p:nvSpPr>
          <p:cNvPr id="9" name="Shape 5"/>
          <p:cNvSpPr/>
          <p:nvPr/>
        </p:nvSpPr>
        <p:spPr>
          <a:xfrm>
            <a:off x="1097280" y="1600200"/>
            <a:ext cx="2194560" cy="347472"/>
          </a:xfrm>
          <a:prstGeom prst="roundRect">
            <a:avLst>
              <a:gd name="adj" fmla="val 15789"/>
            </a:avLst>
          </a:prstGeom>
          <a:solidFill>
            <a:srgbClr val="0B6FB8"/>
          </a:solidFill>
          <a:ln w="12700">
            <a:solidFill>
              <a:srgbClr val="0B6FB8"/>
            </a:solidFill>
            <a:prstDash val="solid"/>
          </a:ln>
        </p:spPr>
      </p:sp>
      <p:sp>
        <p:nvSpPr>
          <p:cNvPr id="10" name="Text 6"/>
          <p:cNvSpPr/>
          <p:nvPr/>
        </p:nvSpPr>
        <p:spPr>
          <a:xfrm>
            <a:off x="1097280" y="1600200"/>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User A bids ₹600</a:t>
            </a:r>
            <a:endParaRPr lang="en-US" sz="1200" dirty="0"/>
          </a:p>
        </p:txBody>
      </p:sp>
      <p:sp>
        <p:nvSpPr>
          <p:cNvPr id="11" name="Shape 7"/>
          <p:cNvSpPr/>
          <p:nvPr/>
        </p:nvSpPr>
        <p:spPr>
          <a:xfrm>
            <a:off x="3474720" y="1600200"/>
            <a:ext cx="2194560" cy="347472"/>
          </a:xfrm>
          <a:prstGeom prst="roundRect">
            <a:avLst>
              <a:gd name="adj" fmla="val 15789"/>
            </a:avLst>
          </a:prstGeom>
          <a:solidFill>
            <a:srgbClr val="0F766E"/>
          </a:solidFill>
          <a:ln w="12700">
            <a:solidFill>
              <a:srgbClr val="0F766E"/>
            </a:solidFill>
            <a:prstDash val="solid"/>
          </a:ln>
        </p:spPr>
      </p:sp>
      <p:sp>
        <p:nvSpPr>
          <p:cNvPr id="12" name="Text 8"/>
          <p:cNvSpPr/>
          <p:nvPr/>
        </p:nvSpPr>
        <p:spPr>
          <a:xfrm>
            <a:off x="3474720" y="1600200"/>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User B bids ₹550</a:t>
            </a:r>
            <a:endParaRPr lang="en-US" sz="1200" dirty="0"/>
          </a:p>
        </p:txBody>
      </p:sp>
      <p:sp>
        <p:nvSpPr>
          <p:cNvPr id="13" name="Text 9"/>
          <p:cNvSpPr/>
          <p:nvPr/>
        </p:nvSpPr>
        <p:spPr>
          <a:xfrm>
            <a:off x="457200" y="2103120"/>
            <a:ext cx="548640" cy="41148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t1</a:t>
            </a:r>
            <a:endParaRPr lang="en-US" sz="1100" dirty="0"/>
          </a:p>
        </p:txBody>
      </p:sp>
      <p:sp>
        <p:nvSpPr>
          <p:cNvPr id="14" name="Shape 10"/>
          <p:cNvSpPr/>
          <p:nvPr/>
        </p:nvSpPr>
        <p:spPr>
          <a:xfrm>
            <a:off x="1097280" y="2103120"/>
            <a:ext cx="2194560" cy="411480"/>
          </a:xfrm>
          <a:prstGeom prst="roundRect">
            <a:avLst>
              <a:gd name="adj" fmla="val 17778"/>
            </a:avLst>
          </a:prstGeom>
          <a:solidFill>
            <a:srgbClr val="F1F5F9"/>
          </a:solidFill>
          <a:ln w="12700">
            <a:solidFill>
              <a:srgbClr val="F1F5F9"/>
            </a:solidFill>
            <a:prstDash val="solid"/>
          </a:ln>
        </p:spPr>
      </p:sp>
      <p:sp>
        <p:nvSpPr>
          <p:cNvPr id="15" name="Text 11"/>
          <p:cNvSpPr/>
          <p:nvPr/>
        </p:nvSpPr>
        <p:spPr>
          <a:xfrm>
            <a:off x="1097280" y="2103120"/>
            <a:ext cx="2194560" cy="41148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READ highest = ₹500</a:t>
            </a:r>
            <a:endParaRPr lang="en-US" sz="1100" dirty="0"/>
          </a:p>
        </p:txBody>
      </p:sp>
      <p:sp>
        <p:nvSpPr>
          <p:cNvPr id="16" name="Shape 12"/>
          <p:cNvSpPr/>
          <p:nvPr/>
        </p:nvSpPr>
        <p:spPr>
          <a:xfrm>
            <a:off x="3474720" y="2103120"/>
            <a:ext cx="2194560" cy="411480"/>
          </a:xfrm>
          <a:prstGeom prst="roundRect">
            <a:avLst>
              <a:gd name="adj" fmla="val 17778"/>
            </a:avLst>
          </a:prstGeom>
          <a:solidFill>
            <a:srgbClr val="F1F5F9"/>
          </a:solidFill>
          <a:ln w="12700">
            <a:solidFill>
              <a:srgbClr val="F1F5F9"/>
            </a:solidFill>
            <a:prstDash val="solid"/>
          </a:ln>
        </p:spPr>
      </p:sp>
      <p:sp>
        <p:nvSpPr>
          <p:cNvPr id="17" name="Text 13"/>
          <p:cNvSpPr/>
          <p:nvPr/>
        </p:nvSpPr>
        <p:spPr>
          <a:xfrm>
            <a:off x="3474720" y="2103120"/>
            <a:ext cx="2194560" cy="41148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READ highest = ₹500</a:t>
            </a:r>
            <a:endParaRPr lang="en-US" sz="1100" dirty="0"/>
          </a:p>
        </p:txBody>
      </p:sp>
      <p:sp>
        <p:nvSpPr>
          <p:cNvPr id="18" name="Text 14"/>
          <p:cNvSpPr/>
          <p:nvPr/>
        </p:nvSpPr>
        <p:spPr>
          <a:xfrm>
            <a:off x="457200" y="2633472"/>
            <a:ext cx="548640" cy="41148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t2</a:t>
            </a:r>
            <a:endParaRPr lang="en-US" sz="1100" dirty="0"/>
          </a:p>
        </p:txBody>
      </p:sp>
      <p:sp>
        <p:nvSpPr>
          <p:cNvPr id="19" name="Shape 15"/>
          <p:cNvSpPr/>
          <p:nvPr/>
        </p:nvSpPr>
        <p:spPr>
          <a:xfrm>
            <a:off x="1097280" y="2633472"/>
            <a:ext cx="2194560" cy="411480"/>
          </a:xfrm>
          <a:prstGeom prst="roundRect">
            <a:avLst>
              <a:gd name="adj" fmla="val 17778"/>
            </a:avLst>
          </a:prstGeom>
          <a:solidFill>
            <a:srgbClr val="F1F5F9"/>
          </a:solidFill>
          <a:ln w="12700">
            <a:solidFill>
              <a:srgbClr val="F1F5F9"/>
            </a:solidFill>
            <a:prstDash val="solid"/>
          </a:ln>
        </p:spPr>
      </p:sp>
      <p:sp>
        <p:nvSpPr>
          <p:cNvPr id="20" name="Text 16"/>
          <p:cNvSpPr/>
          <p:nvPr/>
        </p:nvSpPr>
        <p:spPr>
          <a:xfrm>
            <a:off x="1097280" y="2633472"/>
            <a:ext cx="2194560" cy="41148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600 &gt; 500, looks valid</a:t>
            </a:r>
            <a:endParaRPr lang="en-US" sz="1100" dirty="0"/>
          </a:p>
        </p:txBody>
      </p:sp>
      <p:sp>
        <p:nvSpPr>
          <p:cNvPr id="21" name="Shape 17"/>
          <p:cNvSpPr/>
          <p:nvPr/>
        </p:nvSpPr>
        <p:spPr>
          <a:xfrm>
            <a:off x="3474720" y="2633472"/>
            <a:ext cx="2194560" cy="411480"/>
          </a:xfrm>
          <a:prstGeom prst="roundRect">
            <a:avLst>
              <a:gd name="adj" fmla="val 17778"/>
            </a:avLst>
          </a:prstGeom>
          <a:solidFill>
            <a:srgbClr val="F1F5F9"/>
          </a:solidFill>
          <a:ln w="12700">
            <a:solidFill>
              <a:srgbClr val="F1F5F9"/>
            </a:solidFill>
            <a:prstDash val="solid"/>
          </a:ln>
        </p:spPr>
      </p:sp>
      <p:sp>
        <p:nvSpPr>
          <p:cNvPr id="22" name="Text 18"/>
          <p:cNvSpPr/>
          <p:nvPr/>
        </p:nvSpPr>
        <p:spPr>
          <a:xfrm>
            <a:off x="3474720" y="2633472"/>
            <a:ext cx="2194560" cy="41148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550 &gt; 500, looks valid</a:t>
            </a:r>
            <a:endParaRPr lang="en-US" sz="1100" dirty="0"/>
          </a:p>
        </p:txBody>
      </p:sp>
      <p:sp>
        <p:nvSpPr>
          <p:cNvPr id="23" name="Text 19"/>
          <p:cNvSpPr/>
          <p:nvPr/>
        </p:nvSpPr>
        <p:spPr>
          <a:xfrm>
            <a:off x="457200" y="3163824"/>
            <a:ext cx="548640" cy="41148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t3</a:t>
            </a:r>
            <a:endParaRPr lang="en-US" sz="1100" dirty="0"/>
          </a:p>
        </p:txBody>
      </p:sp>
      <p:sp>
        <p:nvSpPr>
          <p:cNvPr id="24" name="Shape 20"/>
          <p:cNvSpPr/>
          <p:nvPr/>
        </p:nvSpPr>
        <p:spPr>
          <a:xfrm>
            <a:off x="1097280" y="3163824"/>
            <a:ext cx="2194560" cy="411480"/>
          </a:xfrm>
          <a:prstGeom prst="roundRect">
            <a:avLst>
              <a:gd name="adj" fmla="val 17778"/>
            </a:avLst>
          </a:prstGeom>
          <a:solidFill>
            <a:srgbClr val="F1F5F9"/>
          </a:solidFill>
          <a:ln w="12700">
            <a:solidFill>
              <a:srgbClr val="F1F5F9"/>
            </a:solidFill>
            <a:prstDash val="solid"/>
          </a:ln>
        </p:spPr>
      </p:sp>
      <p:sp>
        <p:nvSpPr>
          <p:cNvPr id="25" name="Text 21"/>
          <p:cNvSpPr/>
          <p:nvPr/>
        </p:nvSpPr>
        <p:spPr>
          <a:xfrm>
            <a:off x="1097280" y="3163824"/>
            <a:ext cx="2194560" cy="41148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WRITE highest = ₹600</a:t>
            </a:r>
            <a:endParaRPr lang="en-US" sz="1100" dirty="0"/>
          </a:p>
        </p:txBody>
      </p:sp>
      <p:sp>
        <p:nvSpPr>
          <p:cNvPr id="26" name="Text 22"/>
          <p:cNvSpPr/>
          <p:nvPr/>
        </p:nvSpPr>
        <p:spPr>
          <a:xfrm>
            <a:off x="457200" y="3694176"/>
            <a:ext cx="548640" cy="41148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t4</a:t>
            </a:r>
            <a:endParaRPr lang="en-US" sz="1100" dirty="0"/>
          </a:p>
        </p:txBody>
      </p:sp>
      <p:sp>
        <p:nvSpPr>
          <p:cNvPr id="27" name="Shape 23"/>
          <p:cNvSpPr/>
          <p:nvPr/>
        </p:nvSpPr>
        <p:spPr>
          <a:xfrm>
            <a:off x="3474720" y="3694176"/>
            <a:ext cx="2194560" cy="411480"/>
          </a:xfrm>
          <a:prstGeom prst="roundRect">
            <a:avLst>
              <a:gd name="adj" fmla="val 17778"/>
            </a:avLst>
          </a:prstGeom>
          <a:solidFill>
            <a:srgbClr val="FEE2E2"/>
          </a:solidFill>
          <a:ln w="12700">
            <a:solidFill>
              <a:srgbClr val="FEE2E2"/>
            </a:solidFill>
            <a:prstDash val="solid"/>
          </a:ln>
        </p:spPr>
      </p:sp>
      <p:sp>
        <p:nvSpPr>
          <p:cNvPr id="28" name="Text 24"/>
          <p:cNvSpPr/>
          <p:nvPr/>
        </p:nvSpPr>
        <p:spPr>
          <a:xfrm>
            <a:off x="3474720" y="3694176"/>
            <a:ext cx="2194560" cy="411480"/>
          </a:xfrm>
          <a:prstGeom prst="rect">
            <a:avLst/>
          </a:prstGeom>
          <a:noFill/>
          <a:ln/>
        </p:spPr>
        <p:txBody>
          <a:bodyPr wrap="square" lIns="0" tIns="0" rIns="0" bIns="0" rtlCol="0" anchor="ctr"/>
          <a:lstStyle/>
          <a:p>
            <a:pPr marL="0" indent="0" algn="ctr">
              <a:buNone/>
            </a:pPr>
            <a:r>
              <a:rPr lang="en-US" sz="1100" b="1" dirty="0">
                <a:solidFill>
                  <a:srgbClr val="B3122B"/>
                </a:solidFill>
                <a:latin typeface="Calibri" pitchFamily="34" charset="0"/>
                <a:ea typeface="Calibri" pitchFamily="34" charset="-122"/>
                <a:cs typeface="Calibri" pitchFamily="34" charset="-120"/>
              </a:rPr>
              <a:t>WRITE highest = ₹550</a:t>
            </a:r>
            <a:endParaRPr lang="en-US" sz="1100" dirty="0"/>
          </a:p>
        </p:txBody>
      </p:sp>
      <p:sp>
        <p:nvSpPr>
          <p:cNvPr id="29" name="Shape 25"/>
          <p:cNvSpPr/>
          <p:nvPr/>
        </p:nvSpPr>
        <p:spPr>
          <a:xfrm>
            <a:off x="1097280" y="4297680"/>
            <a:ext cx="4572000" cy="457200"/>
          </a:xfrm>
          <a:prstGeom prst="roundRect">
            <a:avLst>
              <a:gd name="adj" fmla="val 16000"/>
            </a:avLst>
          </a:prstGeom>
          <a:solidFill>
            <a:srgbClr val="FEE2E2"/>
          </a:solidFill>
          <a:ln w="12700">
            <a:solidFill>
              <a:srgbClr val="FEE2E2"/>
            </a:solidFill>
            <a:prstDash val="solid"/>
          </a:ln>
        </p:spPr>
      </p:sp>
      <p:sp>
        <p:nvSpPr>
          <p:cNvPr id="30" name="Text 26"/>
          <p:cNvSpPr/>
          <p:nvPr/>
        </p:nvSpPr>
        <p:spPr>
          <a:xfrm>
            <a:off x="1097280" y="4297680"/>
            <a:ext cx="4572000" cy="457200"/>
          </a:xfrm>
          <a:prstGeom prst="rect">
            <a:avLst/>
          </a:prstGeom>
          <a:noFill/>
          <a:ln/>
        </p:spPr>
        <p:txBody>
          <a:bodyPr wrap="square" lIns="0" tIns="0" rIns="0" bIns="0" rtlCol="0" anchor="ctr"/>
          <a:lstStyle/>
          <a:p>
            <a:pPr marL="0" indent="0" algn="ctr">
              <a:buNone/>
            </a:pPr>
            <a:r>
              <a:rPr lang="en-US" sz="1200" b="1" dirty="0">
                <a:solidFill>
                  <a:srgbClr val="B3122B"/>
                </a:solidFill>
                <a:latin typeface="Calibri" pitchFamily="34" charset="0"/>
                <a:ea typeface="Calibri" pitchFamily="34" charset="-122"/>
                <a:cs typeface="Calibri" pitchFamily="34" charset="-120"/>
              </a:rPr>
              <a:t>Database now holds ₹550: the lower bid overwrote the higher one</a:t>
            </a:r>
            <a:endParaRPr lang="en-US" sz="1200" dirty="0"/>
          </a:p>
        </p:txBody>
      </p:sp>
      <p:sp>
        <p:nvSpPr>
          <p:cNvPr id="31" name="Shape 27"/>
          <p:cNvSpPr/>
          <p:nvPr/>
        </p:nvSpPr>
        <p:spPr>
          <a:xfrm>
            <a:off x="6126480" y="1234440"/>
            <a:ext cx="2560320" cy="1600200"/>
          </a:xfrm>
          <a:prstGeom prst="roundRect">
            <a:avLst>
              <a:gd name="adj" fmla="val 4571"/>
            </a:avLst>
          </a:prstGeom>
          <a:solidFill>
            <a:srgbClr val="F1F5F9"/>
          </a:solidFill>
          <a:ln w="12700">
            <a:solidFill>
              <a:srgbClr val="F1F5F9"/>
            </a:solidFill>
            <a:prstDash val="solid"/>
          </a:ln>
        </p:spPr>
      </p:sp>
      <p:sp>
        <p:nvSpPr>
          <p:cNvPr id="32" name="Text 28"/>
          <p:cNvSpPr/>
          <p:nvPr/>
        </p:nvSpPr>
        <p:spPr>
          <a:xfrm>
            <a:off x="6263640" y="1325880"/>
            <a:ext cx="2286000" cy="27432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Root cause</a:t>
            </a:r>
            <a:endParaRPr lang="en-US" sz="1300" dirty="0"/>
          </a:p>
        </p:txBody>
      </p:sp>
      <p:sp>
        <p:nvSpPr>
          <p:cNvPr id="33" name="Text 29"/>
          <p:cNvSpPr/>
          <p:nvPr/>
        </p:nvSpPr>
        <p:spPr>
          <a:xfrm>
            <a:off x="6263640" y="1645920"/>
            <a:ext cx="2286000" cy="1097280"/>
          </a:xfrm>
          <a:prstGeom prst="rect">
            <a:avLst/>
          </a:prstGeom>
          <a:noFill/>
          <a:ln/>
        </p:spPr>
        <p:txBody>
          <a:bodyPr wrap="square" lIns="0" tIns="0" rIns="0" bIns="0" rtlCol="0" anchor="t"/>
          <a:lstStyle/>
          <a:p>
            <a:pPr marL="0" indent="0">
              <a:buNone/>
            </a:pPr>
            <a:r>
              <a:rPr lang="en-US" sz="1150" dirty="0">
                <a:solidFill>
                  <a:srgbClr val="1E293B"/>
                </a:solidFill>
                <a:latin typeface="Calibri" pitchFamily="34" charset="0"/>
                <a:ea typeface="Calibri" pitchFamily="34" charset="-122"/>
                <a:cs typeface="Calibri" pitchFamily="34" charset="-120"/>
              </a:rPr>
              <a:t>Read, check and write are separate, unsynchronised steps. Nothing locks the auction row between them.</a:t>
            </a:r>
            <a:endParaRPr lang="en-US" sz="1150" dirty="0"/>
          </a:p>
        </p:txBody>
      </p:sp>
      <p:sp>
        <p:nvSpPr>
          <p:cNvPr id="34" name="Shape 30"/>
          <p:cNvSpPr/>
          <p:nvPr/>
        </p:nvSpPr>
        <p:spPr>
          <a:xfrm>
            <a:off x="6126480" y="3017520"/>
            <a:ext cx="2560320" cy="1737360"/>
          </a:xfrm>
          <a:prstGeom prst="roundRect">
            <a:avLst>
              <a:gd name="adj" fmla="val 4211"/>
            </a:avLst>
          </a:prstGeom>
          <a:solidFill>
            <a:srgbClr val="FEF2F2"/>
          </a:solidFill>
          <a:ln w="12700">
            <a:solidFill>
              <a:srgbClr val="FEF2F2"/>
            </a:solidFill>
            <a:prstDash val="solid"/>
          </a:ln>
        </p:spPr>
      </p:sp>
      <p:sp>
        <p:nvSpPr>
          <p:cNvPr id="35" name="Text 31"/>
          <p:cNvSpPr/>
          <p:nvPr/>
        </p:nvSpPr>
        <p:spPr>
          <a:xfrm>
            <a:off x="6217920" y="3108960"/>
            <a:ext cx="2377440" cy="685800"/>
          </a:xfrm>
          <a:prstGeom prst="rect">
            <a:avLst/>
          </a:prstGeom>
          <a:noFill/>
          <a:ln/>
        </p:spPr>
        <p:txBody>
          <a:bodyPr wrap="square" lIns="0" tIns="0" rIns="0" bIns="0" rtlCol="0" anchor="ctr"/>
          <a:lstStyle/>
          <a:p>
            <a:pPr marL="0" indent="0" algn="ctr">
              <a:buNone/>
            </a:pPr>
            <a:r>
              <a:rPr lang="en-US" sz="3800" b="1" dirty="0">
                <a:solidFill>
                  <a:srgbClr val="B3122B"/>
                </a:solidFill>
                <a:latin typeface="Cambria" pitchFamily="34" charset="0"/>
                <a:ea typeface="Cambria" pitchFamily="34" charset="-122"/>
                <a:cs typeface="Cambria" pitchFamily="34" charset="-120"/>
              </a:rPr>
              <a:t>8 / 10</a:t>
            </a:r>
            <a:endParaRPr lang="en-US" sz="3800" dirty="0"/>
          </a:p>
        </p:txBody>
      </p:sp>
      <p:sp>
        <p:nvSpPr>
          <p:cNvPr id="36" name="Text 32"/>
          <p:cNvSpPr/>
          <p:nvPr/>
        </p:nvSpPr>
        <p:spPr>
          <a:xfrm>
            <a:off x="6309360" y="3840480"/>
            <a:ext cx="2194560" cy="8229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rounds ended with a wrong highest bid when we ran it ourselves (20 bidders)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Our Solution: One Atomic Transaction</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Bid validation and update happen under a row lock, so only one bid is processed at a time</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8" name="Shape 4"/>
          <p:cNvSpPr/>
          <p:nvPr/>
        </p:nvSpPr>
        <p:spPr>
          <a:xfrm>
            <a:off x="457200" y="1325880"/>
            <a:ext cx="1554480" cy="1737360"/>
          </a:xfrm>
          <a:prstGeom prst="roundRect">
            <a:avLst>
              <a:gd name="adj" fmla="val 4706"/>
            </a:avLst>
          </a:prstGeom>
          <a:solidFill>
            <a:srgbClr val="F1F5F9"/>
          </a:solidFill>
          <a:ln w="12700">
            <a:solidFill>
              <a:srgbClr val="F1F5F9"/>
            </a:solidFill>
            <a:prstDash val="solid"/>
          </a:ln>
        </p:spPr>
      </p:sp>
      <p:sp>
        <p:nvSpPr>
          <p:cNvPr id="9" name="Shape 5"/>
          <p:cNvSpPr/>
          <p:nvPr/>
        </p:nvSpPr>
        <p:spPr>
          <a:xfrm>
            <a:off x="585216" y="1453896"/>
            <a:ext cx="310896" cy="310896"/>
          </a:xfrm>
          <a:prstGeom prst="ellipse">
            <a:avLst/>
          </a:prstGeom>
          <a:solidFill>
            <a:srgbClr val="0B6FB8"/>
          </a:solidFill>
          <a:ln w="12700">
            <a:solidFill>
              <a:srgbClr val="0B6FB8"/>
            </a:solidFill>
            <a:prstDash val="solid"/>
          </a:ln>
        </p:spPr>
      </p:sp>
      <p:sp>
        <p:nvSpPr>
          <p:cNvPr id="10" name="Text 6"/>
          <p:cNvSpPr/>
          <p:nvPr/>
        </p:nvSpPr>
        <p:spPr>
          <a:xfrm>
            <a:off x="585216" y="14538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585216" y="1874520"/>
            <a:ext cx="1298448" cy="292608"/>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BEGIN</a:t>
            </a:r>
            <a:endParaRPr lang="en-US" sz="1400" dirty="0"/>
          </a:p>
        </p:txBody>
      </p:sp>
      <p:sp>
        <p:nvSpPr>
          <p:cNvPr id="12" name="Text 8"/>
          <p:cNvSpPr/>
          <p:nvPr/>
        </p:nvSpPr>
        <p:spPr>
          <a:xfrm>
            <a:off x="585216" y="2212848"/>
            <a:ext cx="1298448" cy="7772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Start one MySQL transaction on a pooled connection.</a:t>
            </a:r>
            <a:endParaRPr lang="en-US" sz="1050" dirty="0"/>
          </a:p>
        </p:txBody>
      </p:sp>
      <p:sp>
        <p:nvSpPr>
          <p:cNvPr id="13" name="Shape 9"/>
          <p:cNvSpPr/>
          <p:nvPr/>
        </p:nvSpPr>
        <p:spPr>
          <a:xfrm>
            <a:off x="2125980" y="1325880"/>
            <a:ext cx="1554480" cy="1737360"/>
          </a:xfrm>
          <a:prstGeom prst="roundRect">
            <a:avLst>
              <a:gd name="adj" fmla="val 4706"/>
            </a:avLst>
          </a:prstGeom>
          <a:solidFill>
            <a:srgbClr val="F1F5F9"/>
          </a:solidFill>
          <a:ln w="12700">
            <a:solidFill>
              <a:srgbClr val="F1F5F9"/>
            </a:solidFill>
            <a:prstDash val="solid"/>
          </a:ln>
        </p:spPr>
      </p:sp>
      <p:sp>
        <p:nvSpPr>
          <p:cNvPr id="14" name="Shape 10"/>
          <p:cNvSpPr/>
          <p:nvPr/>
        </p:nvSpPr>
        <p:spPr>
          <a:xfrm>
            <a:off x="2253996" y="1453896"/>
            <a:ext cx="310896" cy="310896"/>
          </a:xfrm>
          <a:prstGeom prst="ellipse">
            <a:avLst/>
          </a:prstGeom>
          <a:solidFill>
            <a:srgbClr val="0B6FB8"/>
          </a:solidFill>
          <a:ln w="12700">
            <a:solidFill>
              <a:srgbClr val="0B6FB8"/>
            </a:solidFill>
            <a:prstDash val="solid"/>
          </a:ln>
        </p:spPr>
      </p:sp>
      <p:sp>
        <p:nvSpPr>
          <p:cNvPr id="15" name="Text 11"/>
          <p:cNvSpPr/>
          <p:nvPr/>
        </p:nvSpPr>
        <p:spPr>
          <a:xfrm>
            <a:off x="2253996" y="14538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2"/>
          <p:cNvSpPr/>
          <p:nvPr/>
        </p:nvSpPr>
        <p:spPr>
          <a:xfrm>
            <a:off x="2253996" y="1874520"/>
            <a:ext cx="1298448" cy="292608"/>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LOCK</a:t>
            </a:r>
            <a:endParaRPr lang="en-US" sz="1400" dirty="0"/>
          </a:p>
        </p:txBody>
      </p:sp>
      <p:sp>
        <p:nvSpPr>
          <p:cNvPr id="17" name="Text 13"/>
          <p:cNvSpPr/>
          <p:nvPr/>
        </p:nvSpPr>
        <p:spPr>
          <a:xfrm>
            <a:off x="2253996" y="2212848"/>
            <a:ext cx="1298448" cy="7772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SELECT … FOR UPDATE takes a row lock on the auction.</a:t>
            </a:r>
            <a:endParaRPr lang="en-US" sz="1050" dirty="0"/>
          </a:p>
        </p:txBody>
      </p:sp>
      <p:sp>
        <p:nvSpPr>
          <p:cNvPr id="18" name="Shape 14"/>
          <p:cNvSpPr/>
          <p:nvPr/>
        </p:nvSpPr>
        <p:spPr>
          <a:xfrm>
            <a:off x="3794760" y="1325880"/>
            <a:ext cx="1554480" cy="1737360"/>
          </a:xfrm>
          <a:prstGeom prst="roundRect">
            <a:avLst>
              <a:gd name="adj" fmla="val 4706"/>
            </a:avLst>
          </a:prstGeom>
          <a:solidFill>
            <a:srgbClr val="F1F5F9"/>
          </a:solidFill>
          <a:ln w="12700">
            <a:solidFill>
              <a:srgbClr val="F1F5F9"/>
            </a:solidFill>
            <a:prstDash val="solid"/>
          </a:ln>
        </p:spPr>
      </p:sp>
      <p:sp>
        <p:nvSpPr>
          <p:cNvPr id="19" name="Shape 15"/>
          <p:cNvSpPr/>
          <p:nvPr/>
        </p:nvSpPr>
        <p:spPr>
          <a:xfrm>
            <a:off x="3922776" y="1453896"/>
            <a:ext cx="310896" cy="310896"/>
          </a:xfrm>
          <a:prstGeom prst="ellipse">
            <a:avLst/>
          </a:prstGeom>
          <a:solidFill>
            <a:srgbClr val="0B6FB8"/>
          </a:solidFill>
          <a:ln w="12700">
            <a:solidFill>
              <a:srgbClr val="0B6FB8"/>
            </a:solidFill>
            <a:prstDash val="solid"/>
          </a:ln>
        </p:spPr>
      </p:sp>
      <p:sp>
        <p:nvSpPr>
          <p:cNvPr id="20" name="Text 16"/>
          <p:cNvSpPr/>
          <p:nvPr/>
        </p:nvSpPr>
        <p:spPr>
          <a:xfrm>
            <a:off x="3922776" y="14538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7"/>
          <p:cNvSpPr/>
          <p:nvPr/>
        </p:nvSpPr>
        <p:spPr>
          <a:xfrm>
            <a:off x="3922776" y="1874520"/>
            <a:ext cx="1298448" cy="292608"/>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VALIDATE</a:t>
            </a:r>
            <a:endParaRPr lang="en-US" sz="1400" dirty="0"/>
          </a:p>
        </p:txBody>
      </p:sp>
      <p:sp>
        <p:nvSpPr>
          <p:cNvPr id="22" name="Text 18"/>
          <p:cNvSpPr/>
          <p:nvPr/>
        </p:nvSpPr>
        <p:spPr>
          <a:xfrm>
            <a:off x="3922776" y="2212848"/>
            <a:ext cx="1298448" cy="7772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Check status, end time and amount against the locked value.</a:t>
            </a:r>
            <a:endParaRPr lang="en-US" sz="1050" dirty="0"/>
          </a:p>
        </p:txBody>
      </p:sp>
      <p:sp>
        <p:nvSpPr>
          <p:cNvPr id="23" name="Shape 19"/>
          <p:cNvSpPr/>
          <p:nvPr/>
        </p:nvSpPr>
        <p:spPr>
          <a:xfrm>
            <a:off x="5463540" y="1325880"/>
            <a:ext cx="1554480" cy="1737360"/>
          </a:xfrm>
          <a:prstGeom prst="roundRect">
            <a:avLst>
              <a:gd name="adj" fmla="val 4706"/>
            </a:avLst>
          </a:prstGeom>
          <a:solidFill>
            <a:srgbClr val="F1F5F9"/>
          </a:solidFill>
          <a:ln w="12700">
            <a:solidFill>
              <a:srgbClr val="F1F5F9"/>
            </a:solidFill>
            <a:prstDash val="solid"/>
          </a:ln>
        </p:spPr>
      </p:sp>
      <p:sp>
        <p:nvSpPr>
          <p:cNvPr id="24" name="Shape 20"/>
          <p:cNvSpPr/>
          <p:nvPr/>
        </p:nvSpPr>
        <p:spPr>
          <a:xfrm>
            <a:off x="5591556" y="1453896"/>
            <a:ext cx="310896" cy="310896"/>
          </a:xfrm>
          <a:prstGeom prst="ellipse">
            <a:avLst/>
          </a:prstGeom>
          <a:solidFill>
            <a:srgbClr val="0B6FB8"/>
          </a:solidFill>
          <a:ln w="12700">
            <a:solidFill>
              <a:srgbClr val="0B6FB8"/>
            </a:solidFill>
            <a:prstDash val="solid"/>
          </a:ln>
        </p:spPr>
      </p:sp>
      <p:sp>
        <p:nvSpPr>
          <p:cNvPr id="25" name="Text 21"/>
          <p:cNvSpPr/>
          <p:nvPr/>
        </p:nvSpPr>
        <p:spPr>
          <a:xfrm>
            <a:off x="5591556" y="14538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2"/>
          <p:cNvSpPr/>
          <p:nvPr/>
        </p:nvSpPr>
        <p:spPr>
          <a:xfrm>
            <a:off x="5591556" y="1874520"/>
            <a:ext cx="1298448" cy="292608"/>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WRITE</a:t>
            </a:r>
            <a:endParaRPr lang="en-US" sz="1400" dirty="0"/>
          </a:p>
        </p:txBody>
      </p:sp>
      <p:sp>
        <p:nvSpPr>
          <p:cNvPr id="27" name="Text 23"/>
          <p:cNvSpPr/>
          <p:nvPr/>
        </p:nvSpPr>
        <p:spPr>
          <a:xfrm>
            <a:off x="5591556" y="2212848"/>
            <a:ext cx="1298448" cy="7772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UPDATE the highest bid and INSERT the bid record together.</a:t>
            </a:r>
            <a:endParaRPr lang="en-US" sz="1050" dirty="0"/>
          </a:p>
        </p:txBody>
      </p:sp>
      <p:sp>
        <p:nvSpPr>
          <p:cNvPr id="28" name="Shape 24"/>
          <p:cNvSpPr/>
          <p:nvPr/>
        </p:nvSpPr>
        <p:spPr>
          <a:xfrm>
            <a:off x="7132320" y="1325880"/>
            <a:ext cx="1554480" cy="1737360"/>
          </a:xfrm>
          <a:prstGeom prst="roundRect">
            <a:avLst>
              <a:gd name="adj" fmla="val 4706"/>
            </a:avLst>
          </a:prstGeom>
          <a:solidFill>
            <a:srgbClr val="F1F5F9"/>
          </a:solidFill>
          <a:ln w="12700">
            <a:solidFill>
              <a:srgbClr val="F1F5F9"/>
            </a:solidFill>
            <a:prstDash val="solid"/>
          </a:ln>
        </p:spPr>
      </p:sp>
      <p:sp>
        <p:nvSpPr>
          <p:cNvPr id="29" name="Shape 25"/>
          <p:cNvSpPr/>
          <p:nvPr/>
        </p:nvSpPr>
        <p:spPr>
          <a:xfrm>
            <a:off x="7260336" y="1453896"/>
            <a:ext cx="310896" cy="310896"/>
          </a:xfrm>
          <a:prstGeom prst="ellipse">
            <a:avLst/>
          </a:prstGeom>
          <a:solidFill>
            <a:srgbClr val="0B6FB8"/>
          </a:solidFill>
          <a:ln w="12700">
            <a:solidFill>
              <a:srgbClr val="0B6FB8"/>
            </a:solidFill>
            <a:prstDash val="solid"/>
          </a:ln>
        </p:spPr>
      </p:sp>
      <p:sp>
        <p:nvSpPr>
          <p:cNvPr id="30" name="Text 26"/>
          <p:cNvSpPr/>
          <p:nvPr/>
        </p:nvSpPr>
        <p:spPr>
          <a:xfrm>
            <a:off x="7260336" y="14538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7"/>
          <p:cNvSpPr/>
          <p:nvPr/>
        </p:nvSpPr>
        <p:spPr>
          <a:xfrm>
            <a:off x="7260336" y="1874520"/>
            <a:ext cx="1298448" cy="292608"/>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COMMIT</a:t>
            </a:r>
            <a:endParaRPr lang="en-US" sz="1400" dirty="0"/>
          </a:p>
        </p:txBody>
      </p:sp>
      <p:sp>
        <p:nvSpPr>
          <p:cNvPr id="32" name="Text 28"/>
          <p:cNvSpPr/>
          <p:nvPr/>
        </p:nvSpPr>
        <p:spPr>
          <a:xfrm>
            <a:off x="7260336" y="2212848"/>
            <a:ext cx="1298448" cy="7772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Lock released; Socket.IO pushes bid_update to all watchers.</a:t>
            </a:r>
            <a:endParaRPr lang="en-US" sz="1050" dirty="0"/>
          </a:p>
        </p:txBody>
      </p:sp>
      <p:sp>
        <p:nvSpPr>
          <p:cNvPr id="33" name="Shape 29"/>
          <p:cNvSpPr/>
          <p:nvPr/>
        </p:nvSpPr>
        <p:spPr>
          <a:xfrm>
            <a:off x="457200" y="3337560"/>
            <a:ext cx="2651760" cy="1280160"/>
          </a:xfrm>
          <a:prstGeom prst="roundRect">
            <a:avLst>
              <a:gd name="adj" fmla="val 5714"/>
            </a:avLst>
          </a:prstGeom>
          <a:solidFill>
            <a:srgbClr val="E0F2FE"/>
          </a:solidFill>
          <a:ln w="12700">
            <a:solidFill>
              <a:srgbClr val="E0F2FE"/>
            </a:solidFill>
            <a:prstDash val="solid"/>
          </a:ln>
        </p:spPr>
      </p:sp>
      <p:sp>
        <p:nvSpPr>
          <p:cNvPr id="34" name="Text 30"/>
          <p:cNvSpPr/>
          <p:nvPr/>
        </p:nvSpPr>
        <p:spPr>
          <a:xfrm>
            <a:off x="621792" y="3447288"/>
            <a:ext cx="2331720" cy="27432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Isolation</a:t>
            </a:r>
            <a:endParaRPr lang="en-US" sz="1300" dirty="0"/>
          </a:p>
        </p:txBody>
      </p:sp>
      <p:sp>
        <p:nvSpPr>
          <p:cNvPr id="35" name="Text 31"/>
          <p:cNvSpPr/>
          <p:nvPr/>
        </p:nvSpPr>
        <p:spPr>
          <a:xfrm>
            <a:off x="621792" y="3794760"/>
            <a:ext cx="233172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InnoDB REPEATABLE READ plus the explicit row lock closes the read-check-write window.</a:t>
            </a:r>
            <a:endParaRPr lang="en-US" sz="1100" dirty="0"/>
          </a:p>
        </p:txBody>
      </p:sp>
      <p:sp>
        <p:nvSpPr>
          <p:cNvPr id="36" name="Shape 32"/>
          <p:cNvSpPr/>
          <p:nvPr/>
        </p:nvSpPr>
        <p:spPr>
          <a:xfrm>
            <a:off x="3246120" y="3337560"/>
            <a:ext cx="2651760" cy="1280160"/>
          </a:xfrm>
          <a:prstGeom prst="roundRect">
            <a:avLst>
              <a:gd name="adj" fmla="val 5714"/>
            </a:avLst>
          </a:prstGeom>
          <a:solidFill>
            <a:srgbClr val="E0F2FE"/>
          </a:solidFill>
          <a:ln w="12700">
            <a:solidFill>
              <a:srgbClr val="E0F2FE"/>
            </a:solidFill>
            <a:prstDash val="solid"/>
          </a:ln>
        </p:spPr>
      </p:sp>
      <p:sp>
        <p:nvSpPr>
          <p:cNvPr id="37" name="Text 33"/>
          <p:cNvSpPr/>
          <p:nvPr/>
        </p:nvSpPr>
        <p:spPr>
          <a:xfrm>
            <a:off x="3410712" y="3447288"/>
            <a:ext cx="2331720" cy="27432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Deadlock retry</a:t>
            </a:r>
            <a:endParaRPr lang="en-US" sz="1300" dirty="0"/>
          </a:p>
        </p:txBody>
      </p:sp>
      <p:sp>
        <p:nvSpPr>
          <p:cNvPr id="38" name="Text 34"/>
          <p:cNvSpPr/>
          <p:nvPr/>
        </p:nvSpPr>
        <p:spPr>
          <a:xfrm>
            <a:off x="3410712" y="3794760"/>
            <a:ext cx="233172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On ER_LOCK_DEADLOCK the bid is retried up to 3 times with jittered back-off.</a:t>
            </a:r>
            <a:endParaRPr lang="en-US" sz="1100" dirty="0"/>
          </a:p>
        </p:txBody>
      </p:sp>
      <p:sp>
        <p:nvSpPr>
          <p:cNvPr id="39" name="Shape 35"/>
          <p:cNvSpPr/>
          <p:nvPr/>
        </p:nvSpPr>
        <p:spPr>
          <a:xfrm>
            <a:off x="6035040" y="3337560"/>
            <a:ext cx="2651760" cy="1280160"/>
          </a:xfrm>
          <a:prstGeom prst="roundRect">
            <a:avLst>
              <a:gd name="adj" fmla="val 5714"/>
            </a:avLst>
          </a:prstGeom>
          <a:solidFill>
            <a:srgbClr val="E0F2FE"/>
          </a:solidFill>
          <a:ln w="12700">
            <a:solidFill>
              <a:srgbClr val="E0F2FE"/>
            </a:solidFill>
            <a:prstDash val="solid"/>
          </a:ln>
        </p:spPr>
      </p:sp>
      <p:sp>
        <p:nvSpPr>
          <p:cNvPr id="40" name="Text 36"/>
          <p:cNvSpPr/>
          <p:nvPr/>
        </p:nvSpPr>
        <p:spPr>
          <a:xfrm>
            <a:off x="6199632" y="3447288"/>
            <a:ext cx="2331720" cy="27432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Data integrity</a:t>
            </a:r>
            <a:endParaRPr lang="en-US" sz="1300" dirty="0"/>
          </a:p>
        </p:txBody>
      </p:sp>
      <p:sp>
        <p:nvSpPr>
          <p:cNvPr id="41" name="Text 37"/>
          <p:cNvSpPr/>
          <p:nvPr/>
        </p:nvSpPr>
        <p:spPr>
          <a:xfrm>
            <a:off x="6199632" y="3794760"/>
            <a:ext cx="233172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Primary keys, foreign keys and constraints keep users, auctions and bids consistent.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System Architecture</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Three tiers connected by REST, WebSocket and SQL</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
        <p:nvSpPr>
          <p:cNvPr id="8" name="Shape 4"/>
          <p:cNvSpPr/>
          <p:nvPr/>
        </p:nvSpPr>
        <p:spPr>
          <a:xfrm>
            <a:off x="457200" y="1234440"/>
            <a:ext cx="2286000" cy="1965960"/>
          </a:xfrm>
          <a:prstGeom prst="roundRect">
            <a:avLst>
              <a:gd name="adj" fmla="val 3721"/>
            </a:avLst>
          </a:prstGeom>
          <a:solidFill>
            <a:srgbClr val="F1F5F9"/>
          </a:solidFill>
          <a:ln w="12700">
            <a:solidFill>
              <a:srgbClr val="F1F5F9"/>
            </a:solidFill>
            <a:prstDash val="solid"/>
          </a:ln>
        </p:spPr>
      </p:sp>
      <p:sp>
        <p:nvSpPr>
          <p:cNvPr id="9" name="Text 5"/>
          <p:cNvSpPr/>
          <p:nvPr/>
        </p:nvSpPr>
        <p:spPr>
          <a:xfrm>
            <a:off x="594360" y="1307592"/>
            <a:ext cx="2011680" cy="32004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React Client (Vite)</a:t>
            </a:r>
            <a:endParaRPr lang="en-US" sz="1300" dirty="0"/>
          </a:p>
        </p:txBody>
      </p:sp>
      <p:sp>
        <p:nvSpPr>
          <p:cNvPr id="10" name="Text 6"/>
          <p:cNvSpPr/>
          <p:nvPr/>
        </p:nvSpPr>
        <p:spPr>
          <a:xfrm>
            <a:off x="594360" y="1664208"/>
            <a:ext cx="205740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Login · Register</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Auction list and detail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Bid form + live history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Admin dashboard</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Axios + Socket.IO client</a:t>
            </a:r>
            <a:endParaRPr lang="en-US" sz="1050" dirty="0"/>
          </a:p>
        </p:txBody>
      </p:sp>
      <p:sp>
        <p:nvSpPr>
          <p:cNvPr id="11" name="Shape 7"/>
          <p:cNvSpPr/>
          <p:nvPr/>
        </p:nvSpPr>
        <p:spPr>
          <a:xfrm>
            <a:off x="3429000" y="1234440"/>
            <a:ext cx="2286000" cy="1965960"/>
          </a:xfrm>
          <a:prstGeom prst="roundRect">
            <a:avLst>
              <a:gd name="adj" fmla="val 3721"/>
            </a:avLst>
          </a:prstGeom>
          <a:solidFill>
            <a:srgbClr val="E0F2FE"/>
          </a:solidFill>
          <a:ln w="12700">
            <a:solidFill>
              <a:srgbClr val="E0F2FE"/>
            </a:solidFill>
            <a:prstDash val="solid"/>
          </a:ln>
        </p:spPr>
      </p:sp>
      <p:sp>
        <p:nvSpPr>
          <p:cNvPr id="12" name="Text 8"/>
          <p:cNvSpPr/>
          <p:nvPr/>
        </p:nvSpPr>
        <p:spPr>
          <a:xfrm>
            <a:off x="3566160" y="1307592"/>
            <a:ext cx="2011680" cy="32004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Node.js + Express</a:t>
            </a:r>
            <a:endParaRPr lang="en-US" sz="1300" dirty="0"/>
          </a:p>
        </p:txBody>
      </p:sp>
      <p:sp>
        <p:nvSpPr>
          <p:cNvPr id="13" name="Text 9"/>
          <p:cNvSpPr/>
          <p:nvPr/>
        </p:nvSpPr>
        <p:spPr>
          <a:xfrm>
            <a:off x="3566160" y="1664208"/>
            <a:ext cx="205740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REST routes + JWT / admin guards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Controllers: auth, product, auction, bid</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Socket.IO rooms per auction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node-cron: auto-close (30 s)</a:t>
            </a:r>
            <a:endParaRPr lang="en-US" sz="1050" dirty="0"/>
          </a:p>
        </p:txBody>
      </p:sp>
      <p:sp>
        <p:nvSpPr>
          <p:cNvPr id="14" name="Shape 10"/>
          <p:cNvSpPr/>
          <p:nvPr/>
        </p:nvSpPr>
        <p:spPr>
          <a:xfrm>
            <a:off x="6400800" y="1234440"/>
            <a:ext cx="2286000" cy="1965960"/>
          </a:xfrm>
          <a:prstGeom prst="roundRect">
            <a:avLst>
              <a:gd name="adj" fmla="val 3721"/>
            </a:avLst>
          </a:prstGeom>
          <a:solidFill>
            <a:srgbClr val="F1F5F9"/>
          </a:solidFill>
          <a:ln w="12700">
            <a:solidFill>
              <a:srgbClr val="F1F5F9"/>
            </a:solidFill>
            <a:prstDash val="solid"/>
          </a:ln>
        </p:spPr>
      </p:sp>
      <p:sp>
        <p:nvSpPr>
          <p:cNvPr id="15" name="Text 11"/>
          <p:cNvSpPr/>
          <p:nvPr/>
        </p:nvSpPr>
        <p:spPr>
          <a:xfrm>
            <a:off x="6537960" y="1307592"/>
            <a:ext cx="2011680" cy="320040"/>
          </a:xfrm>
          <a:prstGeom prst="rect">
            <a:avLst/>
          </a:prstGeom>
          <a:noFill/>
          <a:ln/>
        </p:spPr>
        <p:txBody>
          <a:bodyPr wrap="square" lIns="0" tIns="0" rIns="0" bIns="0" rtlCol="0" anchor="ctr"/>
          <a:lstStyle/>
          <a:p>
            <a:pPr marL="0" indent="0">
              <a:buNone/>
            </a:pPr>
            <a:r>
              <a:rPr lang="en-US" sz="1300" b="1" dirty="0">
                <a:solidFill>
                  <a:srgbClr val="0B6FB8"/>
                </a:solidFill>
                <a:latin typeface="Calibri" pitchFamily="34" charset="0"/>
                <a:ea typeface="Calibri" pitchFamily="34" charset="-122"/>
                <a:cs typeface="Calibri" pitchFamily="34" charset="-120"/>
              </a:rPr>
              <a:t>MySQL 8.0 · InnoDB</a:t>
            </a:r>
            <a:endParaRPr lang="en-US" sz="1300" dirty="0"/>
          </a:p>
        </p:txBody>
      </p:sp>
      <p:sp>
        <p:nvSpPr>
          <p:cNvPr id="16" name="Text 12"/>
          <p:cNvSpPr/>
          <p:nvPr/>
        </p:nvSpPr>
        <p:spPr>
          <a:xfrm>
            <a:off x="6537960" y="1664208"/>
            <a:ext cx="205740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users · products · auctions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bids · auction_results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Row-level locks + transactions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PK / FK / constraints</a:t>
            </a:r>
            <a:endParaRPr lang="en-US" sz="1050" dirty="0"/>
          </a:p>
        </p:txBody>
      </p:sp>
      <p:sp>
        <p:nvSpPr>
          <p:cNvPr id="17" name="Shape 13"/>
          <p:cNvSpPr/>
          <p:nvPr/>
        </p:nvSpPr>
        <p:spPr>
          <a:xfrm>
            <a:off x="2788920" y="2011680"/>
            <a:ext cx="594360" cy="0"/>
          </a:xfrm>
          <a:prstGeom prst="line">
            <a:avLst/>
          </a:prstGeom>
          <a:noFill/>
          <a:ln w="22225">
            <a:solidFill>
              <a:srgbClr val="0B6FB8"/>
            </a:solidFill>
            <a:prstDash val="solid"/>
            <a:headEnd type="triangle"/>
            <a:tailEnd type="triangle"/>
          </a:ln>
        </p:spPr>
      </p:sp>
      <p:sp>
        <p:nvSpPr>
          <p:cNvPr id="18" name="Shape 14"/>
          <p:cNvSpPr/>
          <p:nvPr/>
        </p:nvSpPr>
        <p:spPr>
          <a:xfrm>
            <a:off x="2788920" y="2606040"/>
            <a:ext cx="594360" cy="0"/>
          </a:xfrm>
          <a:prstGeom prst="line">
            <a:avLst/>
          </a:prstGeom>
          <a:noFill/>
          <a:ln w="22225">
            <a:solidFill>
              <a:srgbClr val="0B6FB8"/>
            </a:solidFill>
            <a:prstDash val="solid"/>
            <a:headEnd type="triangle"/>
            <a:tailEnd type="triangle"/>
          </a:ln>
        </p:spPr>
      </p:sp>
      <p:sp>
        <p:nvSpPr>
          <p:cNvPr id="19" name="Shape 15"/>
          <p:cNvSpPr/>
          <p:nvPr/>
        </p:nvSpPr>
        <p:spPr>
          <a:xfrm>
            <a:off x="5760720" y="2286000"/>
            <a:ext cx="594360" cy="0"/>
          </a:xfrm>
          <a:prstGeom prst="line">
            <a:avLst/>
          </a:prstGeom>
          <a:noFill/>
          <a:ln w="22225">
            <a:solidFill>
              <a:srgbClr val="0B6FB8"/>
            </a:solidFill>
            <a:prstDash val="solid"/>
            <a:headEnd type="triangle"/>
            <a:tailEnd type="triangle"/>
          </a:ln>
        </p:spPr>
      </p:sp>
      <p:sp>
        <p:nvSpPr>
          <p:cNvPr id="20" name="Text 16"/>
          <p:cNvSpPr/>
          <p:nvPr/>
        </p:nvSpPr>
        <p:spPr>
          <a:xfrm>
            <a:off x="2788920" y="1783080"/>
            <a:ext cx="594360" cy="201168"/>
          </a:xfrm>
          <a:prstGeom prst="rect">
            <a:avLst/>
          </a:prstGeom>
          <a:noFill/>
          <a:ln/>
        </p:spPr>
        <p:txBody>
          <a:bodyPr wrap="square" lIns="0" tIns="0" rIns="0" bIns="0" rtlCol="0" anchor="ctr"/>
          <a:lstStyle/>
          <a:p>
            <a:pPr marL="0" indent="0" algn="ctr">
              <a:buNone/>
            </a:pPr>
            <a:r>
              <a:rPr lang="en-US" sz="850" b="1" dirty="0">
                <a:solidFill>
                  <a:srgbClr val="0B6FB8"/>
                </a:solidFill>
                <a:latin typeface="Calibri" pitchFamily="34" charset="0"/>
                <a:ea typeface="Calibri" pitchFamily="34" charset="-122"/>
                <a:cs typeface="Calibri" pitchFamily="34" charset="-120"/>
              </a:rPr>
              <a:t>REST + JWT</a:t>
            </a:r>
            <a:endParaRPr lang="en-US" sz="850" dirty="0"/>
          </a:p>
        </p:txBody>
      </p:sp>
      <p:sp>
        <p:nvSpPr>
          <p:cNvPr id="21" name="Text 17"/>
          <p:cNvSpPr/>
          <p:nvPr/>
        </p:nvSpPr>
        <p:spPr>
          <a:xfrm>
            <a:off x="2788920" y="2377440"/>
            <a:ext cx="594360" cy="201168"/>
          </a:xfrm>
          <a:prstGeom prst="rect">
            <a:avLst/>
          </a:prstGeom>
          <a:noFill/>
          <a:ln/>
        </p:spPr>
        <p:txBody>
          <a:bodyPr wrap="square" lIns="0" tIns="0" rIns="0" bIns="0" rtlCol="0" anchor="ctr"/>
          <a:lstStyle/>
          <a:p>
            <a:pPr marL="0" indent="0" algn="ctr">
              <a:buNone/>
            </a:pPr>
            <a:r>
              <a:rPr lang="en-US" sz="850" b="1" dirty="0">
                <a:solidFill>
                  <a:srgbClr val="0B6FB8"/>
                </a:solidFill>
                <a:latin typeface="Calibri" pitchFamily="34" charset="0"/>
                <a:ea typeface="Calibri" pitchFamily="34" charset="-122"/>
                <a:cs typeface="Calibri" pitchFamily="34" charset="-120"/>
              </a:rPr>
              <a:t>WebSocket</a:t>
            </a:r>
            <a:endParaRPr lang="en-US" sz="850" dirty="0"/>
          </a:p>
        </p:txBody>
      </p:sp>
      <p:sp>
        <p:nvSpPr>
          <p:cNvPr id="22" name="Text 18"/>
          <p:cNvSpPr/>
          <p:nvPr/>
        </p:nvSpPr>
        <p:spPr>
          <a:xfrm>
            <a:off x="5760720" y="2057400"/>
            <a:ext cx="594360" cy="201168"/>
          </a:xfrm>
          <a:prstGeom prst="rect">
            <a:avLst/>
          </a:prstGeom>
          <a:noFill/>
          <a:ln/>
        </p:spPr>
        <p:txBody>
          <a:bodyPr wrap="square" lIns="0" tIns="0" rIns="0" bIns="0" rtlCol="0" anchor="ctr"/>
          <a:lstStyle/>
          <a:p>
            <a:pPr marL="0" indent="0" algn="ctr">
              <a:buNone/>
            </a:pPr>
            <a:r>
              <a:rPr lang="en-US" sz="850" b="1" dirty="0">
                <a:solidFill>
                  <a:srgbClr val="0B6FB8"/>
                </a:solidFill>
                <a:latin typeface="Calibri" pitchFamily="34" charset="0"/>
                <a:ea typeface="Calibri" pitchFamily="34" charset="-122"/>
                <a:cs typeface="Calibri" pitchFamily="34" charset="-120"/>
              </a:rPr>
              <a:t>SQL</a:t>
            </a:r>
            <a:endParaRPr lang="en-US" sz="850" dirty="0"/>
          </a:p>
        </p:txBody>
      </p:sp>
      <p:sp>
        <p:nvSpPr>
          <p:cNvPr id="23" name="Text 19"/>
          <p:cNvSpPr/>
          <p:nvPr/>
        </p:nvSpPr>
        <p:spPr>
          <a:xfrm>
            <a:off x="457200" y="3310128"/>
            <a:ext cx="2743200" cy="228600"/>
          </a:xfrm>
          <a:prstGeom prst="rect">
            <a:avLst/>
          </a:prstGeom>
          <a:noFill/>
          <a:ln/>
        </p:spPr>
        <p:txBody>
          <a:bodyPr wrap="square" lIns="0" tIns="0" rIns="0" bIns="0"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Life of one bid</a:t>
            </a:r>
            <a:endParaRPr lang="en-US" sz="1150" dirty="0"/>
          </a:p>
        </p:txBody>
      </p:sp>
      <p:sp>
        <p:nvSpPr>
          <p:cNvPr id="24" name="Shape 20"/>
          <p:cNvSpPr/>
          <p:nvPr/>
        </p:nvSpPr>
        <p:spPr>
          <a:xfrm>
            <a:off x="457200" y="3584448"/>
            <a:ext cx="1261872" cy="1097280"/>
          </a:xfrm>
          <a:prstGeom prst="roundRect">
            <a:avLst>
              <a:gd name="adj" fmla="val 6667"/>
            </a:avLst>
          </a:prstGeom>
          <a:solidFill>
            <a:srgbClr val="F1F5F9"/>
          </a:solidFill>
          <a:ln w="12700">
            <a:solidFill>
              <a:srgbClr val="F1F5F9"/>
            </a:solidFill>
            <a:prstDash val="solid"/>
          </a:ln>
        </p:spPr>
      </p:sp>
      <p:sp>
        <p:nvSpPr>
          <p:cNvPr id="25" name="Shape 21"/>
          <p:cNvSpPr/>
          <p:nvPr/>
        </p:nvSpPr>
        <p:spPr>
          <a:xfrm>
            <a:off x="548640" y="3657600"/>
            <a:ext cx="256032" cy="256032"/>
          </a:xfrm>
          <a:prstGeom prst="ellipse">
            <a:avLst/>
          </a:prstGeom>
          <a:solidFill>
            <a:srgbClr val="0B6FB8"/>
          </a:solidFill>
          <a:ln w="12700">
            <a:solidFill>
              <a:srgbClr val="0B6FB8"/>
            </a:solidFill>
            <a:prstDash val="solid"/>
          </a:ln>
        </p:spPr>
      </p:sp>
      <p:sp>
        <p:nvSpPr>
          <p:cNvPr id="26" name="Text 22"/>
          <p:cNvSpPr/>
          <p:nvPr/>
        </p:nvSpPr>
        <p:spPr>
          <a:xfrm>
            <a:off x="548640" y="36576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3"/>
          <p:cNvSpPr/>
          <p:nvPr/>
        </p:nvSpPr>
        <p:spPr>
          <a:xfrm>
            <a:off x="548640" y="3977640"/>
            <a:ext cx="1097280" cy="658368"/>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POST /api/auctions/:id/bids with JWT</a:t>
            </a:r>
            <a:endParaRPr lang="en-US" sz="950" dirty="0"/>
          </a:p>
        </p:txBody>
      </p:sp>
      <p:sp>
        <p:nvSpPr>
          <p:cNvPr id="28" name="Shape 24"/>
          <p:cNvSpPr/>
          <p:nvPr/>
        </p:nvSpPr>
        <p:spPr>
          <a:xfrm>
            <a:off x="1828800" y="3584448"/>
            <a:ext cx="1261872" cy="1097280"/>
          </a:xfrm>
          <a:prstGeom prst="roundRect">
            <a:avLst>
              <a:gd name="adj" fmla="val 6667"/>
            </a:avLst>
          </a:prstGeom>
          <a:solidFill>
            <a:srgbClr val="F1F5F9"/>
          </a:solidFill>
          <a:ln w="12700">
            <a:solidFill>
              <a:srgbClr val="F1F5F9"/>
            </a:solidFill>
            <a:prstDash val="solid"/>
          </a:ln>
        </p:spPr>
      </p:sp>
      <p:sp>
        <p:nvSpPr>
          <p:cNvPr id="29" name="Shape 25"/>
          <p:cNvSpPr/>
          <p:nvPr/>
        </p:nvSpPr>
        <p:spPr>
          <a:xfrm>
            <a:off x="1920240" y="3657600"/>
            <a:ext cx="256032" cy="256032"/>
          </a:xfrm>
          <a:prstGeom prst="ellipse">
            <a:avLst/>
          </a:prstGeom>
          <a:solidFill>
            <a:srgbClr val="0B6FB8"/>
          </a:solidFill>
          <a:ln w="12700">
            <a:solidFill>
              <a:srgbClr val="0B6FB8"/>
            </a:solidFill>
            <a:prstDash val="solid"/>
          </a:ln>
        </p:spPr>
      </p:sp>
      <p:sp>
        <p:nvSpPr>
          <p:cNvPr id="30" name="Text 26"/>
          <p:cNvSpPr/>
          <p:nvPr/>
        </p:nvSpPr>
        <p:spPr>
          <a:xfrm>
            <a:off x="1920240" y="36576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7"/>
          <p:cNvSpPr/>
          <p:nvPr/>
        </p:nvSpPr>
        <p:spPr>
          <a:xfrm>
            <a:off x="1920240" y="3977640"/>
            <a:ext cx="1097280" cy="658368"/>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Auth middleware verifies the token</a:t>
            </a:r>
            <a:endParaRPr lang="en-US" sz="950" dirty="0"/>
          </a:p>
        </p:txBody>
      </p:sp>
      <p:sp>
        <p:nvSpPr>
          <p:cNvPr id="32" name="Shape 28"/>
          <p:cNvSpPr/>
          <p:nvPr/>
        </p:nvSpPr>
        <p:spPr>
          <a:xfrm>
            <a:off x="3200400" y="3584448"/>
            <a:ext cx="1261872" cy="1097280"/>
          </a:xfrm>
          <a:prstGeom prst="roundRect">
            <a:avLst>
              <a:gd name="adj" fmla="val 6667"/>
            </a:avLst>
          </a:prstGeom>
          <a:solidFill>
            <a:srgbClr val="F1F5F9"/>
          </a:solidFill>
          <a:ln w="12700">
            <a:solidFill>
              <a:srgbClr val="F1F5F9"/>
            </a:solidFill>
            <a:prstDash val="solid"/>
          </a:ln>
        </p:spPr>
      </p:sp>
      <p:sp>
        <p:nvSpPr>
          <p:cNvPr id="33" name="Shape 29"/>
          <p:cNvSpPr/>
          <p:nvPr/>
        </p:nvSpPr>
        <p:spPr>
          <a:xfrm>
            <a:off x="3291840" y="3657600"/>
            <a:ext cx="256032" cy="256032"/>
          </a:xfrm>
          <a:prstGeom prst="ellipse">
            <a:avLst/>
          </a:prstGeom>
          <a:solidFill>
            <a:srgbClr val="0B6FB8"/>
          </a:solidFill>
          <a:ln w="12700">
            <a:solidFill>
              <a:srgbClr val="0B6FB8"/>
            </a:solidFill>
            <a:prstDash val="solid"/>
          </a:ln>
        </p:spPr>
      </p:sp>
      <p:sp>
        <p:nvSpPr>
          <p:cNvPr id="34" name="Text 30"/>
          <p:cNvSpPr/>
          <p:nvPr/>
        </p:nvSpPr>
        <p:spPr>
          <a:xfrm>
            <a:off x="3291840" y="36576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31"/>
          <p:cNvSpPr/>
          <p:nvPr/>
        </p:nvSpPr>
        <p:spPr>
          <a:xfrm>
            <a:off x="3291840" y="3977640"/>
            <a:ext cx="1097280" cy="658368"/>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placeBidWithRetry() opens a transaction</a:t>
            </a:r>
            <a:endParaRPr lang="en-US" sz="950" dirty="0"/>
          </a:p>
        </p:txBody>
      </p:sp>
      <p:sp>
        <p:nvSpPr>
          <p:cNvPr id="36" name="Shape 32"/>
          <p:cNvSpPr/>
          <p:nvPr/>
        </p:nvSpPr>
        <p:spPr>
          <a:xfrm>
            <a:off x="4572000" y="3584448"/>
            <a:ext cx="1261872" cy="1097280"/>
          </a:xfrm>
          <a:prstGeom prst="roundRect">
            <a:avLst>
              <a:gd name="adj" fmla="val 6667"/>
            </a:avLst>
          </a:prstGeom>
          <a:solidFill>
            <a:srgbClr val="F1F5F9"/>
          </a:solidFill>
          <a:ln w="12700">
            <a:solidFill>
              <a:srgbClr val="F1F5F9"/>
            </a:solidFill>
            <a:prstDash val="solid"/>
          </a:ln>
        </p:spPr>
      </p:sp>
      <p:sp>
        <p:nvSpPr>
          <p:cNvPr id="37" name="Shape 33"/>
          <p:cNvSpPr/>
          <p:nvPr/>
        </p:nvSpPr>
        <p:spPr>
          <a:xfrm>
            <a:off x="4663440" y="3657600"/>
            <a:ext cx="256032" cy="256032"/>
          </a:xfrm>
          <a:prstGeom prst="ellipse">
            <a:avLst/>
          </a:prstGeom>
          <a:solidFill>
            <a:srgbClr val="0B6FB8"/>
          </a:solidFill>
          <a:ln w="12700">
            <a:solidFill>
              <a:srgbClr val="0B6FB8"/>
            </a:solidFill>
            <a:prstDash val="solid"/>
          </a:ln>
        </p:spPr>
      </p:sp>
      <p:sp>
        <p:nvSpPr>
          <p:cNvPr id="38" name="Text 34"/>
          <p:cNvSpPr/>
          <p:nvPr/>
        </p:nvSpPr>
        <p:spPr>
          <a:xfrm>
            <a:off x="4663440" y="36576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p:nvPr/>
        </p:nvSpPr>
        <p:spPr>
          <a:xfrm>
            <a:off x="4663440" y="3977640"/>
            <a:ext cx="1097280" cy="658368"/>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Row lock, validate, write, commit</a:t>
            </a:r>
            <a:endParaRPr lang="en-US" sz="950" dirty="0"/>
          </a:p>
        </p:txBody>
      </p:sp>
      <p:sp>
        <p:nvSpPr>
          <p:cNvPr id="40" name="Shape 36"/>
          <p:cNvSpPr/>
          <p:nvPr/>
        </p:nvSpPr>
        <p:spPr>
          <a:xfrm>
            <a:off x="5943600" y="3584448"/>
            <a:ext cx="1261872" cy="1097280"/>
          </a:xfrm>
          <a:prstGeom prst="roundRect">
            <a:avLst>
              <a:gd name="adj" fmla="val 6667"/>
            </a:avLst>
          </a:prstGeom>
          <a:solidFill>
            <a:srgbClr val="F1F5F9"/>
          </a:solidFill>
          <a:ln w="12700">
            <a:solidFill>
              <a:srgbClr val="F1F5F9"/>
            </a:solidFill>
            <a:prstDash val="solid"/>
          </a:ln>
        </p:spPr>
      </p:sp>
      <p:sp>
        <p:nvSpPr>
          <p:cNvPr id="41" name="Shape 37"/>
          <p:cNvSpPr/>
          <p:nvPr/>
        </p:nvSpPr>
        <p:spPr>
          <a:xfrm>
            <a:off x="6035040" y="3657600"/>
            <a:ext cx="256032" cy="256032"/>
          </a:xfrm>
          <a:prstGeom prst="ellipse">
            <a:avLst/>
          </a:prstGeom>
          <a:solidFill>
            <a:srgbClr val="0B6FB8"/>
          </a:solidFill>
          <a:ln w="12700">
            <a:solidFill>
              <a:srgbClr val="0B6FB8"/>
            </a:solidFill>
            <a:prstDash val="solid"/>
          </a:ln>
        </p:spPr>
      </p:sp>
      <p:sp>
        <p:nvSpPr>
          <p:cNvPr id="42" name="Text 38"/>
          <p:cNvSpPr/>
          <p:nvPr/>
        </p:nvSpPr>
        <p:spPr>
          <a:xfrm>
            <a:off x="6035040" y="36576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39"/>
          <p:cNvSpPr/>
          <p:nvPr/>
        </p:nvSpPr>
        <p:spPr>
          <a:xfrm>
            <a:off x="6035040" y="3977640"/>
            <a:ext cx="1097280" cy="658368"/>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Server emits bid_update to the auction room</a:t>
            </a:r>
            <a:endParaRPr lang="en-US" sz="950" dirty="0"/>
          </a:p>
        </p:txBody>
      </p:sp>
      <p:sp>
        <p:nvSpPr>
          <p:cNvPr id="44" name="Shape 40"/>
          <p:cNvSpPr/>
          <p:nvPr/>
        </p:nvSpPr>
        <p:spPr>
          <a:xfrm>
            <a:off x="7315200" y="3584448"/>
            <a:ext cx="1261872" cy="1097280"/>
          </a:xfrm>
          <a:prstGeom prst="roundRect">
            <a:avLst>
              <a:gd name="adj" fmla="val 6667"/>
            </a:avLst>
          </a:prstGeom>
          <a:solidFill>
            <a:srgbClr val="F1F5F9"/>
          </a:solidFill>
          <a:ln w="12700">
            <a:solidFill>
              <a:srgbClr val="F1F5F9"/>
            </a:solidFill>
            <a:prstDash val="solid"/>
          </a:ln>
        </p:spPr>
      </p:sp>
      <p:sp>
        <p:nvSpPr>
          <p:cNvPr id="45" name="Shape 41"/>
          <p:cNvSpPr/>
          <p:nvPr/>
        </p:nvSpPr>
        <p:spPr>
          <a:xfrm>
            <a:off x="7406640" y="3657600"/>
            <a:ext cx="256032" cy="256032"/>
          </a:xfrm>
          <a:prstGeom prst="ellipse">
            <a:avLst/>
          </a:prstGeom>
          <a:solidFill>
            <a:srgbClr val="0B6FB8"/>
          </a:solidFill>
          <a:ln w="12700">
            <a:solidFill>
              <a:srgbClr val="0B6FB8"/>
            </a:solidFill>
            <a:prstDash val="solid"/>
          </a:ln>
        </p:spPr>
      </p:sp>
      <p:sp>
        <p:nvSpPr>
          <p:cNvPr id="46" name="Text 42"/>
          <p:cNvSpPr/>
          <p:nvPr/>
        </p:nvSpPr>
        <p:spPr>
          <a:xfrm>
            <a:off x="7406640" y="36576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43"/>
          <p:cNvSpPr/>
          <p:nvPr/>
        </p:nvSpPr>
        <p:spPr>
          <a:xfrm>
            <a:off x="7406640" y="3977640"/>
            <a:ext cx="1097280" cy="658368"/>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Every open page refreshes instantly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Database Design</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r>
              <a:t>Seven InnoDB tables with enforced primary, foreign and composite keys</a:t>
            </a:r>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
        <p:nvSpPr>
          <p:cNvPr id="8" name="Shape 4"/>
          <p:cNvSpPr/>
          <p:nvPr/>
        </p:nvSpPr>
        <p:spPr>
          <a:xfrm>
            <a:off x="457200" y="1188720"/>
            <a:ext cx="2286000" cy="274320"/>
          </a:xfrm>
          <a:prstGeom prst="rect">
            <a:avLst/>
          </a:prstGeom>
          <a:solidFill>
            <a:srgbClr val="C2410C"/>
          </a:solidFill>
          <a:ln w="9525">
            <a:solidFill>
              <a:srgbClr val="C2410C"/>
            </a:solidFill>
            <a:prstDash val="solid"/>
          </a:ln>
        </p:spPr>
      </p:sp>
      <p:sp>
        <p:nvSpPr>
          <p:cNvPr id="9" name="Text 5"/>
          <p:cNvSpPr/>
          <p:nvPr/>
        </p:nvSpPr>
        <p:spPr>
          <a:xfrm>
            <a:off x="457200" y="1188720"/>
            <a:ext cx="228600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products</a:t>
            </a:r>
            <a:endParaRPr lang="en-US" sz="1150" dirty="0"/>
          </a:p>
        </p:txBody>
      </p:sp>
      <p:sp>
        <p:nvSpPr>
          <p:cNvPr id="10" name="Shape 6"/>
          <p:cNvSpPr/>
          <p:nvPr/>
        </p:nvSpPr>
        <p:spPr>
          <a:xfrm>
            <a:off x="457200" y="1463040"/>
            <a:ext cx="2286000" cy="1024128"/>
          </a:xfrm>
          <a:prstGeom prst="rect">
            <a:avLst/>
          </a:prstGeom>
          <a:solidFill>
            <a:srgbClr val="FFFFFF"/>
          </a:solidFill>
          <a:ln w="9525">
            <a:solidFill>
              <a:srgbClr val="C2410C"/>
            </a:solidFill>
            <a:prstDash val="solid"/>
          </a:ln>
        </p:spPr>
      </p:sp>
      <p:sp>
        <p:nvSpPr>
          <p:cNvPr id="11" name="Text 7"/>
          <p:cNvSpPr/>
          <p:nvPr/>
        </p:nvSpPr>
        <p:spPr>
          <a:xfrm>
            <a:off x="548640" y="1517904"/>
            <a:ext cx="2103120" cy="932688"/>
          </a:xfrm>
          <a:prstGeom prst="rect">
            <a:avLst/>
          </a:prstGeom>
          <a:noFill/>
          <a:ln/>
        </p:spPr>
        <p:txBody>
          <a:bodyPr wrap="square" lIns="0" tIns="0" rIns="0" bIns="0" rtlCol="0" anchor="t"/>
          <a:lstStyle/>
          <a:p>
            <a:pPr marL="0" indent="0">
              <a:buNone/>
            </a:pPr>
            <a:r>
              <a:rPr lang="en-US" sz="1000" b="1" dirty="0">
                <a:solidFill>
                  <a:srgbClr val="C2410C"/>
                </a:solidFill>
                <a:latin typeface="Calibri" pitchFamily="34" charset="0"/>
                <a:ea typeface="Calibri" pitchFamily="34" charset="-122"/>
                <a:cs typeface="Calibri" pitchFamily="34" charset="-120"/>
              </a:rPr>
              <a:t>PK </a:t>
            </a:r>
            <a:r>
              <a:rPr lang="en-US" sz="1000" dirty="0">
                <a:solidFill>
                  <a:srgbClr val="1E293B"/>
                </a:solidFill>
                <a:latin typeface="Calibri" pitchFamily="34" charset="0"/>
                <a:ea typeface="Calibri" pitchFamily="34" charset="-122"/>
                <a:cs typeface="Calibri" pitchFamily="34" charset="-120"/>
              </a:rPr>
              <a:t>id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name, description</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image_url</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created_by</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created_at</a:t>
            </a:r>
            <a:endParaRPr lang="en-US" sz="1000" dirty="0"/>
          </a:p>
        </p:txBody>
      </p:sp>
      <p:sp>
        <p:nvSpPr>
          <p:cNvPr id="12" name="Shape 8"/>
          <p:cNvSpPr/>
          <p:nvPr/>
        </p:nvSpPr>
        <p:spPr>
          <a:xfrm>
            <a:off x="3429000" y="1188720"/>
            <a:ext cx="2286000" cy="274320"/>
          </a:xfrm>
          <a:prstGeom prst="rect">
            <a:avLst/>
          </a:prstGeom>
          <a:solidFill>
            <a:srgbClr val="C2410C"/>
          </a:solidFill>
          <a:ln w="9525">
            <a:solidFill>
              <a:srgbClr val="C2410C"/>
            </a:solidFill>
            <a:prstDash val="solid"/>
          </a:ln>
        </p:spPr>
      </p:sp>
      <p:sp>
        <p:nvSpPr>
          <p:cNvPr id="13" name="Text 9"/>
          <p:cNvSpPr/>
          <p:nvPr/>
        </p:nvSpPr>
        <p:spPr>
          <a:xfrm>
            <a:off x="3429000" y="1188720"/>
            <a:ext cx="228600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auctions</a:t>
            </a:r>
            <a:endParaRPr lang="en-US" sz="1150" dirty="0"/>
          </a:p>
        </p:txBody>
      </p:sp>
      <p:sp>
        <p:nvSpPr>
          <p:cNvPr id="14" name="Shape 10"/>
          <p:cNvSpPr/>
          <p:nvPr/>
        </p:nvSpPr>
        <p:spPr>
          <a:xfrm>
            <a:off x="3429000" y="1463040"/>
            <a:ext cx="2286000" cy="1389888"/>
          </a:xfrm>
          <a:prstGeom prst="rect">
            <a:avLst/>
          </a:prstGeom>
          <a:solidFill>
            <a:srgbClr val="FFFFFF"/>
          </a:solidFill>
          <a:ln w="9525">
            <a:solidFill>
              <a:srgbClr val="C2410C"/>
            </a:solidFill>
            <a:prstDash val="solid"/>
          </a:ln>
        </p:spPr>
      </p:sp>
      <p:sp>
        <p:nvSpPr>
          <p:cNvPr id="15" name="Text 11"/>
          <p:cNvSpPr/>
          <p:nvPr/>
        </p:nvSpPr>
        <p:spPr>
          <a:xfrm>
            <a:off x="3520440" y="1517904"/>
            <a:ext cx="2103120" cy="1298448"/>
          </a:xfrm>
          <a:prstGeom prst="rect">
            <a:avLst/>
          </a:prstGeom>
          <a:noFill/>
          <a:ln/>
        </p:spPr>
        <p:txBody>
          <a:bodyPr wrap="square" lIns="0" tIns="0" rIns="0" bIns="0" rtlCol="0" anchor="t"/>
          <a:lstStyle/>
          <a:p>
            <a:pPr marL="0" indent="0">
              <a:buNone/>
            </a:pPr>
            <a:r>
              <a:rPr lang="en-US" sz="1000" b="1" dirty="0">
                <a:solidFill>
                  <a:srgbClr val="C2410C"/>
                </a:solidFill>
                <a:latin typeface="Calibri" pitchFamily="34" charset="0"/>
                <a:ea typeface="Calibri" pitchFamily="34" charset="-122"/>
                <a:cs typeface="Calibri" pitchFamily="34" charset="-120"/>
              </a:rPr>
              <a:t>PK </a:t>
            </a:r>
            <a:r>
              <a:rPr lang="en-US" sz="1000" dirty="0">
                <a:solidFill>
                  <a:srgbClr val="1E293B"/>
                </a:solidFill>
                <a:latin typeface="Calibri" pitchFamily="34" charset="0"/>
                <a:ea typeface="Calibri" pitchFamily="34" charset="-122"/>
                <a:cs typeface="Calibri" pitchFamily="34" charset="-120"/>
              </a:rPr>
              <a:t>id</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product_id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starting_price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current_highest_bid</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current_highest_bidder_id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start_time, end_time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status (scheduled | active | closed)</a:t>
            </a:r>
            <a:endParaRPr lang="en-US" sz="1000" dirty="0"/>
          </a:p>
        </p:txBody>
      </p:sp>
      <p:sp>
        <p:nvSpPr>
          <p:cNvPr id="16" name="Shape 12"/>
          <p:cNvSpPr/>
          <p:nvPr/>
        </p:nvSpPr>
        <p:spPr>
          <a:xfrm>
            <a:off x="6400800" y="1188720"/>
            <a:ext cx="2286000" cy="274320"/>
          </a:xfrm>
          <a:prstGeom prst="rect">
            <a:avLst/>
          </a:prstGeom>
          <a:solidFill>
            <a:srgbClr val="C2410C"/>
          </a:solidFill>
          <a:ln w="9525">
            <a:solidFill>
              <a:srgbClr val="C2410C"/>
            </a:solidFill>
            <a:prstDash val="solid"/>
          </a:ln>
        </p:spPr>
      </p:sp>
      <p:sp>
        <p:nvSpPr>
          <p:cNvPr id="17" name="Text 13"/>
          <p:cNvSpPr/>
          <p:nvPr/>
        </p:nvSpPr>
        <p:spPr>
          <a:xfrm>
            <a:off x="6400800" y="1188720"/>
            <a:ext cx="228600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auction_results</a:t>
            </a:r>
            <a:endParaRPr lang="en-US" sz="1150" dirty="0"/>
          </a:p>
        </p:txBody>
      </p:sp>
      <p:sp>
        <p:nvSpPr>
          <p:cNvPr id="18" name="Shape 14"/>
          <p:cNvSpPr/>
          <p:nvPr/>
        </p:nvSpPr>
        <p:spPr>
          <a:xfrm>
            <a:off x="6400800" y="1463040"/>
            <a:ext cx="2286000" cy="841248"/>
          </a:xfrm>
          <a:prstGeom prst="rect">
            <a:avLst/>
          </a:prstGeom>
          <a:solidFill>
            <a:srgbClr val="FFFFFF"/>
          </a:solidFill>
          <a:ln w="9525">
            <a:solidFill>
              <a:srgbClr val="C2410C"/>
            </a:solidFill>
            <a:prstDash val="solid"/>
          </a:ln>
        </p:spPr>
      </p:sp>
      <p:sp>
        <p:nvSpPr>
          <p:cNvPr id="19" name="Text 15"/>
          <p:cNvSpPr/>
          <p:nvPr/>
        </p:nvSpPr>
        <p:spPr>
          <a:xfrm>
            <a:off x="6492240" y="1517904"/>
            <a:ext cx="2103120" cy="749808"/>
          </a:xfrm>
          <a:prstGeom prst="rect">
            <a:avLst/>
          </a:prstGeom>
          <a:noFill/>
          <a:ln/>
        </p:spPr>
        <p:txBody>
          <a:bodyPr wrap="square" lIns="0" tIns="0" rIns="0" bIns="0" rtlCol="0" anchor="t"/>
          <a:lstStyle/>
          <a:p>
            <a:pPr marL="0" indent="0">
              <a:buNone/>
            </a:pPr>
            <a:r>
              <a:rPr lang="en-US" sz="1000" b="1" dirty="0">
                <a:solidFill>
                  <a:srgbClr val="C2410C"/>
                </a:solidFill>
                <a:latin typeface="Calibri" pitchFamily="34" charset="0"/>
                <a:ea typeface="Calibri" pitchFamily="34" charset="-122"/>
                <a:cs typeface="Calibri" pitchFamily="34" charset="-120"/>
              </a:rPr>
              <a:t>PK/FK </a:t>
            </a:r>
            <a:r>
              <a:rPr lang="en-US" sz="1000" dirty="0">
                <a:solidFill>
                  <a:srgbClr val="1E293B"/>
                </a:solidFill>
                <a:latin typeface="Calibri" pitchFamily="34" charset="0"/>
                <a:ea typeface="Calibri" pitchFamily="34" charset="-122"/>
                <a:cs typeface="Calibri" pitchFamily="34" charset="-120"/>
              </a:rPr>
              <a:t>auction_id</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winning_bid_id</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winner_id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finalized_at</a:t>
            </a:r>
            <a:endParaRPr lang="en-US" sz="1000" dirty="0"/>
          </a:p>
        </p:txBody>
      </p:sp>
      <p:sp>
        <p:nvSpPr>
          <p:cNvPr id="20" name="Shape 16"/>
          <p:cNvSpPr/>
          <p:nvPr/>
        </p:nvSpPr>
        <p:spPr>
          <a:xfrm>
            <a:off x="457200" y="3246120"/>
            <a:ext cx="2286000" cy="274320"/>
          </a:xfrm>
          <a:prstGeom prst="rect">
            <a:avLst/>
          </a:prstGeom>
          <a:solidFill>
            <a:srgbClr val="C2410C"/>
          </a:solidFill>
          <a:ln w="9525">
            <a:solidFill>
              <a:srgbClr val="C2410C"/>
            </a:solidFill>
            <a:prstDash val="solid"/>
          </a:ln>
        </p:spPr>
      </p:sp>
      <p:sp>
        <p:nvSpPr>
          <p:cNvPr id="21" name="Text 17"/>
          <p:cNvSpPr/>
          <p:nvPr/>
        </p:nvSpPr>
        <p:spPr>
          <a:xfrm>
            <a:off x="457200" y="3246120"/>
            <a:ext cx="228600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users</a:t>
            </a:r>
            <a:endParaRPr lang="en-US" sz="1150" dirty="0"/>
          </a:p>
        </p:txBody>
      </p:sp>
      <p:sp>
        <p:nvSpPr>
          <p:cNvPr id="22" name="Shape 18"/>
          <p:cNvSpPr/>
          <p:nvPr/>
        </p:nvSpPr>
        <p:spPr>
          <a:xfrm>
            <a:off x="457200" y="3520440"/>
            <a:ext cx="2286000" cy="1207008"/>
          </a:xfrm>
          <a:prstGeom prst="rect">
            <a:avLst/>
          </a:prstGeom>
          <a:solidFill>
            <a:srgbClr val="FFFFFF"/>
          </a:solidFill>
          <a:ln w="9525">
            <a:solidFill>
              <a:srgbClr val="C2410C"/>
            </a:solidFill>
            <a:prstDash val="solid"/>
          </a:ln>
        </p:spPr>
      </p:sp>
      <p:sp>
        <p:nvSpPr>
          <p:cNvPr id="23" name="Text 19"/>
          <p:cNvSpPr/>
          <p:nvPr/>
        </p:nvSpPr>
        <p:spPr>
          <a:xfrm>
            <a:off x="548640" y="3575304"/>
            <a:ext cx="2103120" cy="1115568"/>
          </a:xfrm>
          <a:prstGeom prst="rect">
            <a:avLst/>
          </a:prstGeom>
          <a:noFill/>
          <a:ln/>
        </p:spPr>
        <p:txBody>
          <a:bodyPr wrap="square" lIns="0" tIns="0" rIns="0" bIns="0" rtlCol="0" anchor="t"/>
          <a:lstStyle/>
          <a:p>
            <a:pPr marL="0" indent="0">
              <a:buNone/>
            </a:pPr>
            <a:r>
              <a:rPr lang="en-US" sz="1000" b="1" dirty="0">
                <a:solidFill>
                  <a:srgbClr val="C2410C"/>
                </a:solidFill>
                <a:latin typeface="Calibri" pitchFamily="34" charset="0"/>
                <a:ea typeface="Calibri" pitchFamily="34" charset="-122"/>
                <a:cs typeface="Calibri" pitchFamily="34" charset="-120"/>
              </a:rPr>
              <a:t>PK </a:t>
            </a:r>
            <a:r>
              <a:rPr lang="en-US" sz="1000" dirty="0">
                <a:solidFill>
                  <a:srgbClr val="1E293B"/>
                </a:solidFill>
                <a:latin typeface="Calibri" pitchFamily="34" charset="0"/>
                <a:ea typeface="Calibri" pitchFamily="34" charset="-122"/>
                <a:cs typeface="Calibri" pitchFamily="34" charset="-120"/>
              </a:rPr>
              <a:t>id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name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email (UNIQUE)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password_hash</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role (user | admin)</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created_at</a:t>
            </a:r>
            <a:endParaRPr lang="en-US" sz="1000" dirty="0"/>
          </a:p>
        </p:txBody>
      </p:sp>
      <p:sp>
        <p:nvSpPr>
          <p:cNvPr id="24" name="Shape 20"/>
          <p:cNvSpPr/>
          <p:nvPr/>
        </p:nvSpPr>
        <p:spPr>
          <a:xfrm>
            <a:off x="3429000" y="3246120"/>
            <a:ext cx="2286000" cy="274320"/>
          </a:xfrm>
          <a:prstGeom prst="rect">
            <a:avLst/>
          </a:prstGeom>
          <a:solidFill>
            <a:srgbClr val="C2410C"/>
          </a:solidFill>
          <a:ln w="9525">
            <a:solidFill>
              <a:srgbClr val="C2410C"/>
            </a:solidFill>
            <a:prstDash val="solid"/>
          </a:ln>
        </p:spPr>
      </p:sp>
      <p:sp>
        <p:nvSpPr>
          <p:cNvPr id="25" name="Text 21"/>
          <p:cNvSpPr/>
          <p:nvPr/>
        </p:nvSpPr>
        <p:spPr>
          <a:xfrm>
            <a:off x="3429000" y="3246120"/>
            <a:ext cx="228600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bids</a:t>
            </a:r>
            <a:endParaRPr lang="en-US" sz="1150" dirty="0"/>
          </a:p>
        </p:txBody>
      </p:sp>
      <p:sp>
        <p:nvSpPr>
          <p:cNvPr id="26" name="Shape 22"/>
          <p:cNvSpPr/>
          <p:nvPr/>
        </p:nvSpPr>
        <p:spPr>
          <a:xfrm>
            <a:off x="3429000" y="3520440"/>
            <a:ext cx="2286000" cy="1207008"/>
          </a:xfrm>
          <a:prstGeom prst="rect">
            <a:avLst/>
          </a:prstGeom>
          <a:solidFill>
            <a:srgbClr val="FFFFFF"/>
          </a:solidFill>
          <a:ln w="9525">
            <a:solidFill>
              <a:srgbClr val="C2410C"/>
            </a:solidFill>
            <a:prstDash val="solid"/>
          </a:ln>
        </p:spPr>
      </p:sp>
      <p:sp>
        <p:nvSpPr>
          <p:cNvPr id="27" name="Text 23"/>
          <p:cNvSpPr/>
          <p:nvPr/>
        </p:nvSpPr>
        <p:spPr>
          <a:xfrm>
            <a:off x="3520440" y="3575304"/>
            <a:ext cx="2103120" cy="1115568"/>
          </a:xfrm>
          <a:prstGeom prst="rect">
            <a:avLst/>
          </a:prstGeom>
          <a:noFill/>
          <a:ln/>
        </p:spPr>
        <p:txBody>
          <a:bodyPr wrap="square" lIns="0" tIns="0" rIns="0" bIns="0" rtlCol="0" anchor="t"/>
          <a:lstStyle/>
          <a:p>
            <a:pPr marL="0" indent="0">
              <a:buNone/>
            </a:pPr>
            <a:r>
              <a:rPr lang="en-US" sz="1000" b="1" dirty="0">
                <a:solidFill>
                  <a:srgbClr val="C2410C"/>
                </a:solidFill>
                <a:latin typeface="Calibri" pitchFamily="34" charset="0"/>
                <a:ea typeface="Calibri" pitchFamily="34" charset="-122"/>
                <a:cs typeface="Calibri" pitchFamily="34" charset="-120"/>
              </a:rPr>
              <a:t>PK </a:t>
            </a:r>
            <a:r>
              <a:rPr lang="en-US" sz="1000" dirty="0">
                <a:solidFill>
                  <a:srgbClr val="1E293B"/>
                </a:solidFill>
                <a:latin typeface="Calibri" pitchFamily="34" charset="0"/>
                <a:ea typeface="Calibri" pitchFamily="34" charset="-122"/>
                <a:cs typeface="Calibri" pitchFamily="34" charset="-120"/>
              </a:rPr>
              <a:t>id</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auction_id</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FK </a:t>
            </a:r>
            <a:r>
              <a:rPr lang="en-US" sz="1000" dirty="0">
                <a:solidFill>
                  <a:srgbClr val="1E293B"/>
                </a:solidFill>
                <a:latin typeface="Calibri" pitchFamily="34" charset="0"/>
                <a:ea typeface="Calibri" pitchFamily="34" charset="-122"/>
                <a:cs typeface="Calibri" pitchFamily="34" charset="-120"/>
              </a:rPr>
              <a:t>user_id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amount</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created_at</a:t>
            </a:r>
            <a:endParaRPr lang="en-US" sz="1000" dirty="0"/>
          </a:p>
          <a:p>
            <a:pPr marL="0" indent="0">
              <a:buNone/>
            </a:pPr>
            <a:r>
              <a:rPr lang="en-US" sz="1000" b="1" dirty="0">
                <a:solidFill>
                  <a:srgbClr val="C2410C"/>
                </a:solidFill>
                <a:latin typeface="Calibri" pitchFamily="34" charset="0"/>
                <a:ea typeface="Calibri" pitchFamily="34" charset="-122"/>
                <a:cs typeface="Calibri" pitchFamily="34" charset="-120"/>
              </a:rPr>
              <a:t>IDX </a:t>
            </a:r>
            <a:r>
              <a:rPr lang="en-US" sz="1000" dirty="0">
                <a:solidFill>
                  <a:srgbClr val="1E293B"/>
                </a:solidFill>
                <a:latin typeface="Calibri" pitchFamily="34" charset="0"/>
                <a:ea typeface="Calibri" pitchFamily="34" charset="-122"/>
                <a:cs typeface="Calibri" pitchFamily="34" charset="-120"/>
              </a:rPr>
              <a:t>(auction_id, amount)</a:t>
            </a:r>
            <a:endParaRPr lang="en-US" sz="1000" dirty="0"/>
          </a:p>
        </p:txBody>
      </p:sp>
      <p:sp>
        <p:nvSpPr>
          <p:cNvPr id="28" name="Shape 24"/>
          <p:cNvSpPr/>
          <p:nvPr/>
        </p:nvSpPr>
        <p:spPr>
          <a:xfrm>
            <a:off x="2743200" y="1783080"/>
            <a:ext cx="685800" cy="0"/>
          </a:xfrm>
          <a:prstGeom prst="line">
            <a:avLst/>
          </a:prstGeom>
          <a:noFill/>
          <a:ln w="19050">
            <a:solidFill>
              <a:srgbClr val="C2410C"/>
            </a:solidFill>
            <a:prstDash val="solid"/>
          </a:ln>
        </p:spPr>
      </p:sp>
      <p:sp>
        <p:nvSpPr>
          <p:cNvPr id="29" name="Text 25"/>
          <p:cNvSpPr/>
          <p:nvPr/>
        </p:nvSpPr>
        <p:spPr>
          <a:xfrm>
            <a:off x="2743200" y="1572768"/>
            <a:ext cx="685800" cy="182880"/>
          </a:xfrm>
          <a:prstGeom prst="rect">
            <a:avLst/>
          </a:prstGeom>
          <a:noFill/>
          <a:ln/>
        </p:spPr>
        <p:txBody>
          <a:bodyPr wrap="square" lIns="0" tIns="0" rIns="0" bIns="0" rtlCol="0" anchor="ctr"/>
          <a:lstStyle/>
          <a:p>
            <a:pPr marL="0" indent="0" algn="ctr">
              <a:buNone/>
            </a:pPr>
            <a:r>
              <a:rPr lang="en-US" sz="950" b="1" dirty="0">
                <a:solidFill>
                  <a:srgbClr val="C2410C"/>
                </a:solidFill>
                <a:latin typeface="Calibri" pitchFamily="34" charset="0"/>
                <a:ea typeface="Calibri" pitchFamily="34" charset="-122"/>
                <a:cs typeface="Calibri" pitchFamily="34" charset="-120"/>
              </a:rPr>
              <a:t>1 : N</a:t>
            </a:r>
            <a:endParaRPr lang="en-US" sz="950" dirty="0"/>
          </a:p>
        </p:txBody>
      </p:sp>
      <p:sp>
        <p:nvSpPr>
          <p:cNvPr id="30" name="Shape 26"/>
          <p:cNvSpPr/>
          <p:nvPr/>
        </p:nvSpPr>
        <p:spPr>
          <a:xfrm>
            <a:off x="5715000" y="1783080"/>
            <a:ext cx="685800" cy="0"/>
          </a:xfrm>
          <a:prstGeom prst="line">
            <a:avLst/>
          </a:prstGeom>
          <a:noFill/>
          <a:ln w="19050">
            <a:solidFill>
              <a:srgbClr val="C2410C"/>
            </a:solidFill>
            <a:prstDash val="solid"/>
          </a:ln>
        </p:spPr>
      </p:sp>
      <p:sp>
        <p:nvSpPr>
          <p:cNvPr id="31" name="Text 27"/>
          <p:cNvSpPr/>
          <p:nvPr/>
        </p:nvSpPr>
        <p:spPr>
          <a:xfrm>
            <a:off x="5715000" y="1572768"/>
            <a:ext cx="685800" cy="182880"/>
          </a:xfrm>
          <a:prstGeom prst="rect">
            <a:avLst/>
          </a:prstGeom>
          <a:noFill/>
          <a:ln/>
        </p:spPr>
        <p:txBody>
          <a:bodyPr wrap="square" lIns="0" tIns="0" rIns="0" bIns="0" rtlCol="0" anchor="ctr"/>
          <a:lstStyle/>
          <a:p>
            <a:pPr marL="0" indent="0" algn="ctr">
              <a:buNone/>
            </a:pPr>
            <a:r>
              <a:rPr lang="en-US" sz="950" b="1" dirty="0">
                <a:solidFill>
                  <a:srgbClr val="C2410C"/>
                </a:solidFill>
                <a:latin typeface="Calibri" pitchFamily="34" charset="0"/>
                <a:ea typeface="Calibri" pitchFamily="34" charset="-122"/>
                <a:cs typeface="Calibri" pitchFamily="34" charset="-120"/>
              </a:rPr>
              <a:t>1 : 1</a:t>
            </a:r>
            <a:endParaRPr lang="en-US" sz="950" dirty="0"/>
          </a:p>
        </p:txBody>
      </p:sp>
      <p:sp>
        <p:nvSpPr>
          <p:cNvPr id="32" name="Shape 28"/>
          <p:cNvSpPr/>
          <p:nvPr/>
        </p:nvSpPr>
        <p:spPr>
          <a:xfrm>
            <a:off x="2715768" y="4023360"/>
            <a:ext cx="713232" cy="0"/>
          </a:xfrm>
          <a:prstGeom prst="line">
            <a:avLst/>
          </a:prstGeom>
          <a:noFill/>
          <a:ln w="19050">
            <a:solidFill>
              <a:srgbClr val="C2410C"/>
            </a:solidFill>
            <a:prstDash val="solid"/>
          </a:ln>
        </p:spPr>
      </p:sp>
      <p:sp>
        <p:nvSpPr>
          <p:cNvPr id="33" name="Text 29"/>
          <p:cNvSpPr/>
          <p:nvPr/>
        </p:nvSpPr>
        <p:spPr>
          <a:xfrm>
            <a:off x="2743200" y="3813048"/>
            <a:ext cx="685800" cy="182880"/>
          </a:xfrm>
          <a:prstGeom prst="rect">
            <a:avLst/>
          </a:prstGeom>
          <a:noFill/>
          <a:ln/>
        </p:spPr>
        <p:txBody>
          <a:bodyPr wrap="square" lIns="0" tIns="0" rIns="0" bIns="0" rtlCol="0" anchor="ctr"/>
          <a:lstStyle/>
          <a:p>
            <a:pPr marL="0" indent="0" algn="ctr">
              <a:buNone/>
            </a:pPr>
            <a:r>
              <a:rPr lang="en-US" sz="950" b="1" dirty="0">
                <a:solidFill>
                  <a:srgbClr val="C2410C"/>
                </a:solidFill>
                <a:latin typeface="Calibri" pitchFamily="34" charset="0"/>
                <a:ea typeface="Calibri" pitchFamily="34" charset="-122"/>
                <a:cs typeface="Calibri" pitchFamily="34" charset="-120"/>
              </a:rPr>
              <a:t>1 : N</a:t>
            </a:r>
            <a:endParaRPr lang="en-US" sz="950" dirty="0"/>
          </a:p>
        </p:txBody>
      </p:sp>
      <p:sp>
        <p:nvSpPr>
          <p:cNvPr id="34" name="Shape 30"/>
          <p:cNvSpPr/>
          <p:nvPr/>
        </p:nvSpPr>
        <p:spPr>
          <a:xfrm>
            <a:off x="4572000" y="2743200"/>
            <a:ext cx="0" cy="502920"/>
          </a:xfrm>
          <a:prstGeom prst="line">
            <a:avLst/>
          </a:prstGeom>
          <a:noFill/>
          <a:ln w="19050">
            <a:solidFill>
              <a:srgbClr val="C2410C"/>
            </a:solidFill>
            <a:prstDash val="solid"/>
          </a:ln>
        </p:spPr>
      </p:sp>
      <p:sp>
        <p:nvSpPr>
          <p:cNvPr id="35" name="Text 31"/>
          <p:cNvSpPr/>
          <p:nvPr/>
        </p:nvSpPr>
        <p:spPr>
          <a:xfrm>
            <a:off x="4636008" y="2907792"/>
            <a:ext cx="548640" cy="182880"/>
          </a:xfrm>
          <a:prstGeom prst="rect">
            <a:avLst/>
          </a:prstGeom>
          <a:noFill/>
          <a:ln/>
        </p:spPr>
        <p:txBody>
          <a:bodyPr wrap="square" lIns="0" tIns="0" rIns="0" bIns="0" rtlCol="0" anchor="ctr"/>
          <a:lstStyle/>
          <a:p>
            <a:pPr marL="0" indent="0" algn="ctr">
              <a:buNone/>
            </a:pPr>
            <a:r>
              <a:rPr lang="en-US" sz="950" b="1" dirty="0">
                <a:solidFill>
                  <a:srgbClr val="C2410C"/>
                </a:solidFill>
                <a:latin typeface="Calibri" pitchFamily="34" charset="0"/>
                <a:ea typeface="Calibri" pitchFamily="34" charset="-122"/>
                <a:cs typeface="Calibri" pitchFamily="34" charset="-120"/>
              </a:rPr>
              <a:t>1 : N</a:t>
            </a:r>
            <a:endParaRPr lang="en-US" sz="950" dirty="0"/>
          </a:p>
        </p:txBody>
      </p:sp>
      <p:sp>
        <p:nvSpPr>
          <p:cNvPr id="36" name="Shape 32"/>
          <p:cNvSpPr/>
          <p:nvPr/>
        </p:nvSpPr>
        <p:spPr>
          <a:xfrm>
            <a:off x="1600200" y="2651760"/>
            <a:ext cx="0" cy="594360"/>
          </a:xfrm>
          <a:prstGeom prst="line">
            <a:avLst/>
          </a:prstGeom>
          <a:noFill/>
          <a:ln w="19050">
            <a:solidFill>
              <a:srgbClr val="C2410C"/>
            </a:solidFill>
            <a:prstDash val="solid"/>
          </a:ln>
        </p:spPr>
      </p:sp>
      <p:sp>
        <p:nvSpPr>
          <p:cNvPr id="37" name="Text 33"/>
          <p:cNvSpPr/>
          <p:nvPr/>
        </p:nvSpPr>
        <p:spPr>
          <a:xfrm>
            <a:off x="1664208" y="2807208"/>
            <a:ext cx="548640" cy="182880"/>
          </a:xfrm>
          <a:prstGeom prst="rect">
            <a:avLst/>
          </a:prstGeom>
          <a:noFill/>
          <a:ln/>
        </p:spPr>
        <p:txBody>
          <a:bodyPr wrap="square" lIns="0" tIns="0" rIns="0" bIns="0" rtlCol="0" anchor="ctr"/>
          <a:lstStyle/>
          <a:p>
            <a:pPr marL="0" indent="0" algn="ctr">
              <a:buNone/>
            </a:pPr>
            <a:r>
              <a:rPr lang="en-US" sz="950" b="1" dirty="0">
                <a:solidFill>
                  <a:srgbClr val="C2410C"/>
                </a:solidFill>
                <a:latin typeface="Calibri" pitchFamily="34" charset="0"/>
                <a:ea typeface="Calibri" pitchFamily="34" charset="-122"/>
                <a:cs typeface="Calibri" pitchFamily="34" charset="-120"/>
              </a:rPr>
              <a:t>1 : N</a:t>
            </a:r>
            <a:endParaRPr lang="en-US" sz="950" dirty="0"/>
          </a:p>
        </p:txBody>
      </p:sp>
      <p:sp>
        <p:nvSpPr>
          <p:cNvPr id="38" name="Shape 34"/>
          <p:cNvSpPr/>
          <p:nvPr/>
        </p:nvSpPr>
        <p:spPr>
          <a:xfrm>
            <a:off x="6400800" y="3246120"/>
            <a:ext cx="2286000" cy="1463040"/>
          </a:xfrm>
          <a:prstGeom prst="roundRect">
            <a:avLst>
              <a:gd name="adj" fmla="val 5000"/>
            </a:avLst>
          </a:prstGeom>
          <a:solidFill>
            <a:srgbClr val="FFF7ED"/>
          </a:solidFill>
          <a:ln w="12700">
            <a:solidFill>
              <a:srgbClr val="FFF7ED"/>
            </a:solidFill>
            <a:prstDash val="solid"/>
          </a:ln>
        </p:spPr>
      </p:sp>
      <p:sp>
        <p:nvSpPr>
          <p:cNvPr id="39" name="Text 35"/>
          <p:cNvSpPr/>
          <p:nvPr/>
        </p:nvSpPr>
        <p:spPr>
          <a:xfrm>
            <a:off x="6510528" y="3319272"/>
            <a:ext cx="2084832" cy="1325880"/>
          </a:xfrm>
          <a:prstGeom prst="rect">
            <a:avLst/>
          </a:prstGeom>
          <a:noFill/>
          <a:ln/>
        </p:spPr>
        <p:txBody>
          <a:bodyPr wrap="square" lIns="0" tIns="0" rIns="0" bIns="0" rtlCol="0" anchor="t"/>
          <a:lstStyle/>
          <a:p>
            <a:pPr marL="0" indent="0">
              <a:spcAft>
                <a:spcPts val="300"/>
              </a:spcAft>
              <a:buNone/>
            </a:pPr>
            <a:r>
              <a:rPr lang="en-US" sz="1000" b="1" dirty="0">
                <a:solidFill>
                  <a:srgbClr val="C2410C"/>
                </a:solidFill>
                <a:latin typeface="Calibri" pitchFamily="34" charset="0"/>
                <a:ea typeface="Calibri" pitchFamily="34" charset="-122"/>
                <a:cs typeface="Calibri" pitchFamily="34" charset="-120"/>
              </a:rPr>
              <a:t>Also foreign keys</a:t>
            </a:r>
            <a:endParaRPr lang="en-US" sz="1000" dirty="0"/>
          </a:p>
          <a:p>
            <a:pPr marL="0" indent="0">
              <a:spcAft>
                <a:spcPts val="300"/>
              </a:spcAft>
              <a:buNone/>
            </a:pPr>
            <a:r>
              <a:rPr lang="en-US" sz="1000" dirty="0">
                <a:solidFill>
                  <a:srgbClr val="1E293B"/>
                </a:solidFill>
                <a:latin typeface="Calibri" pitchFamily="34" charset="0"/>
                <a:ea typeface="Calibri" pitchFamily="34" charset="-122"/>
                <a:cs typeface="Calibri" pitchFamily="34" charset="-120"/>
              </a:rPr>
              <a:t>auctions.current_highest_bidder_id → users</a:t>
            </a:r>
            <a:endParaRPr lang="en-US" sz="1000" dirty="0"/>
          </a:p>
          <a:p>
            <a:pPr marL="0" indent="0">
              <a:spcAft>
                <a:spcPts val="300"/>
              </a:spcAft>
              <a:buNone/>
            </a:pPr>
            <a:r>
              <a:rPr lang="en-US" sz="1000" dirty="0">
                <a:solidFill>
                  <a:srgbClr val="1E293B"/>
                </a:solidFill>
                <a:latin typeface="Calibri" pitchFamily="34" charset="0"/>
                <a:ea typeface="Calibri" pitchFamily="34" charset="-122"/>
                <a:cs typeface="Calibri" pitchFamily="34" charset="-120"/>
              </a:rPr>
              <a:t>auction_results.winner_id → users</a:t>
            </a:r>
            <a:endParaRPr lang="en-US" sz="1000" dirty="0"/>
          </a:p>
          <a:p>
            <a:pPr marL="0" indent="0">
              <a:spcAft>
                <a:spcPts val="300"/>
              </a:spcAft>
              <a:buNone/>
            </a:pPr>
            <a:r>
              <a:rPr lang="en-US" sz="1000" dirty="0">
                <a:solidFill>
                  <a:srgbClr val="1E293B"/>
                </a:solidFill>
                <a:latin typeface="Calibri" pitchFamily="34" charset="0"/>
                <a:ea typeface="Calibri" pitchFamily="34" charset="-122"/>
                <a:cs typeface="Calibri" pitchFamily="34" charset="-120"/>
              </a:rPr>
              <a:t>auction_results.winning_bid_id → bids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Concurrency Control in Code</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bidController.js: placeBidTransaction() (condensed)</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8" name="Shape 4"/>
          <p:cNvSpPr/>
          <p:nvPr/>
        </p:nvSpPr>
        <p:spPr>
          <a:xfrm>
            <a:off x="457200" y="1234440"/>
            <a:ext cx="5212080" cy="3429000"/>
          </a:xfrm>
          <a:prstGeom prst="roundRect">
            <a:avLst>
              <a:gd name="adj" fmla="val 2133"/>
            </a:avLst>
          </a:prstGeom>
          <a:solidFill>
            <a:srgbClr val="0B1220"/>
          </a:solidFill>
          <a:ln w="12700">
            <a:solidFill>
              <a:srgbClr val="0B1220"/>
            </a:solidFill>
            <a:prstDash val="solid"/>
          </a:ln>
        </p:spPr>
      </p:sp>
      <p:sp>
        <p:nvSpPr>
          <p:cNvPr id="9" name="Text 5"/>
          <p:cNvSpPr/>
          <p:nvPr/>
        </p:nvSpPr>
        <p:spPr>
          <a:xfrm>
            <a:off x="640080" y="1371600"/>
            <a:ext cx="4892040" cy="3154680"/>
          </a:xfrm>
          <a:prstGeom prst="rect">
            <a:avLst/>
          </a:prstGeom>
          <a:noFill/>
          <a:ln/>
        </p:spPr>
        <p:txBody>
          <a:bodyPr wrap="square" lIns="0" tIns="0" rIns="0" bIns="0" rtlCol="0" anchor="t"/>
          <a:lstStyle/>
          <a:p>
            <a:pPr marL="0" indent="0">
              <a:spcAft>
                <a:spcPts val="600"/>
              </a:spcAft>
              <a:buNone/>
            </a:pPr>
            <a:r>
              <a:rPr lang="en-US" sz="1200" dirty="0">
                <a:solidFill>
                  <a:srgbClr val="E2E8F0"/>
                </a:solidFill>
                <a:latin typeface="Courier New" pitchFamily="34" charset="0"/>
                <a:ea typeface="Courier New" pitchFamily="34" charset="-122"/>
                <a:cs typeface="Courier New" pitchFamily="34" charset="-120"/>
              </a:rPr>
              <a:t>await conn.beginTransaction();</a:t>
            </a:r>
            <a:endParaRPr lang="en-US" sz="1200" dirty="0"/>
          </a:p>
          <a:p>
            <a:pPr marL="0" indent="0">
              <a:spcAft>
                <a:spcPts val="600"/>
              </a:spcAft>
              <a:buNone/>
            </a:pPr>
            <a:r>
              <a:rPr lang="en-US" sz="1200" dirty="0">
                <a:solidFill>
                  <a:srgbClr val="94A3B8"/>
                </a:solidFill>
                <a:latin typeface="Courier New" pitchFamily="34" charset="0"/>
                <a:ea typeface="Courier New" pitchFamily="34" charset="-122"/>
                <a:cs typeface="Courier New" pitchFamily="34" charset="-120"/>
              </a:rPr>
              <a:t>// 1. take the row lock</a:t>
            </a:r>
            <a:endParaRPr lang="en-US" sz="1200" dirty="0"/>
          </a:p>
          <a:p>
            <a:pPr marL="0" indent="0">
              <a:spcAft>
                <a:spcPts val="600"/>
              </a:spcAft>
              <a:buNone/>
            </a:pPr>
            <a:r>
              <a:rPr lang="en-US" sz="1200" dirty="0">
                <a:solidFill>
                  <a:srgbClr val="7DD3FC"/>
                </a:solidFill>
                <a:latin typeface="Courier New" pitchFamily="34" charset="0"/>
                <a:ea typeface="Courier New" pitchFamily="34" charset="-122"/>
                <a:cs typeface="Courier New" pitchFamily="34" charset="-120"/>
              </a:rPr>
              <a:t>SELECT </a:t>
            </a:r>
            <a:r>
              <a:rPr lang="en-US" sz="1200" dirty="0">
                <a:solidFill>
                  <a:srgbClr val="E2E8F0"/>
                </a:solidFill>
                <a:latin typeface="Courier New" pitchFamily="34" charset="0"/>
                <a:ea typeface="Courier New" pitchFamily="34" charset="-122"/>
                <a:cs typeface="Courier New" pitchFamily="34" charset="-120"/>
              </a:rPr>
              <a:t>current_highest_bid, status, end_time</a:t>
            </a:r>
            <a:endParaRPr lang="en-US" sz="1200" dirty="0"/>
          </a:p>
          <a:p>
            <a:pPr marL="0" indent="0">
              <a:spcAft>
                <a:spcPts val="600"/>
              </a:spcAft>
              <a:buNone/>
            </a:pPr>
            <a:r>
              <a:rPr lang="en-US" sz="1200" dirty="0">
                <a:solidFill>
                  <a:srgbClr val="E2E8F0"/>
                </a:solidFill>
                <a:latin typeface="Courier New" pitchFamily="34" charset="0"/>
                <a:ea typeface="Courier New" pitchFamily="34" charset="-122"/>
                <a:cs typeface="Courier New" pitchFamily="34" charset="-120"/>
              </a:rPr>
              <a:t>  FROM auctions WHERE id = ? </a:t>
            </a:r>
            <a:r>
              <a:rPr lang="en-US" sz="1200" dirty="0">
                <a:solidFill>
                  <a:srgbClr val="86EFAC"/>
                </a:solidFill>
                <a:latin typeface="Courier New" pitchFamily="34" charset="0"/>
                <a:ea typeface="Courier New" pitchFamily="34" charset="-122"/>
                <a:cs typeface="Courier New" pitchFamily="34" charset="-120"/>
              </a:rPr>
              <a:t>FOR UPDATE;</a:t>
            </a:r>
            <a:endParaRPr lang="en-US" sz="1200" dirty="0"/>
          </a:p>
          <a:p>
            <a:pPr marL="0" indent="0">
              <a:spcAft>
                <a:spcPts val="600"/>
              </a:spcAft>
              <a:buNone/>
            </a:pPr>
            <a:r>
              <a:rPr lang="en-US" sz="1200" dirty="0">
                <a:solidFill>
                  <a:srgbClr val="94A3B8"/>
                </a:solidFill>
                <a:latin typeface="Courier New" pitchFamily="34" charset="0"/>
                <a:ea typeface="Courier New" pitchFamily="34" charset="-122"/>
                <a:cs typeface="Courier New" pitchFamily="34" charset="-120"/>
              </a:rPr>
              <a:t>// 2. validate on the locked value</a:t>
            </a:r>
            <a:endParaRPr lang="en-US" sz="1200" dirty="0"/>
          </a:p>
          <a:p>
            <a:pPr marL="0" indent="0">
              <a:spcAft>
                <a:spcPts val="600"/>
              </a:spcAft>
              <a:buNone/>
            </a:pPr>
            <a:r>
              <a:rPr lang="en-US" sz="1200" dirty="0">
                <a:solidFill>
                  <a:srgbClr val="7DD3FC"/>
                </a:solidFill>
                <a:latin typeface="Courier New" pitchFamily="34" charset="0"/>
                <a:ea typeface="Courier New" pitchFamily="34" charset="-122"/>
                <a:cs typeface="Courier New" pitchFamily="34" charset="-120"/>
              </a:rPr>
              <a:t>if </a:t>
            </a:r>
            <a:r>
              <a:rPr lang="en-US" sz="1200" dirty="0">
                <a:solidFill>
                  <a:srgbClr val="E2E8F0"/>
                </a:solidFill>
                <a:latin typeface="Courier New" pitchFamily="34" charset="0"/>
                <a:ea typeface="Courier New" pitchFamily="34" charset="-122"/>
                <a:cs typeface="Courier New" pitchFamily="34" charset="-120"/>
              </a:rPr>
              <a:t>(status !== </a:t>
            </a:r>
            <a:r>
              <a:rPr lang="en-US" sz="1200" dirty="0">
                <a:solidFill>
                  <a:srgbClr val="86EFAC"/>
                </a:solidFill>
                <a:latin typeface="Courier New" pitchFamily="34" charset="0"/>
                <a:ea typeface="Courier New" pitchFamily="34" charset="-122"/>
                <a:cs typeface="Courier New" pitchFamily="34" charset="-120"/>
              </a:rPr>
              <a:t>'active'</a:t>
            </a:r>
            <a:r>
              <a:rPr lang="en-US" sz="1200" dirty="0">
                <a:solidFill>
                  <a:srgbClr val="E2E8F0"/>
                </a:solidFill>
                <a:latin typeface="Courier New" pitchFamily="34" charset="0"/>
                <a:ea typeface="Courier New" pitchFamily="34" charset="-122"/>
                <a:cs typeface="Courier New" pitchFamily="34" charset="-120"/>
              </a:rPr>
              <a:t>)   → 400</a:t>
            </a:r>
            <a:endParaRPr lang="en-US" sz="1200" dirty="0"/>
          </a:p>
          <a:p>
            <a:pPr marL="0" indent="0">
              <a:spcAft>
                <a:spcPts val="600"/>
              </a:spcAft>
              <a:buNone/>
            </a:pPr>
            <a:r>
              <a:rPr lang="en-US" sz="1200" dirty="0">
                <a:solidFill>
                  <a:srgbClr val="7DD3FC"/>
                </a:solidFill>
                <a:latin typeface="Courier New" pitchFamily="34" charset="0"/>
                <a:ea typeface="Courier New" pitchFamily="34" charset="-122"/>
                <a:cs typeface="Courier New" pitchFamily="34" charset="-120"/>
              </a:rPr>
              <a:t>if </a:t>
            </a:r>
            <a:r>
              <a:rPr lang="en-US" sz="1200" dirty="0">
                <a:solidFill>
                  <a:srgbClr val="E2E8F0"/>
                </a:solidFill>
                <a:latin typeface="Courier New" pitchFamily="34" charset="0"/>
                <a:ea typeface="Courier New" pitchFamily="34" charset="-122"/>
                <a:cs typeface="Courier New" pitchFamily="34" charset="-120"/>
              </a:rPr>
              <a:t>(now &gt; end_time)       → 400</a:t>
            </a:r>
            <a:endParaRPr lang="en-US" sz="1200" dirty="0"/>
          </a:p>
          <a:p>
            <a:pPr marL="0" indent="0">
              <a:spcAft>
                <a:spcPts val="600"/>
              </a:spcAft>
              <a:buNone/>
            </a:pPr>
            <a:r>
              <a:rPr lang="en-US" sz="1200" dirty="0">
                <a:solidFill>
                  <a:srgbClr val="7DD3FC"/>
                </a:solidFill>
                <a:latin typeface="Courier New" pitchFamily="34" charset="0"/>
                <a:ea typeface="Courier New" pitchFamily="34" charset="-122"/>
                <a:cs typeface="Courier New" pitchFamily="34" charset="-120"/>
              </a:rPr>
              <a:t>if </a:t>
            </a:r>
            <a:r>
              <a:rPr lang="en-US" sz="1200" dirty="0">
                <a:solidFill>
                  <a:srgbClr val="E2E8F0"/>
                </a:solidFill>
                <a:latin typeface="Courier New" pitchFamily="34" charset="0"/>
                <a:ea typeface="Courier New" pitchFamily="34" charset="-122"/>
                <a:cs typeface="Courier New" pitchFamily="34" charset="-120"/>
              </a:rPr>
              <a:t>(amount &lt;= highest)    → 409</a:t>
            </a:r>
            <a:endParaRPr lang="en-US" sz="1200" dirty="0"/>
          </a:p>
          <a:p>
            <a:pPr marL="0" indent="0">
              <a:spcAft>
                <a:spcPts val="600"/>
              </a:spcAft>
              <a:buNone/>
            </a:pPr>
            <a:r>
              <a:rPr lang="en-US" sz="1200" dirty="0">
                <a:solidFill>
                  <a:srgbClr val="94A3B8"/>
                </a:solidFill>
                <a:latin typeface="Courier New" pitchFamily="34" charset="0"/>
                <a:ea typeface="Courier New" pitchFamily="34" charset="-122"/>
                <a:cs typeface="Courier New" pitchFamily="34" charset="-120"/>
              </a:rPr>
              <a:t>// 3. write bid + history atomically</a:t>
            </a:r>
            <a:endParaRPr lang="en-US" sz="1200" dirty="0"/>
          </a:p>
          <a:p>
            <a:pPr marL="0" indent="0">
              <a:spcAft>
                <a:spcPts val="600"/>
              </a:spcAft>
              <a:buNone/>
            </a:pPr>
            <a:r>
              <a:rPr lang="en-US" sz="1200" dirty="0">
                <a:solidFill>
                  <a:srgbClr val="7DD3FC"/>
                </a:solidFill>
                <a:latin typeface="Courier New" pitchFamily="34" charset="0"/>
                <a:ea typeface="Courier New" pitchFamily="34" charset="-122"/>
                <a:cs typeface="Courier New" pitchFamily="34" charset="-120"/>
              </a:rPr>
              <a:t>UPDATE </a:t>
            </a:r>
            <a:r>
              <a:rPr lang="en-US" sz="1200" dirty="0">
                <a:solidFill>
                  <a:srgbClr val="E2E8F0"/>
                </a:solidFill>
                <a:latin typeface="Courier New" pitchFamily="34" charset="0"/>
                <a:ea typeface="Courier New" pitchFamily="34" charset="-122"/>
                <a:cs typeface="Courier New" pitchFamily="34" charset="-120"/>
              </a:rPr>
              <a:t>auctions SET current_highest_bid = ?, …;</a:t>
            </a:r>
            <a:endParaRPr lang="en-US" sz="1200" dirty="0"/>
          </a:p>
          <a:p>
            <a:pPr marL="0" indent="0">
              <a:spcAft>
                <a:spcPts val="600"/>
              </a:spcAft>
              <a:buNone/>
            </a:pPr>
            <a:r>
              <a:rPr lang="en-US" sz="1200" dirty="0">
                <a:solidFill>
                  <a:srgbClr val="7DD3FC"/>
                </a:solidFill>
                <a:latin typeface="Courier New" pitchFamily="34" charset="0"/>
                <a:ea typeface="Courier New" pitchFamily="34" charset="-122"/>
                <a:cs typeface="Courier New" pitchFamily="34" charset="-120"/>
              </a:rPr>
              <a:t>INSERT INTO </a:t>
            </a:r>
            <a:r>
              <a:rPr lang="en-US" sz="1200" dirty="0">
                <a:solidFill>
                  <a:srgbClr val="E2E8F0"/>
                </a:solidFill>
                <a:latin typeface="Courier New" pitchFamily="34" charset="0"/>
                <a:ea typeface="Courier New" pitchFamily="34" charset="-122"/>
                <a:cs typeface="Courier New" pitchFamily="34" charset="-120"/>
              </a:rPr>
              <a:t>bids (auction_id, user_id, amount) …;</a:t>
            </a:r>
            <a:endParaRPr lang="en-US" sz="1200" dirty="0"/>
          </a:p>
          <a:p>
            <a:pPr marL="0" indent="0">
              <a:spcAft>
                <a:spcPts val="600"/>
              </a:spcAft>
              <a:buNone/>
            </a:pPr>
            <a:r>
              <a:rPr lang="en-US" sz="1200" dirty="0">
                <a:solidFill>
                  <a:srgbClr val="E2E8F0"/>
                </a:solidFill>
                <a:latin typeface="Courier New" pitchFamily="34" charset="0"/>
                <a:ea typeface="Courier New" pitchFamily="34" charset="-122"/>
                <a:cs typeface="Courier New" pitchFamily="34" charset="-120"/>
              </a:rPr>
              <a:t>await conn.commit();  </a:t>
            </a:r>
            <a:r>
              <a:rPr lang="en-US" sz="1200" dirty="0">
                <a:solidFill>
                  <a:srgbClr val="94A3B8"/>
                </a:solidFill>
                <a:latin typeface="Courier New" pitchFamily="34" charset="0"/>
                <a:ea typeface="Courier New" pitchFamily="34" charset="-122"/>
                <a:cs typeface="Courier New" pitchFamily="34" charset="-120"/>
              </a:rPr>
              <a:t>// lock released</a:t>
            </a:r>
            <a:endParaRPr lang="en-US" sz="1200" dirty="0"/>
          </a:p>
        </p:txBody>
      </p:sp>
      <p:sp>
        <p:nvSpPr>
          <p:cNvPr id="10" name="Shape 6"/>
          <p:cNvSpPr/>
          <p:nvPr/>
        </p:nvSpPr>
        <p:spPr>
          <a:xfrm>
            <a:off x="5897880" y="1234440"/>
            <a:ext cx="2788920" cy="822960"/>
          </a:xfrm>
          <a:prstGeom prst="roundRect">
            <a:avLst>
              <a:gd name="adj" fmla="val 8889"/>
            </a:avLst>
          </a:prstGeom>
          <a:solidFill>
            <a:srgbClr val="F1F5F9"/>
          </a:solidFill>
          <a:ln w="12700">
            <a:solidFill>
              <a:srgbClr val="F1F5F9"/>
            </a:solidFill>
            <a:prstDash val="solid"/>
          </a:ln>
        </p:spPr>
      </p:sp>
      <p:sp>
        <p:nvSpPr>
          <p:cNvPr id="11" name="Shape 7"/>
          <p:cNvSpPr/>
          <p:nvPr/>
        </p:nvSpPr>
        <p:spPr>
          <a:xfrm>
            <a:off x="6016752" y="1362456"/>
            <a:ext cx="274320" cy="274320"/>
          </a:xfrm>
          <a:prstGeom prst="ellipse">
            <a:avLst/>
          </a:prstGeom>
          <a:solidFill>
            <a:srgbClr val="0B6FB8"/>
          </a:solidFill>
          <a:ln w="12700">
            <a:solidFill>
              <a:srgbClr val="0B6FB8"/>
            </a:solidFill>
            <a:prstDash val="solid"/>
          </a:ln>
        </p:spPr>
      </p:sp>
      <p:sp>
        <p:nvSpPr>
          <p:cNvPr id="12" name="Text 8"/>
          <p:cNvSpPr/>
          <p:nvPr/>
        </p:nvSpPr>
        <p:spPr>
          <a:xfrm>
            <a:off x="6016752"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9"/>
          <p:cNvSpPr/>
          <p:nvPr/>
        </p:nvSpPr>
        <p:spPr>
          <a:xfrm>
            <a:off x="6400800" y="1307592"/>
            <a:ext cx="2194560" cy="256032"/>
          </a:xfrm>
          <a:prstGeom prst="rect">
            <a:avLst/>
          </a:prstGeom>
          <a:noFill/>
          <a:ln/>
        </p:spPr>
        <p:txBody>
          <a:bodyPr wrap="square" lIns="0" tIns="0" rIns="0" bIns="0" rtlCol="0" anchor="ctr"/>
          <a:lstStyle/>
          <a:p>
            <a:pPr marL="0" indent="0">
              <a:buNone/>
            </a:pPr>
            <a:r>
              <a:rPr lang="en-US" sz="1250" b="1" dirty="0">
                <a:solidFill>
                  <a:srgbClr val="0F2A4A"/>
                </a:solidFill>
                <a:latin typeface="Calibri" pitchFamily="34" charset="0"/>
                <a:ea typeface="Calibri" pitchFamily="34" charset="-122"/>
                <a:cs typeface="Calibri" pitchFamily="34" charset="-120"/>
              </a:rPr>
              <a:t>Lock</a:t>
            </a:r>
            <a:endParaRPr lang="en-US" sz="1250" dirty="0"/>
          </a:p>
        </p:txBody>
      </p:sp>
      <p:sp>
        <p:nvSpPr>
          <p:cNvPr id="14" name="Text 10"/>
          <p:cNvSpPr/>
          <p:nvPr/>
        </p:nvSpPr>
        <p:spPr>
          <a:xfrm>
            <a:off x="6400800" y="1581912"/>
            <a:ext cx="2194560" cy="45720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Other bidders on this auction block here until commit or rollback.</a:t>
            </a:r>
            <a:endParaRPr lang="en-US" sz="1050" dirty="0"/>
          </a:p>
        </p:txBody>
      </p:sp>
      <p:sp>
        <p:nvSpPr>
          <p:cNvPr id="15" name="Shape 11"/>
          <p:cNvSpPr/>
          <p:nvPr/>
        </p:nvSpPr>
        <p:spPr>
          <a:xfrm>
            <a:off x="5897880" y="2148840"/>
            <a:ext cx="2788920" cy="822960"/>
          </a:xfrm>
          <a:prstGeom prst="roundRect">
            <a:avLst>
              <a:gd name="adj" fmla="val 8889"/>
            </a:avLst>
          </a:prstGeom>
          <a:solidFill>
            <a:srgbClr val="F1F5F9"/>
          </a:solidFill>
          <a:ln w="12700">
            <a:solidFill>
              <a:srgbClr val="F1F5F9"/>
            </a:solidFill>
            <a:prstDash val="solid"/>
          </a:ln>
        </p:spPr>
      </p:sp>
      <p:sp>
        <p:nvSpPr>
          <p:cNvPr id="16" name="Shape 12"/>
          <p:cNvSpPr/>
          <p:nvPr/>
        </p:nvSpPr>
        <p:spPr>
          <a:xfrm>
            <a:off x="6016752" y="2276856"/>
            <a:ext cx="274320" cy="274320"/>
          </a:xfrm>
          <a:prstGeom prst="ellipse">
            <a:avLst/>
          </a:prstGeom>
          <a:solidFill>
            <a:srgbClr val="0B6FB8"/>
          </a:solidFill>
          <a:ln w="12700">
            <a:solidFill>
              <a:srgbClr val="0B6FB8"/>
            </a:solidFill>
            <a:prstDash val="solid"/>
          </a:ln>
        </p:spPr>
      </p:sp>
      <p:sp>
        <p:nvSpPr>
          <p:cNvPr id="17" name="Text 13"/>
          <p:cNvSpPr/>
          <p:nvPr/>
        </p:nvSpPr>
        <p:spPr>
          <a:xfrm>
            <a:off x="6016752" y="22768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4"/>
          <p:cNvSpPr/>
          <p:nvPr/>
        </p:nvSpPr>
        <p:spPr>
          <a:xfrm>
            <a:off x="6400800" y="2221992"/>
            <a:ext cx="2194560" cy="256032"/>
          </a:xfrm>
          <a:prstGeom prst="rect">
            <a:avLst/>
          </a:prstGeom>
          <a:noFill/>
          <a:ln/>
        </p:spPr>
        <p:txBody>
          <a:bodyPr wrap="square" lIns="0" tIns="0" rIns="0" bIns="0" rtlCol="0" anchor="ctr"/>
          <a:lstStyle/>
          <a:p>
            <a:pPr marL="0" indent="0">
              <a:buNone/>
            </a:pPr>
            <a:r>
              <a:rPr lang="en-US" sz="1250" b="1" dirty="0">
                <a:solidFill>
                  <a:srgbClr val="0F2A4A"/>
                </a:solidFill>
                <a:latin typeface="Calibri" pitchFamily="34" charset="0"/>
                <a:ea typeface="Calibri" pitchFamily="34" charset="-122"/>
                <a:cs typeface="Calibri" pitchFamily="34" charset="-120"/>
              </a:rPr>
              <a:t>Validate</a:t>
            </a:r>
            <a:endParaRPr lang="en-US" sz="1250" dirty="0"/>
          </a:p>
        </p:txBody>
      </p:sp>
      <p:sp>
        <p:nvSpPr>
          <p:cNvPr id="19" name="Text 15"/>
          <p:cNvSpPr/>
          <p:nvPr/>
        </p:nvSpPr>
        <p:spPr>
          <a:xfrm>
            <a:off x="6400800" y="2496312"/>
            <a:ext cx="2194560" cy="45720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The check uses the fresh, locked value, never a stale read.</a:t>
            </a:r>
            <a:endParaRPr lang="en-US" sz="1050" dirty="0"/>
          </a:p>
        </p:txBody>
      </p:sp>
      <p:sp>
        <p:nvSpPr>
          <p:cNvPr id="20" name="Shape 16"/>
          <p:cNvSpPr/>
          <p:nvPr/>
        </p:nvSpPr>
        <p:spPr>
          <a:xfrm>
            <a:off x="5897880" y="3063240"/>
            <a:ext cx="2788920" cy="822960"/>
          </a:xfrm>
          <a:prstGeom prst="roundRect">
            <a:avLst>
              <a:gd name="adj" fmla="val 8889"/>
            </a:avLst>
          </a:prstGeom>
          <a:solidFill>
            <a:srgbClr val="F1F5F9"/>
          </a:solidFill>
          <a:ln w="12700">
            <a:solidFill>
              <a:srgbClr val="F1F5F9"/>
            </a:solidFill>
            <a:prstDash val="solid"/>
          </a:ln>
        </p:spPr>
      </p:sp>
      <p:sp>
        <p:nvSpPr>
          <p:cNvPr id="21" name="Shape 17"/>
          <p:cNvSpPr/>
          <p:nvPr/>
        </p:nvSpPr>
        <p:spPr>
          <a:xfrm>
            <a:off x="6016752" y="3191256"/>
            <a:ext cx="274320" cy="274320"/>
          </a:xfrm>
          <a:prstGeom prst="ellipse">
            <a:avLst/>
          </a:prstGeom>
          <a:solidFill>
            <a:srgbClr val="0B6FB8"/>
          </a:solidFill>
          <a:ln w="12700">
            <a:solidFill>
              <a:srgbClr val="0B6FB8"/>
            </a:solidFill>
            <a:prstDash val="solid"/>
          </a:ln>
        </p:spPr>
      </p:sp>
      <p:sp>
        <p:nvSpPr>
          <p:cNvPr id="22" name="Text 18"/>
          <p:cNvSpPr/>
          <p:nvPr/>
        </p:nvSpPr>
        <p:spPr>
          <a:xfrm>
            <a:off x="6016752" y="31912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19"/>
          <p:cNvSpPr/>
          <p:nvPr/>
        </p:nvSpPr>
        <p:spPr>
          <a:xfrm>
            <a:off x="6400800" y="3136392"/>
            <a:ext cx="2194560" cy="256032"/>
          </a:xfrm>
          <a:prstGeom prst="rect">
            <a:avLst/>
          </a:prstGeom>
          <a:noFill/>
          <a:ln/>
        </p:spPr>
        <p:txBody>
          <a:bodyPr wrap="square" lIns="0" tIns="0" rIns="0" bIns="0" rtlCol="0" anchor="ctr"/>
          <a:lstStyle/>
          <a:p>
            <a:pPr marL="0" indent="0">
              <a:buNone/>
            </a:pPr>
            <a:r>
              <a:rPr lang="en-US" sz="1250" b="1" dirty="0">
                <a:solidFill>
                  <a:srgbClr val="0F2A4A"/>
                </a:solidFill>
                <a:latin typeface="Calibri" pitchFamily="34" charset="0"/>
                <a:ea typeface="Calibri" pitchFamily="34" charset="-122"/>
                <a:cs typeface="Calibri" pitchFamily="34" charset="-120"/>
              </a:rPr>
              <a:t>Write and commit</a:t>
            </a:r>
            <a:endParaRPr lang="en-US" sz="1250" dirty="0"/>
          </a:p>
        </p:txBody>
      </p:sp>
      <p:sp>
        <p:nvSpPr>
          <p:cNvPr id="24" name="Text 20"/>
          <p:cNvSpPr/>
          <p:nvPr/>
        </p:nvSpPr>
        <p:spPr>
          <a:xfrm>
            <a:off x="6400800" y="3410712"/>
            <a:ext cx="2194560" cy="45720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Highest bid and history row change together or not at all.</a:t>
            </a:r>
            <a:endParaRPr lang="en-US" sz="1050" dirty="0"/>
          </a:p>
        </p:txBody>
      </p:sp>
      <p:sp>
        <p:nvSpPr>
          <p:cNvPr id="25" name="Shape 21"/>
          <p:cNvSpPr/>
          <p:nvPr/>
        </p:nvSpPr>
        <p:spPr>
          <a:xfrm>
            <a:off x="5897880" y="3977640"/>
            <a:ext cx="2788920" cy="685800"/>
          </a:xfrm>
          <a:prstGeom prst="roundRect">
            <a:avLst>
              <a:gd name="adj" fmla="val 10667"/>
            </a:avLst>
          </a:prstGeom>
          <a:solidFill>
            <a:srgbClr val="E0F2FE"/>
          </a:solidFill>
          <a:ln w="12700">
            <a:solidFill>
              <a:srgbClr val="E0F2FE"/>
            </a:solidFill>
            <a:prstDash val="solid"/>
          </a:ln>
        </p:spPr>
      </p:sp>
      <p:sp>
        <p:nvSpPr>
          <p:cNvPr id="26" name="Text 22"/>
          <p:cNvSpPr/>
          <p:nvPr/>
        </p:nvSpPr>
        <p:spPr>
          <a:xfrm>
            <a:off x="6016752" y="4005072"/>
            <a:ext cx="2560320" cy="6400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Deadlock (error 1213): retry up to 3 times, back-off 50·n + random(100) ms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Bidder Experience</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Browse live auctions, open one, and place a bid</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
        <p:nvSpPr>
          <p:cNvPr id="8" name="Text 4"/>
          <p:cNvSpPr/>
          <p:nvPr/>
        </p:nvSpPr>
        <p:spPr>
          <a:xfrm>
            <a:off x="457200" y="1188720"/>
            <a:ext cx="3931920" cy="256032"/>
          </a:xfrm>
          <a:prstGeom prst="rect">
            <a:avLst/>
          </a:prstGeom>
          <a:noFill/>
          <a:ln/>
        </p:spPr>
        <p:txBody>
          <a:bodyPr wrap="square" lIns="0" tIns="0" rIns="0" bIns="0" rtlCol="0" anchor="ctr"/>
          <a:lstStyle/>
          <a:p>
            <a:pPr marL="0" indent="0">
              <a:buNone/>
            </a:pPr>
            <a:r>
              <a:rPr lang="en-US" sz="1200" b="1" dirty="0">
                <a:solidFill>
                  <a:srgbClr val="0B6FB8"/>
                </a:solidFill>
                <a:latin typeface="Calibri" pitchFamily="34" charset="0"/>
                <a:ea typeface="Calibri" pitchFamily="34" charset="-122"/>
                <a:cs typeface="Calibri" pitchFamily="34" charset="-120"/>
              </a:rPr>
              <a:t>Auction list</a:t>
            </a:r>
            <a:endParaRPr lang="en-US" sz="1200" dirty="0"/>
          </a:p>
        </p:txBody>
      </p:sp>
      <p:sp>
        <p:nvSpPr>
          <p:cNvPr id="9" name="Text 5"/>
          <p:cNvSpPr/>
          <p:nvPr/>
        </p:nvSpPr>
        <p:spPr>
          <a:xfrm>
            <a:off x="4754880" y="1188720"/>
            <a:ext cx="3931920" cy="256032"/>
          </a:xfrm>
          <a:prstGeom prst="rect">
            <a:avLst/>
          </a:prstGeom>
          <a:noFill/>
          <a:ln/>
        </p:spPr>
        <p:txBody>
          <a:bodyPr wrap="square" lIns="0" tIns="0" rIns="0" bIns="0" rtlCol="0" anchor="ctr"/>
          <a:lstStyle/>
          <a:p>
            <a:pPr marL="0" indent="0">
              <a:buNone/>
            </a:pPr>
            <a:r>
              <a:rPr lang="en-US" sz="1200" b="1" dirty="0">
                <a:solidFill>
                  <a:srgbClr val="0B6FB8"/>
                </a:solidFill>
                <a:latin typeface="Calibri" pitchFamily="34" charset="0"/>
                <a:ea typeface="Calibri" pitchFamily="34" charset="-122"/>
                <a:cs typeface="Calibri" pitchFamily="34" charset="-120"/>
              </a:rPr>
              <a:t>Auction detail with bid form and history</a:t>
            </a:r>
            <a:endParaRPr lang="en-US" sz="1200" dirty="0"/>
          </a:p>
        </p:txBody>
      </p:sp>
      <p:pic>
        <p:nvPicPr>
          <p:cNvPr id="10" name="Image 1" descr="/home/claude/shots/t_list_c.png"/>
          <p:cNvPicPr>
            <a:picLocks noChangeAspect="1"/>
          </p:cNvPicPr>
          <p:nvPr/>
        </p:nvPicPr>
        <p:blipFill>
          <a:blip r:embed="rId4"/>
          <a:srcRect/>
          <a:stretch/>
        </p:blipFill>
        <p:spPr>
          <a:xfrm>
            <a:off x="457200" y="1481328"/>
            <a:ext cx="3931920" cy="2844744"/>
          </a:xfrm>
          <a:prstGeom prst="rect">
            <a:avLst/>
          </a:prstGeom>
        </p:spPr>
      </p:pic>
      <p:pic>
        <p:nvPicPr>
          <p:cNvPr id="11" name="Image 2" descr="/home/claude/shots/t_detail_c.png"/>
          <p:cNvPicPr>
            <a:picLocks noChangeAspect="1"/>
          </p:cNvPicPr>
          <p:nvPr/>
        </p:nvPicPr>
        <p:blipFill>
          <a:blip r:embed="rId5"/>
          <a:stretch>
            <a:fillRect/>
          </a:stretch>
        </p:blipFill>
        <p:spPr>
          <a:xfrm>
            <a:off x="4754880" y="1481328"/>
            <a:ext cx="3931920" cy="2453518"/>
          </a:xfrm>
          <a:prstGeom prst="rect">
            <a:avLst/>
          </a:prstGeom>
        </p:spPr>
      </p:pic>
      <p:sp>
        <p:nvSpPr>
          <p:cNvPr id="12" name="Shape 6"/>
          <p:cNvSpPr/>
          <p:nvPr/>
        </p:nvSpPr>
        <p:spPr>
          <a:xfrm>
            <a:off x="457200" y="1481328"/>
            <a:ext cx="3931920" cy="2844744"/>
          </a:xfrm>
          <a:prstGeom prst="rect">
            <a:avLst/>
          </a:prstGeom>
          <a:solidFill>
            <a:srgbClr val="FFFFFF">
              <a:alpha val="0"/>
            </a:srgbClr>
          </a:solidFill>
          <a:ln w="12700">
            <a:solidFill>
              <a:srgbClr val="D5DEE9"/>
            </a:solidFill>
            <a:prstDash val="solid"/>
          </a:ln>
        </p:spPr>
      </p:sp>
      <p:sp>
        <p:nvSpPr>
          <p:cNvPr id="13" name="Shape 7"/>
          <p:cNvSpPr/>
          <p:nvPr/>
        </p:nvSpPr>
        <p:spPr>
          <a:xfrm>
            <a:off x="4754880" y="1481328"/>
            <a:ext cx="3931920" cy="2453518"/>
          </a:xfrm>
          <a:prstGeom prst="rect">
            <a:avLst/>
          </a:prstGeom>
          <a:solidFill>
            <a:srgbClr val="FFFFFF">
              <a:alpha val="0"/>
            </a:srgbClr>
          </a:solidFill>
          <a:ln w="12700">
            <a:solidFill>
              <a:srgbClr val="D5DEE9"/>
            </a:solidFill>
            <a:prstDash val="solid"/>
          </a:ln>
        </p:spPr>
      </p:sp>
      <p:sp>
        <p:nvSpPr>
          <p:cNvPr id="14" name="Text 8"/>
          <p:cNvSpPr/>
          <p:nvPr/>
        </p:nvSpPr>
        <p:spPr>
          <a:xfrm>
            <a:off x="4754880" y="4117726"/>
            <a:ext cx="3931920" cy="548640"/>
          </a:xfrm>
          <a:prstGeom prst="rect">
            <a:avLst/>
          </a:prstGeom>
          <a:noFill/>
          <a:ln/>
        </p:spPr>
        <p:txBody>
          <a:bodyPr wrap="square" lIns="0" tIns="0" rIns="0" bIns="0" rtlCol="0" anchor="t"/>
          <a:lstStyle/>
          <a:p>
            <a:pPr marL="0" indent="0">
              <a:buNone/>
            </a:pPr>
            <a:r>
              <a:rPr lang="en-US" sz="1150" i="1" dirty="0">
                <a:solidFill>
                  <a:srgbClr val="64748B"/>
                </a:solidFill>
                <a:latin typeface="Calibri" pitchFamily="34" charset="0"/>
                <a:ea typeface="Calibri" pitchFamily="34" charset="-122"/>
                <a:cs typeface="Calibri" pitchFamily="34" charset="-120"/>
              </a:rPr>
              <a:t>Register / login (JWT)  →  browse  →  bid  →  see the new highest bid instantly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Real-Time Updates and Admin</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Another user bids and the open page updates without a reload</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8" name="Text 4"/>
          <p:cNvSpPr/>
          <p:nvPr/>
        </p:nvSpPr>
        <p:spPr>
          <a:xfrm>
            <a:off x="457200" y="1188720"/>
            <a:ext cx="4023360" cy="237744"/>
          </a:xfrm>
          <a:prstGeom prst="rect">
            <a:avLst/>
          </a:prstGeom>
          <a:noFill/>
          <a:ln/>
        </p:spPr>
        <p:txBody>
          <a:bodyPr wrap="square" lIns="0" tIns="0" rIns="0" bIns="0" rtlCol="0" anchor="ctr"/>
          <a:lstStyle/>
          <a:p>
            <a:pPr marL="0" indent="0">
              <a:buNone/>
            </a:pPr>
            <a:r>
              <a:rPr lang="en-US" sz="1200" b="1" dirty="0">
                <a:solidFill>
                  <a:srgbClr val="0B6FB8"/>
                </a:solidFill>
                <a:latin typeface="Calibri" pitchFamily="34" charset="0"/>
                <a:ea typeface="Calibri" pitchFamily="34" charset="-122"/>
                <a:cs typeface="Calibri" pitchFamily="34" charset="-120"/>
              </a:rPr>
              <a:t>Before: ₹2400.00</a:t>
            </a:r>
            <a:endParaRPr lang="en-US" sz="1200" dirty="0"/>
          </a:p>
        </p:txBody>
      </p:sp>
      <p:pic>
        <p:nvPicPr>
          <p:cNvPr id="9" name="Image 1" descr="/home/claude/shots/live_before_t.png"/>
          <p:cNvPicPr>
            <a:picLocks noChangeAspect="1"/>
          </p:cNvPicPr>
          <p:nvPr/>
        </p:nvPicPr>
        <p:blipFill>
          <a:blip r:embed="rId4"/>
          <a:stretch>
            <a:fillRect/>
          </a:stretch>
        </p:blipFill>
        <p:spPr>
          <a:xfrm>
            <a:off x="457200" y="1463040"/>
            <a:ext cx="4023360" cy="1287475"/>
          </a:xfrm>
          <a:prstGeom prst="rect">
            <a:avLst/>
          </a:prstGeom>
        </p:spPr>
      </p:pic>
      <p:sp>
        <p:nvSpPr>
          <p:cNvPr id="10" name="Shape 5"/>
          <p:cNvSpPr/>
          <p:nvPr/>
        </p:nvSpPr>
        <p:spPr>
          <a:xfrm>
            <a:off x="457200" y="1463040"/>
            <a:ext cx="4023360" cy="1287475"/>
          </a:xfrm>
          <a:prstGeom prst="rect">
            <a:avLst/>
          </a:prstGeom>
          <a:solidFill>
            <a:srgbClr val="FFFFFF">
              <a:alpha val="0"/>
            </a:srgbClr>
          </a:solidFill>
          <a:ln w="12700">
            <a:solidFill>
              <a:srgbClr val="D5DEE9"/>
            </a:solidFill>
            <a:prstDash val="solid"/>
          </a:ln>
        </p:spPr>
      </p:sp>
      <p:sp>
        <p:nvSpPr>
          <p:cNvPr id="11" name="Text 6"/>
          <p:cNvSpPr/>
          <p:nvPr/>
        </p:nvSpPr>
        <p:spPr>
          <a:xfrm>
            <a:off x="457200" y="2887675"/>
            <a:ext cx="4023360" cy="237744"/>
          </a:xfrm>
          <a:prstGeom prst="rect">
            <a:avLst/>
          </a:prstGeom>
          <a:noFill/>
          <a:ln/>
        </p:spPr>
        <p:txBody>
          <a:bodyPr wrap="square" lIns="0" tIns="0" rIns="0" bIns="0" rtlCol="0" anchor="ctr"/>
          <a:lstStyle/>
          <a:p>
            <a:pPr marL="0" indent="0">
              <a:buNone/>
            </a:pPr>
            <a:r>
              <a:rPr lang="en-US" sz="1200" b="1" dirty="0">
                <a:solidFill>
                  <a:srgbClr val="15803D"/>
                </a:solidFill>
                <a:latin typeface="Calibri" pitchFamily="34" charset="0"/>
                <a:ea typeface="Calibri" pitchFamily="34" charset="-122"/>
                <a:cs typeface="Calibri" pitchFamily="34" charset="-120"/>
              </a:rPr>
              <a:t>After another user bids: ₹2650.00</a:t>
            </a:r>
            <a:endParaRPr lang="en-US" sz="1200" dirty="0"/>
          </a:p>
        </p:txBody>
      </p:sp>
      <p:pic>
        <p:nvPicPr>
          <p:cNvPr id="12" name="Image 2" descr="/home/claude/shots/live_after_t.png"/>
          <p:cNvPicPr>
            <a:picLocks noChangeAspect="1"/>
          </p:cNvPicPr>
          <p:nvPr/>
        </p:nvPicPr>
        <p:blipFill>
          <a:blip r:embed="rId5"/>
          <a:stretch>
            <a:fillRect/>
          </a:stretch>
        </p:blipFill>
        <p:spPr>
          <a:xfrm>
            <a:off x="457200" y="3161995"/>
            <a:ext cx="4023360" cy="1287475"/>
          </a:xfrm>
          <a:prstGeom prst="rect">
            <a:avLst/>
          </a:prstGeom>
        </p:spPr>
      </p:pic>
      <p:sp>
        <p:nvSpPr>
          <p:cNvPr id="13" name="Shape 7"/>
          <p:cNvSpPr/>
          <p:nvPr/>
        </p:nvSpPr>
        <p:spPr>
          <a:xfrm>
            <a:off x="457200" y="3161995"/>
            <a:ext cx="4023360" cy="1287475"/>
          </a:xfrm>
          <a:prstGeom prst="rect">
            <a:avLst/>
          </a:prstGeom>
          <a:solidFill>
            <a:srgbClr val="FFFFFF">
              <a:alpha val="0"/>
            </a:srgbClr>
          </a:solidFill>
          <a:ln w="12700">
            <a:solidFill>
              <a:srgbClr val="D5DEE9"/>
            </a:solidFill>
            <a:prstDash val="solid"/>
          </a:ln>
        </p:spPr>
      </p:sp>
      <p:sp>
        <p:nvSpPr>
          <p:cNvPr id="14" name="Text 8"/>
          <p:cNvSpPr/>
          <p:nvPr/>
        </p:nvSpPr>
        <p:spPr>
          <a:xfrm>
            <a:off x="4663440" y="1188720"/>
            <a:ext cx="4023360" cy="237744"/>
          </a:xfrm>
          <a:prstGeom prst="rect">
            <a:avLst/>
          </a:prstGeom>
          <a:noFill/>
          <a:ln/>
        </p:spPr>
        <p:txBody>
          <a:bodyPr wrap="square" lIns="0" tIns="0" rIns="0" bIns="0" rtlCol="0" anchor="ctr"/>
          <a:lstStyle/>
          <a:p>
            <a:pPr marL="0" indent="0">
              <a:buNone/>
            </a:pPr>
            <a:r>
              <a:rPr lang="en-US" sz="1200" b="1" dirty="0">
                <a:solidFill>
                  <a:srgbClr val="0B6FB8"/>
                </a:solidFill>
                <a:latin typeface="Calibri" pitchFamily="34" charset="0"/>
                <a:ea typeface="Calibri" pitchFamily="34" charset="-122"/>
                <a:cs typeface="Calibri" pitchFamily="34" charset="-120"/>
              </a:rPr>
              <a:t>Admin dashboard</a:t>
            </a:r>
            <a:endParaRPr lang="en-US" sz="1200" dirty="0"/>
          </a:p>
        </p:txBody>
      </p:sp>
      <p:pic>
        <p:nvPicPr>
          <p:cNvPr id="15" name="Image 3" descr="/home/claude/shots/t_admin_c.png"/>
          <p:cNvPicPr>
            <a:picLocks noChangeAspect="1"/>
          </p:cNvPicPr>
          <p:nvPr/>
        </p:nvPicPr>
        <p:blipFill>
          <a:blip r:embed="rId6"/>
          <a:stretch>
            <a:fillRect/>
          </a:stretch>
        </p:blipFill>
        <p:spPr>
          <a:xfrm>
            <a:off x="4663440" y="1463040"/>
            <a:ext cx="4023360" cy="3053730"/>
          </a:xfrm>
          <a:prstGeom prst="rect">
            <a:avLst/>
          </a:prstGeom>
        </p:spPr>
      </p:pic>
      <p:sp>
        <p:nvSpPr>
          <p:cNvPr id="16" name="Shape 9"/>
          <p:cNvSpPr/>
          <p:nvPr/>
        </p:nvSpPr>
        <p:spPr>
          <a:xfrm>
            <a:off x="4663440" y="1463040"/>
            <a:ext cx="4023360" cy="3053730"/>
          </a:xfrm>
          <a:prstGeom prst="rect">
            <a:avLst/>
          </a:prstGeom>
          <a:solidFill>
            <a:srgbClr val="FFFFFF">
              <a:alpha val="0"/>
            </a:srgbClr>
          </a:solidFill>
          <a:ln w="12700">
            <a:solidFill>
              <a:srgbClr val="D5DEE9"/>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Naive SELECT then UPDATE vs Row Locking</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20 simultaneous bidders, 10 rounds, true highest bid = ₹2050</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graphicFrame>
        <p:nvGraphicFramePr>
          <p:cNvPr id="8" name="Chart 0"/>
          <p:cNvGraphicFramePr/>
          <p:nvPr/>
        </p:nvGraphicFramePr>
        <p:xfrm>
          <a:off x="365760" y="1188720"/>
          <a:ext cx="5669280" cy="352044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4"/>
          <p:cNvSpPr/>
          <p:nvPr/>
        </p:nvSpPr>
        <p:spPr>
          <a:xfrm>
            <a:off x="6309360" y="1234440"/>
            <a:ext cx="2377440" cy="1600200"/>
          </a:xfrm>
          <a:prstGeom prst="roundRect">
            <a:avLst>
              <a:gd name="adj" fmla="val 4571"/>
            </a:avLst>
          </a:prstGeom>
          <a:solidFill>
            <a:srgbClr val="FEF2F2"/>
          </a:solidFill>
          <a:ln w="12700">
            <a:solidFill>
              <a:srgbClr val="FEF2F2"/>
            </a:solidFill>
            <a:prstDash val="solid"/>
          </a:ln>
        </p:spPr>
      </p:sp>
      <p:sp>
        <p:nvSpPr>
          <p:cNvPr id="10" name="Text 5"/>
          <p:cNvSpPr/>
          <p:nvPr/>
        </p:nvSpPr>
        <p:spPr>
          <a:xfrm>
            <a:off x="6309360" y="1280160"/>
            <a:ext cx="2377440" cy="731520"/>
          </a:xfrm>
          <a:prstGeom prst="rect">
            <a:avLst/>
          </a:prstGeom>
          <a:noFill/>
          <a:ln/>
        </p:spPr>
        <p:txBody>
          <a:bodyPr wrap="square" lIns="0" tIns="0" rIns="0" bIns="0" rtlCol="0" anchor="ctr"/>
          <a:lstStyle/>
          <a:p>
            <a:pPr marL="0" indent="0" algn="ctr">
              <a:buNone/>
            </a:pPr>
            <a:r>
              <a:rPr lang="en-US" sz="3800" b="1" dirty="0">
                <a:solidFill>
                  <a:srgbClr val="B3122B"/>
                </a:solidFill>
                <a:latin typeface="Cambria" pitchFamily="34" charset="0"/>
                <a:ea typeface="Cambria" pitchFamily="34" charset="-122"/>
                <a:cs typeface="Cambria" pitchFamily="34" charset="-120"/>
              </a:rPr>
              <a:t>8 / 10</a:t>
            </a:r>
            <a:endParaRPr lang="en-US" sz="3800" dirty="0"/>
          </a:p>
        </p:txBody>
      </p:sp>
      <p:sp>
        <p:nvSpPr>
          <p:cNvPr id="11" name="Text 6"/>
          <p:cNvSpPr/>
          <p:nvPr/>
        </p:nvSpPr>
        <p:spPr>
          <a:xfrm>
            <a:off x="6400800" y="2057400"/>
            <a:ext cx="2194560" cy="73152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rounds with a wrong highest bid (plain SELECT then UPDATE)</a:t>
            </a:r>
            <a:endParaRPr lang="en-US" sz="1100" dirty="0"/>
          </a:p>
        </p:txBody>
      </p:sp>
      <p:sp>
        <p:nvSpPr>
          <p:cNvPr id="12" name="Shape 7"/>
          <p:cNvSpPr/>
          <p:nvPr/>
        </p:nvSpPr>
        <p:spPr>
          <a:xfrm>
            <a:off x="6309360" y="3017520"/>
            <a:ext cx="2377440" cy="1691640"/>
          </a:xfrm>
          <a:prstGeom prst="roundRect">
            <a:avLst>
              <a:gd name="adj" fmla="val 4324"/>
            </a:avLst>
          </a:prstGeom>
          <a:solidFill>
            <a:srgbClr val="F0FDF4"/>
          </a:solidFill>
          <a:ln w="12700">
            <a:solidFill>
              <a:srgbClr val="F0FDF4"/>
            </a:solidFill>
            <a:prstDash val="solid"/>
          </a:ln>
        </p:spPr>
      </p:sp>
      <p:sp>
        <p:nvSpPr>
          <p:cNvPr id="13" name="Text 8"/>
          <p:cNvSpPr/>
          <p:nvPr/>
        </p:nvSpPr>
        <p:spPr>
          <a:xfrm>
            <a:off x="6309360" y="3063240"/>
            <a:ext cx="2377440" cy="731520"/>
          </a:xfrm>
          <a:prstGeom prst="rect">
            <a:avLst/>
          </a:prstGeom>
          <a:noFill/>
          <a:ln/>
        </p:spPr>
        <p:txBody>
          <a:bodyPr wrap="square" lIns="0" tIns="0" rIns="0" bIns="0" rtlCol="0" anchor="ctr"/>
          <a:lstStyle/>
          <a:p>
            <a:pPr marL="0" indent="0" algn="ctr">
              <a:buNone/>
            </a:pPr>
            <a:r>
              <a:rPr lang="en-US" sz="3800" b="1" dirty="0">
                <a:solidFill>
                  <a:srgbClr val="15803D"/>
                </a:solidFill>
                <a:latin typeface="Cambria" pitchFamily="34" charset="0"/>
                <a:ea typeface="Cambria" pitchFamily="34" charset="-122"/>
                <a:cs typeface="Cambria" pitchFamily="34" charset="-120"/>
              </a:rPr>
              <a:t>10 / 10</a:t>
            </a:r>
            <a:endParaRPr lang="en-US" sz="3800" dirty="0"/>
          </a:p>
        </p:txBody>
      </p:sp>
      <p:sp>
        <p:nvSpPr>
          <p:cNvPr id="14" name="Text 9"/>
          <p:cNvSpPr/>
          <p:nvPr/>
        </p:nvSpPr>
        <p:spPr>
          <a:xfrm>
            <a:off x="6400800" y="3840480"/>
            <a:ext cx="2194560" cy="77724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rounds correct with SELECT … FOR UPDATE; bid history strictly increasing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Test Cases and Results</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Every scenario below was executed against the running application</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Scenario</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Expected</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extLst>
                  <a:ext uri="{0D108BD9-81ED-4DB2-BD59-A6C34878D82A}">
                    <a16:rowId xmlns:a16="http://schemas.microsoft.com/office/drawing/2014/main" val="10000"/>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4 simultaneous bids (₹600–750), different users</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Highest = ₹750; all bids logged</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₹750, 4 history rows</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4 users bid the same ₹21,000 at once</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Exactly one accepted</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1 accepted, 3 × 409</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20 simultaneous bids, 10 rounds</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Final = ₹2050; history strictly increasing</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10 / 10 rounds</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Bid not above the current highest</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Rejected with 409</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409</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Bid on a closed auction</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Rejected with 400</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400 not active</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Bid without logging in</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Rejected with 401</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401</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Non-admin opens admin API</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Rejected with 403</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403</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Auction passes its end time</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Closed; winner stored in auction_results</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winner recorded</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Another user bids on an open page</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Page updates without reload</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050" dirty="0">
                          <a:solidFill>
                            <a:srgbClr val="15803D"/>
                          </a:solidFill>
                          <a:latin typeface="Calibri" pitchFamily="34" charset="0"/>
                          <a:ea typeface="Calibri" pitchFamily="34" charset="-122"/>
                          <a:cs typeface="Calibri" pitchFamily="34" charset="-120"/>
                        </a:rPr>
                        <a:t>PASS  ₹2400 → ₹2650</a:t>
                      </a:r>
                      <a:endParaRPr lang="en-US" sz="1050" dirty="0">
                        <a:latin typeface="Calibri" charset="0"/>
                        <a:ea typeface="Calibri" charset="0"/>
                        <a:cs typeface="Calibri" charset="0"/>
                      </a:endParaRPr>
                    </a:p>
                  </a:txBody>
                  <a:tcPr marL="73152" marR="73152" marT="27432" marB="27432"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 name="Text 4"/>
          <p:cNvSpPr/>
          <p:nvPr/>
        </p:nvSpPr>
        <p:spPr>
          <a:xfrm>
            <a:off x="457200" y="4572000"/>
            <a:ext cx="8229600" cy="201168"/>
          </a:xfrm>
          <a:prstGeom prst="rect">
            <a:avLst/>
          </a:prstGeom>
          <a:noFill/>
          <a:ln/>
        </p:spPr>
        <p:txBody>
          <a:bodyPr wrap="square" lIns="0" tIns="0" rIns="0" bIns="0" rtlCol="0" anchor="ctr"/>
          <a:lstStyle/>
          <a:p>
            <a:r>
              <a:t>Concurrency test environment: Node.js 22 + MariaDB 10.11 (InnoDB) + React/Vite; project schema targets MySQL 8.0.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Existing vs Proposed System</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What we added over typical auction systems</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Existing systems</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Proposed system</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0B6FB8"/>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0F2A4A"/>
                          </a:solidFill>
                          <a:latin typeface="Calibri" pitchFamily="34" charset="0"/>
                          <a:ea typeface="Calibri" pitchFamily="34" charset="-122"/>
                          <a:cs typeface="Calibri" pitchFamily="34" charset="-120"/>
                        </a:rPr>
                        <a:t>Core features</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Listing, bidding, timers and winner selection</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Same features, plus live bid push through Socket.IO</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0F2A4A"/>
                          </a:solidFill>
                          <a:latin typeface="Calibri" pitchFamily="34" charset="0"/>
                          <a:ea typeface="Calibri" pitchFamily="34" charset="-122"/>
                          <a:cs typeface="Calibri" pitchFamily="34" charset="-120"/>
                        </a:rPr>
                        <a:t>Bid handling</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Basic systems: plain SELECT then UPDATE</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One transaction with SELECT … FOR UPDATE</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0F2A4A"/>
                          </a:solidFill>
                          <a:latin typeface="Calibri" pitchFamily="34" charset="0"/>
                          <a:ea typeface="Calibri" pitchFamily="34" charset="-122"/>
                          <a:cs typeface="Calibri" pitchFamily="34" charset="-120"/>
                        </a:rPr>
                        <a:t>Concurrency</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Race conditions; a lower bid can overwrite a higher one</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Row lock, REPEATABLE READ and deadlock retry</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0F2A4A"/>
                          </a:solidFill>
                          <a:latin typeface="Calibri" pitchFamily="34" charset="0"/>
                          <a:ea typeface="Calibri" pitchFamily="34" charset="-122"/>
                          <a:cs typeface="Calibri" pitchFamily="34" charset="-120"/>
                        </a:rPr>
                        <a:t>Transparency</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Commercial platforms are proprietary; design not documented</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Open, documented schema and bid logic for study</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0F2A4A"/>
                          </a:solidFill>
                          <a:latin typeface="Calibri" pitchFamily="34" charset="0"/>
                          <a:ea typeface="Calibri" pitchFamily="34" charset="-122"/>
                          <a:cs typeface="Calibri" pitchFamily="34" charset="-120"/>
                        </a:rPr>
                        <a:t>Limitation / gap</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Mini-projects skip transaction handling and rarely test it</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Verified with simulated concurrent bids (10 / 10 rounds)</a:t>
                      </a:r>
                      <a:endParaRPr lang="en-US" sz="1200" dirty="0">
                        <a:latin typeface="Calibri" charset="0"/>
                        <a:ea typeface="Calibri" charset="0"/>
                        <a:cs typeface="Calibri" charset="0"/>
                      </a:endParaRPr>
                    </a:p>
                  </a:txBody>
                  <a:tcPr marT="36576" marB="36576"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Technology Stack</a:t>
            </a:r>
            <a:endParaRPr lang="en-US" sz="2600" dirty="0"/>
          </a:p>
        </p:txBody>
      </p:sp>
      <p:sp>
        <p:nvSpPr>
          <p:cNvPr id="3" name="Text 1"/>
          <p:cNvSpPr/>
          <p:nvPr/>
        </p:nvSpPr>
        <p:spPr>
          <a:xfrm>
            <a:off x="457200" y="777240"/>
            <a:ext cx="7406640" cy="27432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Open-source tools, no licence cost</a:t>
            </a:r>
            <a:endParaRPr lang="en-US" sz="1250" dirty="0"/>
          </a:p>
        </p:txBody>
      </p:sp>
      <p:pic>
        <p:nvPicPr>
          <p:cNvPr id="4"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5" name="Text 2"/>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6" name="Text 3"/>
          <p:cNvSpPr/>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8" name="Shape 4"/>
          <p:cNvSpPr/>
          <p:nvPr/>
        </p:nvSpPr>
        <p:spPr>
          <a:xfrm>
            <a:off x="457200" y="1280160"/>
            <a:ext cx="2651760" cy="1600200"/>
          </a:xfrm>
          <a:prstGeom prst="roundRect">
            <a:avLst>
              <a:gd name="adj" fmla="val 4571"/>
            </a:avLst>
          </a:prstGeom>
          <a:solidFill>
            <a:srgbClr val="F1F5F9"/>
          </a:solidFill>
          <a:ln w="12700">
            <a:solidFill>
              <a:srgbClr val="F1F5F9"/>
            </a:solidFill>
            <a:prstDash val="solid"/>
          </a:ln>
        </p:spPr>
      </p:sp>
      <p:sp>
        <p:nvSpPr>
          <p:cNvPr id="9" name="Shape 5"/>
          <p:cNvSpPr/>
          <p:nvPr/>
        </p:nvSpPr>
        <p:spPr>
          <a:xfrm>
            <a:off x="621792" y="1444752"/>
            <a:ext cx="502920" cy="502920"/>
          </a:xfrm>
          <a:prstGeom prst="ellipse">
            <a:avLst/>
          </a:prstGeom>
          <a:solidFill>
            <a:srgbClr val="0B6FB8"/>
          </a:solidFill>
          <a:ln w="12700">
            <a:solidFill>
              <a:srgbClr val="0B6FB8"/>
            </a:solidFill>
            <a:prstDash val="solid"/>
          </a:ln>
        </p:spPr>
      </p:sp>
      <p:pic>
        <p:nvPicPr>
          <p:cNvPr id="10" name="Image 1" descr="preencoded.png"/>
          <p:cNvPicPr>
            <a:picLocks noChangeAspect="1"/>
          </p:cNvPicPr>
          <p:nvPr/>
        </p:nvPicPr>
        <p:blipFill>
          <a:blip r:embed="rId4"/>
          <a:stretch>
            <a:fillRect/>
          </a:stretch>
        </p:blipFill>
        <p:spPr>
          <a:xfrm>
            <a:off x="731520" y="1554480"/>
            <a:ext cx="283464" cy="283464"/>
          </a:xfrm>
          <a:prstGeom prst="rect">
            <a:avLst/>
          </a:prstGeom>
        </p:spPr>
      </p:pic>
      <p:sp>
        <p:nvSpPr>
          <p:cNvPr id="11" name="Text 6"/>
          <p:cNvSpPr/>
          <p:nvPr/>
        </p:nvSpPr>
        <p:spPr>
          <a:xfrm>
            <a:off x="1261872" y="1444752"/>
            <a:ext cx="1737360" cy="50292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Front-End</a:t>
            </a:r>
            <a:endParaRPr lang="en-US" sz="1400" dirty="0"/>
          </a:p>
        </p:txBody>
      </p:sp>
      <p:sp>
        <p:nvSpPr>
          <p:cNvPr id="12" name="Text 7"/>
          <p:cNvSpPr/>
          <p:nvPr/>
        </p:nvSpPr>
        <p:spPr>
          <a:xfrm>
            <a:off x="640080" y="2084832"/>
            <a:ext cx="23317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React.js (Vite)</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HTML, CSS, JavaScript</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Axios · React Router</a:t>
            </a:r>
            <a:endParaRPr lang="en-US" sz="1100" dirty="0"/>
          </a:p>
        </p:txBody>
      </p:sp>
      <p:sp>
        <p:nvSpPr>
          <p:cNvPr id="13" name="Shape 8"/>
          <p:cNvSpPr/>
          <p:nvPr/>
        </p:nvSpPr>
        <p:spPr>
          <a:xfrm>
            <a:off x="3246120" y="1280160"/>
            <a:ext cx="2651760" cy="1600200"/>
          </a:xfrm>
          <a:prstGeom prst="roundRect">
            <a:avLst>
              <a:gd name="adj" fmla="val 4571"/>
            </a:avLst>
          </a:prstGeom>
          <a:solidFill>
            <a:srgbClr val="F1F5F9"/>
          </a:solidFill>
          <a:ln w="12700">
            <a:solidFill>
              <a:srgbClr val="F1F5F9"/>
            </a:solidFill>
            <a:prstDash val="solid"/>
          </a:ln>
        </p:spPr>
      </p:sp>
      <p:sp>
        <p:nvSpPr>
          <p:cNvPr id="14" name="Shape 9"/>
          <p:cNvSpPr/>
          <p:nvPr/>
        </p:nvSpPr>
        <p:spPr>
          <a:xfrm>
            <a:off x="3410712" y="1444752"/>
            <a:ext cx="502920" cy="502920"/>
          </a:xfrm>
          <a:prstGeom prst="ellipse">
            <a:avLst/>
          </a:prstGeom>
          <a:solidFill>
            <a:srgbClr val="0B6FB8"/>
          </a:solidFill>
          <a:ln w="12700">
            <a:solidFill>
              <a:srgbClr val="0B6FB8"/>
            </a:solidFill>
            <a:prstDash val="solid"/>
          </a:ln>
        </p:spPr>
      </p:sp>
      <p:pic>
        <p:nvPicPr>
          <p:cNvPr id="15" name="Image 2" descr="preencoded.png"/>
          <p:cNvPicPr>
            <a:picLocks noChangeAspect="1"/>
          </p:cNvPicPr>
          <p:nvPr/>
        </p:nvPicPr>
        <p:blipFill>
          <a:blip r:embed="rId5"/>
          <a:stretch>
            <a:fillRect/>
          </a:stretch>
        </p:blipFill>
        <p:spPr>
          <a:xfrm>
            <a:off x="3520440" y="1554480"/>
            <a:ext cx="283464" cy="283464"/>
          </a:xfrm>
          <a:prstGeom prst="rect">
            <a:avLst/>
          </a:prstGeom>
        </p:spPr>
      </p:pic>
      <p:sp>
        <p:nvSpPr>
          <p:cNvPr id="16" name="Text 10"/>
          <p:cNvSpPr/>
          <p:nvPr/>
        </p:nvSpPr>
        <p:spPr>
          <a:xfrm>
            <a:off x="4050792" y="1444752"/>
            <a:ext cx="1737360" cy="50292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Back-End</a:t>
            </a:r>
            <a:endParaRPr lang="en-US" sz="1400" dirty="0"/>
          </a:p>
        </p:txBody>
      </p:sp>
      <p:sp>
        <p:nvSpPr>
          <p:cNvPr id="17" name="Text 11"/>
          <p:cNvSpPr/>
          <p:nvPr/>
        </p:nvSpPr>
        <p:spPr>
          <a:xfrm>
            <a:off x="3429000" y="2084832"/>
            <a:ext cx="23317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Node.js + Express.js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JWT auth · bcrypt</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node-cron</a:t>
            </a:r>
            <a:endParaRPr lang="en-US" sz="1100" dirty="0"/>
          </a:p>
        </p:txBody>
      </p:sp>
      <p:sp>
        <p:nvSpPr>
          <p:cNvPr id="18" name="Shape 12"/>
          <p:cNvSpPr/>
          <p:nvPr/>
        </p:nvSpPr>
        <p:spPr>
          <a:xfrm>
            <a:off x="6035040" y="1280160"/>
            <a:ext cx="2651760" cy="1600200"/>
          </a:xfrm>
          <a:prstGeom prst="roundRect">
            <a:avLst>
              <a:gd name="adj" fmla="val 4571"/>
            </a:avLst>
          </a:prstGeom>
          <a:solidFill>
            <a:srgbClr val="F1F5F9"/>
          </a:solidFill>
          <a:ln w="12700">
            <a:solidFill>
              <a:srgbClr val="F1F5F9"/>
            </a:solidFill>
            <a:prstDash val="solid"/>
          </a:ln>
        </p:spPr>
      </p:sp>
      <p:sp>
        <p:nvSpPr>
          <p:cNvPr id="19" name="Shape 13"/>
          <p:cNvSpPr/>
          <p:nvPr/>
        </p:nvSpPr>
        <p:spPr>
          <a:xfrm>
            <a:off x="6199632" y="1444752"/>
            <a:ext cx="502920" cy="502920"/>
          </a:xfrm>
          <a:prstGeom prst="ellipse">
            <a:avLst/>
          </a:prstGeom>
          <a:solidFill>
            <a:srgbClr val="0B6FB8"/>
          </a:solidFill>
          <a:ln w="12700">
            <a:solidFill>
              <a:srgbClr val="0B6FB8"/>
            </a:solidFill>
            <a:prstDash val="solid"/>
          </a:ln>
        </p:spPr>
      </p:sp>
      <p:pic>
        <p:nvPicPr>
          <p:cNvPr id="20" name="Image 3" descr="preencoded.png"/>
          <p:cNvPicPr>
            <a:picLocks noChangeAspect="1"/>
          </p:cNvPicPr>
          <p:nvPr/>
        </p:nvPicPr>
        <p:blipFill>
          <a:blip r:embed="rId6"/>
          <a:stretch>
            <a:fillRect/>
          </a:stretch>
        </p:blipFill>
        <p:spPr>
          <a:xfrm>
            <a:off x="6309360" y="1554480"/>
            <a:ext cx="283464" cy="283464"/>
          </a:xfrm>
          <a:prstGeom prst="rect">
            <a:avLst/>
          </a:prstGeom>
        </p:spPr>
      </p:pic>
      <p:sp>
        <p:nvSpPr>
          <p:cNvPr id="21" name="Text 14"/>
          <p:cNvSpPr/>
          <p:nvPr/>
        </p:nvSpPr>
        <p:spPr>
          <a:xfrm>
            <a:off x="6839712" y="1444752"/>
            <a:ext cx="1737360" cy="50292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Database</a:t>
            </a:r>
            <a:endParaRPr lang="en-US" sz="1400" dirty="0"/>
          </a:p>
        </p:txBody>
      </p:sp>
      <p:sp>
        <p:nvSpPr>
          <p:cNvPr id="22" name="Text 15"/>
          <p:cNvSpPr/>
          <p:nvPr/>
        </p:nvSpPr>
        <p:spPr>
          <a:xfrm>
            <a:off x="6217920" y="2084832"/>
            <a:ext cx="23317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MySQL 8.0 (InnoDB)</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Transactions, row locks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MySQL Workbench</a:t>
            </a:r>
            <a:endParaRPr lang="en-US" sz="1100" dirty="0"/>
          </a:p>
        </p:txBody>
      </p:sp>
      <p:sp>
        <p:nvSpPr>
          <p:cNvPr id="23" name="Shape 16"/>
          <p:cNvSpPr/>
          <p:nvPr/>
        </p:nvSpPr>
        <p:spPr>
          <a:xfrm>
            <a:off x="457200" y="3017520"/>
            <a:ext cx="2651760" cy="1600200"/>
          </a:xfrm>
          <a:prstGeom prst="roundRect">
            <a:avLst>
              <a:gd name="adj" fmla="val 4571"/>
            </a:avLst>
          </a:prstGeom>
          <a:solidFill>
            <a:srgbClr val="F1F5F9"/>
          </a:solidFill>
          <a:ln w="12700">
            <a:solidFill>
              <a:srgbClr val="F1F5F9"/>
            </a:solidFill>
            <a:prstDash val="solid"/>
          </a:ln>
        </p:spPr>
      </p:sp>
      <p:sp>
        <p:nvSpPr>
          <p:cNvPr id="24" name="Shape 17"/>
          <p:cNvSpPr/>
          <p:nvPr/>
        </p:nvSpPr>
        <p:spPr>
          <a:xfrm>
            <a:off x="621792" y="3182112"/>
            <a:ext cx="502920" cy="502920"/>
          </a:xfrm>
          <a:prstGeom prst="ellipse">
            <a:avLst/>
          </a:prstGeom>
          <a:solidFill>
            <a:srgbClr val="0B6FB8"/>
          </a:solidFill>
          <a:ln w="12700">
            <a:solidFill>
              <a:srgbClr val="0B6FB8"/>
            </a:solidFill>
            <a:prstDash val="solid"/>
          </a:ln>
        </p:spPr>
      </p:sp>
      <p:pic>
        <p:nvPicPr>
          <p:cNvPr id="25" name="Image 4" descr="preencoded.png"/>
          <p:cNvPicPr>
            <a:picLocks noChangeAspect="1"/>
          </p:cNvPicPr>
          <p:nvPr/>
        </p:nvPicPr>
        <p:blipFill>
          <a:blip r:embed="rId7"/>
          <a:stretch>
            <a:fillRect/>
          </a:stretch>
        </p:blipFill>
        <p:spPr>
          <a:xfrm>
            <a:off x="731520" y="3291840"/>
            <a:ext cx="283464" cy="283464"/>
          </a:xfrm>
          <a:prstGeom prst="rect">
            <a:avLst/>
          </a:prstGeom>
        </p:spPr>
      </p:pic>
      <p:sp>
        <p:nvSpPr>
          <p:cNvPr id="26" name="Text 18"/>
          <p:cNvSpPr/>
          <p:nvPr/>
        </p:nvSpPr>
        <p:spPr>
          <a:xfrm>
            <a:off x="1261872" y="3182112"/>
            <a:ext cx="1737360" cy="50292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Real-Time</a:t>
            </a:r>
            <a:endParaRPr lang="en-US" sz="1400" dirty="0"/>
          </a:p>
        </p:txBody>
      </p:sp>
      <p:sp>
        <p:nvSpPr>
          <p:cNvPr id="27" name="Text 19"/>
          <p:cNvSpPr/>
          <p:nvPr/>
        </p:nvSpPr>
        <p:spPr>
          <a:xfrm>
            <a:off x="640080" y="3822192"/>
            <a:ext cx="23317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Socket.IO server + client</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One room per auction</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bid_update, auction_closed</a:t>
            </a:r>
            <a:endParaRPr lang="en-US" sz="1100" dirty="0"/>
          </a:p>
        </p:txBody>
      </p:sp>
      <p:sp>
        <p:nvSpPr>
          <p:cNvPr id="28" name="Shape 20"/>
          <p:cNvSpPr/>
          <p:nvPr/>
        </p:nvSpPr>
        <p:spPr>
          <a:xfrm>
            <a:off x="3246120" y="3017520"/>
            <a:ext cx="2651760" cy="1600200"/>
          </a:xfrm>
          <a:prstGeom prst="roundRect">
            <a:avLst>
              <a:gd name="adj" fmla="val 4571"/>
            </a:avLst>
          </a:prstGeom>
          <a:solidFill>
            <a:srgbClr val="F1F5F9"/>
          </a:solidFill>
          <a:ln w="12700">
            <a:solidFill>
              <a:srgbClr val="F1F5F9"/>
            </a:solidFill>
            <a:prstDash val="solid"/>
          </a:ln>
        </p:spPr>
      </p:sp>
      <p:sp>
        <p:nvSpPr>
          <p:cNvPr id="29" name="Shape 21"/>
          <p:cNvSpPr/>
          <p:nvPr/>
        </p:nvSpPr>
        <p:spPr>
          <a:xfrm>
            <a:off x="3410712" y="3182112"/>
            <a:ext cx="502920" cy="502920"/>
          </a:xfrm>
          <a:prstGeom prst="ellipse">
            <a:avLst/>
          </a:prstGeom>
          <a:solidFill>
            <a:srgbClr val="0B6FB8"/>
          </a:solidFill>
          <a:ln w="12700">
            <a:solidFill>
              <a:srgbClr val="0B6FB8"/>
            </a:solidFill>
            <a:prstDash val="solid"/>
          </a:ln>
        </p:spPr>
      </p:sp>
      <p:pic>
        <p:nvPicPr>
          <p:cNvPr id="30" name="Image 5" descr="preencoded.png"/>
          <p:cNvPicPr>
            <a:picLocks noChangeAspect="1"/>
          </p:cNvPicPr>
          <p:nvPr/>
        </p:nvPicPr>
        <p:blipFill>
          <a:blip r:embed="rId8"/>
          <a:stretch>
            <a:fillRect/>
          </a:stretch>
        </p:blipFill>
        <p:spPr>
          <a:xfrm>
            <a:off x="3520440" y="3291840"/>
            <a:ext cx="283464" cy="283464"/>
          </a:xfrm>
          <a:prstGeom prst="rect">
            <a:avLst/>
          </a:prstGeom>
        </p:spPr>
      </p:pic>
      <p:sp>
        <p:nvSpPr>
          <p:cNvPr id="31" name="Text 22"/>
          <p:cNvSpPr/>
          <p:nvPr/>
        </p:nvSpPr>
        <p:spPr>
          <a:xfrm>
            <a:off x="4050792" y="3182112"/>
            <a:ext cx="1737360" cy="50292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Tools</a:t>
            </a:r>
            <a:endParaRPr lang="en-US" sz="1400" dirty="0"/>
          </a:p>
        </p:txBody>
      </p:sp>
      <p:sp>
        <p:nvSpPr>
          <p:cNvPr id="32" name="Text 23"/>
          <p:cNvSpPr/>
          <p:nvPr/>
        </p:nvSpPr>
        <p:spPr>
          <a:xfrm>
            <a:off x="3429000" y="3822192"/>
            <a:ext cx="23317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Visual Studio Code</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Git and GitHub</a:t>
            </a:r>
            <a:endParaRPr lang="en-US" sz="1100" dirty="0"/>
          </a:p>
        </p:txBody>
      </p:sp>
      <p:sp>
        <p:nvSpPr>
          <p:cNvPr id="33" name="Shape 24"/>
          <p:cNvSpPr/>
          <p:nvPr/>
        </p:nvSpPr>
        <p:spPr>
          <a:xfrm>
            <a:off x="6035040" y="3017520"/>
            <a:ext cx="2651760" cy="1600200"/>
          </a:xfrm>
          <a:prstGeom prst="roundRect">
            <a:avLst>
              <a:gd name="adj" fmla="val 4571"/>
            </a:avLst>
          </a:prstGeom>
          <a:solidFill>
            <a:srgbClr val="F1F5F9"/>
          </a:solidFill>
          <a:ln w="12700">
            <a:solidFill>
              <a:srgbClr val="F1F5F9"/>
            </a:solidFill>
            <a:prstDash val="solid"/>
          </a:ln>
        </p:spPr>
      </p:sp>
      <p:sp>
        <p:nvSpPr>
          <p:cNvPr id="34" name="Shape 25"/>
          <p:cNvSpPr/>
          <p:nvPr/>
        </p:nvSpPr>
        <p:spPr>
          <a:xfrm>
            <a:off x="6199632" y="3182112"/>
            <a:ext cx="502920" cy="502920"/>
          </a:xfrm>
          <a:prstGeom prst="ellipse">
            <a:avLst/>
          </a:prstGeom>
          <a:solidFill>
            <a:srgbClr val="0B6FB8"/>
          </a:solidFill>
          <a:ln w="12700">
            <a:solidFill>
              <a:srgbClr val="0B6FB8"/>
            </a:solidFill>
            <a:prstDash val="solid"/>
          </a:ln>
        </p:spPr>
      </p:sp>
      <p:pic>
        <p:nvPicPr>
          <p:cNvPr id="35" name="Image 6" descr="preencoded.png"/>
          <p:cNvPicPr>
            <a:picLocks noChangeAspect="1"/>
          </p:cNvPicPr>
          <p:nvPr/>
        </p:nvPicPr>
        <p:blipFill>
          <a:blip r:embed="rId9"/>
          <a:stretch>
            <a:fillRect/>
          </a:stretch>
        </p:blipFill>
        <p:spPr>
          <a:xfrm>
            <a:off x="6309360" y="3291840"/>
            <a:ext cx="283464" cy="283464"/>
          </a:xfrm>
          <a:prstGeom prst="rect">
            <a:avLst/>
          </a:prstGeom>
        </p:spPr>
      </p:pic>
      <p:sp>
        <p:nvSpPr>
          <p:cNvPr id="36" name="Text 26"/>
          <p:cNvSpPr/>
          <p:nvPr/>
        </p:nvSpPr>
        <p:spPr>
          <a:xfrm>
            <a:off x="6839712" y="3182112"/>
            <a:ext cx="1737360" cy="50292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Environment</a:t>
            </a:r>
            <a:endParaRPr lang="en-US" sz="1400" dirty="0"/>
          </a:p>
        </p:txBody>
      </p:sp>
      <p:sp>
        <p:nvSpPr>
          <p:cNvPr id="37" name="Text 27"/>
          <p:cNvSpPr/>
          <p:nvPr/>
        </p:nvSpPr>
        <p:spPr>
          <a:xfrm>
            <a:off x="6217920" y="3822192"/>
            <a:ext cx="23317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Windows 10/11 or Linux</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Chrome / Edge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2F52"/>
        </a:solidFill>
        <a:effectLst/>
      </p:bgPr>
    </p:bg>
    <p:spTree>
      <p:nvGrpSpPr>
        <p:cNvPr id="1" name=""/>
        <p:cNvGrpSpPr/>
        <p:nvPr/>
      </p:nvGrpSpPr>
      <p:grpSpPr>
        <a:xfrm>
          <a:off x="0" y="0"/>
          <a:ext cx="0" cy="0"/>
          <a:chOff x="0" y="0"/>
          <a:chExt cx="0" cy="0"/>
        </a:xfrm>
      </p:grpSpPr>
      <p:sp>
        <p:nvSpPr>
          <p:cNvPr id="2" name="TextBox 1"/>
          <p:cNvSpPr txBox="1"/>
          <p:nvPr/>
        </p:nvSpPr>
        <p:spPr>
          <a:xfrm>
            <a:off x="530352" y="347472"/>
            <a:ext cx="7726679" cy="438912"/>
          </a:xfrm>
          <a:prstGeom prst="rect">
            <a:avLst/>
          </a:prstGeom>
          <a:noFill/>
        </p:spPr>
        <p:txBody>
          <a:bodyPr wrap="square" lIns="36576" tIns="36576" rIns="36576" bIns="36576" anchor="t">
            <a:spAutoFit/>
          </a:bodyPr>
          <a:lstStyle/>
          <a:p>
            <a:pPr algn="l"/>
            <a:r>
              <a:rPr sz="2500" b="1">
                <a:solidFill>
                  <a:srgbClr val="F8FAFC"/>
                </a:solidFill>
                <a:latin typeface="Cambria"/>
              </a:rPr>
              <a:t>Course Mapping — COs to Project</a:t>
            </a:r>
          </a:p>
        </p:txBody>
      </p:sp>
      <p:sp>
        <p:nvSpPr>
          <p:cNvPr id="3" name="TextBox 2"/>
          <p:cNvSpPr txBox="1"/>
          <p:nvPr/>
        </p:nvSpPr>
        <p:spPr>
          <a:xfrm>
            <a:off x="548640" y="832104"/>
            <a:ext cx="7772400" cy="329184"/>
          </a:xfrm>
          <a:prstGeom prst="rect">
            <a:avLst/>
          </a:prstGeom>
          <a:noFill/>
        </p:spPr>
        <p:txBody>
          <a:bodyPr wrap="square" lIns="36576" tIns="36576" rIns="36576" bIns="36576" anchor="t">
            <a:spAutoFit/>
          </a:bodyPr>
          <a:lstStyle/>
          <a:p>
            <a:pPr algn="l"/>
            <a:r>
              <a:rPr sz="1150" b="0">
                <a:solidFill>
                  <a:srgbClr val="B8C6D6"/>
                </a:solidFill>
                <a:latin typeface="Calibri"/>
              </a:rPr>
              <a:t>Aligned with the DSDBE Revised 2026–27 course handout</a:t>
            </a:r>
          </a:p>
        </p:txBody>
      </p:sp>
      <p:sp>
        <p:nvSpPr>
          <p:cNvPr id="4" name="TextBox 3"/>
          <p:cNvSpPr txBox="1"/>
          <p:nvPr/>
        </p:nvSpPr>
        <p:spPr>
          <a:xfrm>
            <a:off x="8458200" y="384048"/>
            <a:ext cx="320040" cy="228600"/>
          </a:xfrm>
          <a:prstGeom prst="rect">
            <a:avLst/>
          </a:prstGeom>
          <a:noFill/>
        </p:spPr>
        <p:txBody>
          <a:bodyPr wrap="square" lIns="36576" tIns="36576" rIns="36576" bIns="36576" anchor="t">
            <a:spAutoFit/>
          </a:bodyPr>
          <a:lstStyle/>
          <a:p>
            <a:pPr algn="r"/>
            <a:r>
              <a:rPr sz="900" b="0">
                <a:solidFill>
                  <a:srgbClr val="B8C6D6"/>
                </a:solidFill>
                <a:latin typeface="Calibri"/>
              </a:rPr>
              <a:t>13</a:t>
            </a:r>
          </a:p>
        </p:txBody>
      </p:sp>
      <p:sp>
        <p:nvSpPr>
          <p:cNvPr id="5" name="Rectangle 4"/>
          <p:cNvSpPr/>
          <p:nvPr/>
        </p:nvSpPr>
        <p:spPr>
          <a:xfrm>
            <a:off x="548640" y="1207008"/>
            <a:ext cx="594360" cy="32004"/>
          </a:xfrm>
          <a:prstGeom prst="rect">
            <a:avLst/>
          </a:prstGeom>
          <a:solidFill>
            <a:srgbClr val="56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4818888"/>
            <a:ext cx="4754880" cy="164592"/>
          </a:xfrm>
          <a:prstGeom prst="rect">
            <a:avLst/>
          </a:prstGeom>
          <a:noFill/>
        </p:spPr>
        <p:txBody>
          <a:bodyPr wrap="square" lIns="36576" tIns="36576" rIns="36576" bIns="36576" anchor="t">
            <a:spAutoFit/>
          </a:bodyPr>
          <a:lstStyle/>
          <a:p>
            <a:pPr algn="l"/>
            <a:r>
              <a:rPr sz="750" b="0">
                <a:solidFill>
                  <a:srgbClr val="B8C6D6"/>
                </a:solidFill>
                <a:latin typeface="Calibri"/>
              </a:rPr>
              <a:t>Team 22  |  Final Review  |  DBDSE (25CS1302E)</a:t>
            </a:r>
          </a:p>
        </p:txBody>
      </p:sp>
      <p:sp>
        <p:nvSpPr>
          <p:cNvPr id="7" name="TextBox 6"/>
          <p:cNvSpPr txBox="1"/>
          <p:nvPr/>
        </p:nvSpPr>
        <p:spPr>
          <a:xfrm>
            <a:off x="7973568" y="4818888"/>
            <a:ext cx="621792" cy="164592"/>
          </a:xfrm>
          <a:prstGeom prst="rect">
            <a:avLst/>
          </a:prstGeom>
          <a:noFill/>
        </p:spPr>
        <p:txBody>
          <a:bodyPr wrap="square" lIns="36576" tIns="36576" rIns="36576" bIns="36576" anchor="t">
            <a:spAutoFit/>
          </a:bodyPr>
          <a:lstStyle/>
          <a:p>
            <a:pPr algn="r"/>
            <a:r>
              <a:rPr sz="750" b="0">
                <a:solidFill>
                  <a:srgbClr val="B8C6D6"/>
                </a:solidFill>
                <a:latin typeface="Calibri"/>
              </a:rPr>
              <a:t>2026–27</a:t>
            </a:r>
          </a:p>
        </p:txBody>
      </p:sp>
      <p:sp>
        <p:nvSpPr>
          <p:cNvPr id="8" name="Rounded Rectangle 7"/>
          <p:cNvSpPr/>
          <p:nvPr/>
        </p:nvSpPr>
        <p:spPr>
          <a:xfrm>
            <a:off x="548640" y="1389888"/>
            <a:ext cx="8065008" cy="475488"/>
          </a:xfrm>
          <a:prstGeom prst="round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481328"/>
            <a:ext cx="438912" cy="228600"/>
          </a:xfrm>
          <a:prstGeom prst="rect">
            <a:avLst/>
          </a:prstGeom>
          <a:noFill/>
        </p:spPr>
        <p:txBody>
          <a:bodyPr wrap="square" lIns="36576" tIns="36576" rIns="36576" bIns="36576" anchor="t">
            <a:spAutoFit/>
          </a:bodyPr>
          <a:lstStyle/>
          <a:p>
            <a:pPr algn="l"/>
            <a:r>
              <a:rPr sz="1300" b="1">
                <a:solidFill>
                  <a:srgbClr val="56C7FF"/>
                </a:solidFill>
                <a:latin typeface="Calibri"/>
              </a:rPr>
              <a:t>CO1</a:t>
            </a:r>
          </a:p>
        </p:txBody>
      </p:sp>
      <p:sp>
        <p:nvSpPr>
          <p:cNvPr id="10" name="TextBox 9"/>
          <p:cNvSpPr txBox="1"/>
          <p:nvPr/>
        </p:nvSpPr>
        <p:spPr>
          <a:xfrm>
            <a:off x="1170432" y="1453896"/>
            <a:ext cx="2240280" cy="310896"/>
          </a:xfrm>
          <a:prstGeom prst="rect">
            <a:avLst/>
          </a:prstGeom>
          <a:noFill/>
        </p:spPr>
        <p:txBody>
          <a:bodyPr wrap="square" lIns="36576" tIns="36576" rIns="36576" bIns="36576" anchor="t">
            <a:spAutoFit/>
          </a:bodyPr>
          <a:lstStyle/>
          <a:p>
            <a:pPr algn="l"/>
            <a:r>
              <a:rPr sz="1120" b="1">
                <a:solidFill>
                  <a:srgbClr val="F8FAFC"/>
                </a:solidFill>
                <a:latin typeface="Calibri"/>
              </a:rPr>
              <a:t>Layered backend + request/response flow</a:t>
            </a:r>
          </a:p>
        </p:txBody>
      </p:sp>
      <p:sp>
        <p:nvSpPr>
          <p:cNvPr id="11" name="TextBox 10"/>
          <p:cNvSpPr txBox="1"/>
          <p:nvPr/>
        </p:nvSpPr>
        <p:spPr>
          <a:xfrm>
            <a:off x="3456432" y="1435608"/>
            <a:ext cx="3913632" cy="356616"/>
          </a:xfrm>
          <a:prstGeom prst="rect">
            <a:avLst/>
          </a:prstGeom>
          <a:noFill/>
        </p:spPr>
        <p:txBody>
          <a:bodyPr wrap="square" lIns="36576" tIns="36576" rIns="36576" bIns="36576" anchor="t">
            <a:spAutoFit/>
          </a:bodyPr>
          <a:lstStyle/>
          <a:p>
            <a:pPr algn="l"/>
            <a:r>
              <a:rPr sz="950" b="0">
                <a:solidFill>
                  <a:srgbClr val="EBF1F7"/>
                </a:solidFill>
                <a:latin typeface="Calibri"/>
              </a:rPr>
              <a:t>React/Vite → Express routes → JWT/admin middleware → controllers → MySQL pool → JSON response</a:t>
            </a:r>
          </a:p>
        </p:txBody>
      </p:sp>
      <p:sp>
        <p:nvSpPr>
          <p:cNvPr id="12" name="TextBox 11"/>
          <p:cNvSpPr txBox="1"/>
          <p:nvPr/>
        </p:nvSpPr>
        <p:spPr>
          <a:xfrm>
            <a:off x="7424927" y="1481328"/>
            <a:ext cx="960120" cy="228600"/>
          </a:xfrm>
          <a:prstGeom prst="rect">
            <a:avLst/>
          </a:prstGeom>
          <a:noFill/>
        </p:spPr>
        <p:txBody>
          <a:bodyPr wrap="square" lIns="36576" tIns="36576" rIns="36576" bIns="36576" anchor="t">
            <a:spAutoFit/>
          </a:bodyPr>
          <a:lstStyle/>
          <a:p>
            <a:pPr algn="r"/>
            <a:r>
              <a:rPr sz="860" b="1">
                <a:solidFill>
                  <a:srgbClr val="56C7FF"/>
                </a:solidFill>
                <a:latin typeface="Calibri"/>
              </a:rPr>
              <a:t>Direct</a:t>
            </a:r>
          </a:p>
        </p:txBody>
      </p:sp>
      <p:sp>
        <p:nvSpPr>
          <p:cNvPr id="13" name="Rounded Rectangle 12"/>
          <p:cNvSpPr/>
          <p:nvPr/>
        </p:nvSpPr>
        <p:spPr>
          <a:xfrm>
            <a:off x="548640" y="1938528"/>
            <a:ext cx="8065008" cy="475488"/>
          </a:xfrm>
          <a:prstGeom prst="round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438912" cy="228600"/>
          </a:xfrm>
          <a:prstGeom prst="rect">
            <a:avLst/>
          </a:prstGeom>
          <a:noFill/>
        </p:spPr>
        <p:txBody>
          <a:bodyPr wrap="square" lIns="36576" tIns="36576" rIns="36576" bIns="36576" anchor="t">
            <a:spAutoFit/>
          </a:bodyPr>
          <a:lstStyle/>
          <a:p>
            <a:pPr algn="l"/>
            <a:r>
              <a:rPr sz="1300" b="1">
                <a:solidFill>
                  <a:srgbClr val="56C7FF"/>
                </a:solidFill>
                <a:latin typeface="Calibri"/>
              </a:rPr>
              <a:t>CO2</a:t>
            </a:r>
          </a:p>
        </p:txBody>
      </p:sp>
      <p:sp>
        <p:nvSpPr>
          <p:cNvPr id="15" name="TextBox 14"/>
          <p:cNvSpPr txBox="1"/>
          <p:nvPr/>
        </p:nvSpPr>
        <p:spPr>
          <a:xfrm>
            <a:off x="1170432" y="2002536"/>
            <a:ext cx="2240280" cy="310896"/>
          </a:xfrm>
          <a:prstGeom prst="rect">
            <a:avLst/>
          </a:prstGeom>
          <a:noFill/>
        </p:spPr>
        <p:txBody>
          <a:bodyPr wrap="square" lIns="36576" tIns="36576" rIns="36576" bIns="36576" anchor="t">
            <a:spAutoFit/>
          </a:bodyPr>
          <a:lstStyle/>
          <a:p>
            <a:pPr algn="l"/>
            <a:r>
              <a:rPr sz="1120" b="1">
                <a:solidFill>
                  <a:srgbClr val="F8FAFC"/>
                </a:solidFill>
                <a:latin typeface="Calibri"/>
              </a:rPr>
              <a:t>ER modelling + normalization</a:t>
            </a:r>
          </a:p>
        </p:txBody>
      </p:sp>
      <p:sp>
        <p:nvSpPr>
          <p:cNvPr id="16" name="TextBox 15"/>
          <p:cNvSpPr txBox="1"/>
          <p:nvPr/>
        </p:nvSpPr>
        <p:spPr>
          <a:xfrm>
            <a:off x="3456432" y="1984248"/>
            <a:ext cx="3913632" cy="356616"/>
          </a:xfrm>
          <a:prstGeom prst="rect">
            <a:avLst/>
          </a:prstGeom>
          <a:noFill/>
        </p:spPr>
        <p:txBody>
          <a:bodyPr wrap="square" lIns="36576" tIns="36576" rIns="36576" bIns="36576" anchor="t">
            <a:spAutoFit/>
          </a:bodyPr>
          <a:lstStyle/>
          <a:p>
            <a:pPr algn="l"/>
            <a:r>
              <a:rPr sz="950" b="0">
                <a:solidFill>
                  <a:srgbClr val="EBF1F7"/>
                </a:solidFill>
                <a:latin typeface="Calibri"/>
              </a:rPr>
              <a:t>7-table relational schema; PK/FK relationships; composite keys; integrity constraints</a:t>
            </a:r>
          </a:p>
        </p:txBody>
      </p:sp>
      <p:sp>
        <p:nvSpPr>
          <p:cNvPr id="17" name="TextBox 16"/>
          <p:cNvSpPr txBox="1"/>
          <p:nvPr/>
        </p:nvSpPr>
        <p:spPr>
          <a:xfrm>
            <a:off x="7424927" y="2029968"/>
            <a:ext cx="960120" cy="228600"/>
          </a:xfrm>
          <a:prstGeom prst="rect">
            <a:avLst/>
          </a:prstGeom>
          <a:noFill/>
        </p:spPr>
        <p:txBody>
          <a:bodyPr wrap="square" lIns="36576" tIns="36576" rIns="36576" bIns="36576" anchor="t">
            <a:spAutoFit/>
          </a:bodyPr>
          <a:lstStyle/>
          <a:p>
            <a:pPr algn="r"/>
            <a:r>
              <a:rPr sz="860" b="1">
                <a:solidFill>
                  <a:srgbClr val="56C7FF"/>
                </a:solidFill>
                <a:latin typeface="Calibri"/>
              </a:rPr>
              <a:t>Direct</a:t>
            </a:r>
          </a:p>
        </p:txBody>
      </p:sp>
      <p:sp>
        <p:nvSpPr>
          <p:cNvPr id="18" name="Rounded Rectangle 17"/>
          <p:cNvSpPr/>
          <p:nvPr/>
        </p:nvSpPr>
        <p:spPr>
          <a:xfrm>
            <a:off x="548640" y="2487168"/>
            <a:ext cx="8065008" cy="475488"/>
          </a:xfrm>
          <a:prstGeom prst="round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2578608"/>
            <a:ext cx="438912" cy="228600"/>
          </a:xfrm>
          <a:prstGeom prst="rect">
            <a:avLst/>
          </a:prstGeom>
          <a:noFill/>
        </p:spPr>
        <p:txBody>
          <a:bodyPr wrap="square" lIns="36576" tIns="36576" rIns="36576" bIns="36576" anchor="t">
            <a:spAutoFit/>
          </a:bodyPr>
          <a:lstStyle/>
          <a:p>
            <a:pPr algn="l"/>
            <a:r>
              <a:rPr sz="1300" b="1">
                <a:solidFill>
                  <a:srgbClr val="F6CD5F"/>
                </a:solidFill>
                <a:latin typeface="Calibri"/>
              </a:rPr>
              <a:t>CO3</a:t>
            </a:r>
          </a:p>
        </p:txBody>
      </p:sp>
      <p:sp>
        <p:nvSpPr>
          <p:cNvPr id="20" name="TextBox 19"/>
          <p:cNvSpPr txBox="1"/>
          <p:nvPr/>
        </p:nvSpPr>
        <p:spPr>
          <a:xfrm>
            <a:off x="1170432" y="2551176"/>
            <a:ext cx="2240280" cy="310896"/>
          </a:xfrm>
          <a:prstGeom prst="rect">
            <a:avLst/>
          </a:prstGeom>
          <a:noFill/>
        </p:spPr>
        <p:txBody>
          <a:bodyPr wrap="square" lIns="36576" tIns="36576" rIns="36576" bIns="36576" anchor="t">
            <a:spAutoFit/>
          </a:bodyPr>
          <a:lstStyle/>
          <a:p>
            <a:pPr algn="l"/>
            <a:r>
              <a:rPr sz="1120" b="1">
                <a:solidFill>
                  <a:srgbClr val="F8FAFC"/>
                </a:solidFill>
                <a:latin typeface="Calibri"/>
              </a:rPr>
              <a:t>SQL for relational data</a:t>
            </a:r>
          </a:p>
        </p:txBody>
      </p:sp>
      <p:sp>
        <p:nvSpPr>
          <p:cNvPr id="21" name="TextBox 20"/>
          <p:cNvSpPr txBox="1"/>
          <p:nvPr/>
        </p:nvSpPr>
        <p:spPr>
          <a:xfrm>
            <a:off x="3456432" y="2532888"/>
            <a:ext cx="3913632" cy="356616"/>
          </a:xfrm>
          <a:prstGeom prst="rect">
            <a:avLst/>
          </a:prstGeom>
          <a:noFill/>
        </p:spPr>
        <p:txBody>
          <a:bodyPr wrap="square" lIns="36576" tIns="36576" rIns="36576" bIns="36576" anchor="t">
            <a:spAutoFit/>
          </a:bodyPr>
          <a:lstStyle/>
          <a:p>
            <a:pPr algn="l"/>
            <a:r>
              <a:rPr sz="950" b="0">
                <a:solidFill>
                  <a:srgbClr val="EBF1F7"/>
                </a:solidFill>
                <a:latin typeface="Calibri"/>
              </a:rPr>
              <a:t>schema.sql DDL; CRUD queries; joins, filters and grouping; advanced CTE/window topics are not primary</a:t>
            </a:r>
          </a:p>
        </p:txBody>
      </p:sp>
      <p:sp>
        <p:nvSpPr>
          <p:cNvPr id="22" name="TextBox 21"/>
          <p:cNvSpPr txBox="1"/>
          <p:nvPr/>
        </p:nvSpPr>
        <p:spPr>
          <a:xfrm>
            <a:off x="7424927" y="2578608"/>
            <a:ext cx="960120" cy="228600"/>
          </a:xfrm>
          <a:prstGeom prst="rect">
            <a:avLst/>
          </a:prstGeom>
          <a:noFill/>
        </p:spPr>
        <p:txBody>
          <a:bodyPr wrap="square" lIns="36576" tIns="36576" rIns="36576" bIns="36576" anchor="t">
            <a:spAutoFit/>
          </a:bodyPr>
          <a:lstStyle/>
          <a:p>
            <a:pPr algn="r"/>
            <a:r>
              <a:rPr sz="860" b="1">
                <a:solidFill>
                  <a:srgbClr val="F6CD5F"/>
                </a:solidFill>
                <a:latin typeface="Calibri"/>
              </a:rPr>
              <a:t>Strong / partial</a:t>
            </a:r>
          </a:p>
        </p:txBody>
      </p:sp>
      <p:sp>
        <p:nvSpPr>
          <p:cNvPr id="23" name="Rounded Rectangle 22"/>
          <p:cNvSpPr/>
          <p:nvPr/>
        </p:nvSpPr>
        <p:spPr>
          <a:xfrm>
            <a:off x="548640" y="3035808"/>
            <a:ext cx="8065008" cy="475488"/>
          </a:xfrm>
          <a:prstGeom prst="round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3127248"/>
            <a:ext cx="438912" cy="228600"/>
          </a:xfrm>
          <a:prstGeom prst="rect">
            <a:avLst/>
          </a:prstGeom>
          <a:noFill/>
        </p:spPr>
        <p:txBody>
          <a:bodyPr wrap="square" lIns="36576" tIns="36576" rIns="36576" bIns="36576" anchor="t">
            <a:spAutoFit/>
          </a:bodyPr>
          <a:lstStyle/>
          <a:p>
            <a:pPr algn="l"/>
            <a:r>
              <a:rPr sz="1300" b="1">
                <a:solidFill>
                  <a:srgbClr val="6FD6A0"/>
                </a:solidFill>
                <a:latin typeface="Calibri"/>
              </a:rPr>
              <a:t>CO4</a:t>
            </a:r>
          </a:p>
        </p:txBody>
      </p:sp>
      <p:sp>
        <p:nvSpPr>
          <p:cNvPr id="25" name="TextBox 24"/>
          <p:cNvSpPr txBox="1"/>
          <p:nvPr/>
        </p:nvSpPr>
        <p:spPr>
          <a:xfrm>
            <a:off x="1170432" y="3099816"/>
            <a:ext cx="2240280" cy="310896"/>
          </a:xfrm>
          <a:prstGeom prst="rect">
            <a:avLst/>
          </a:prstGeom>
          <a:noFill/>
        </p:spPr>
        <p:txBody>
          <a:bodyPr wrap="square" lIns="36576" tIns="36576" rIns="36576" bIns="36576" anchor="t">
            <a:spAutoFit/>
          </a:bodyPr>
          <a:lstStyle/>
          <a:p>
            <a:pPr algn="l"/>
            <a:r>
              <a:rPr sz="1120" b="1">
                <a:solidFill>
                  <a:srgbClr val="F8FAFC"/>
                </a:solidFill>
                <a:latin typeface="Calibri"/>
              </a:rPr>
              <a:t>Transactions + concurrency</a:t>
            </a:r>
          </a:p>
        </p:txBody>
      </p:sp>
      <p:sp>
        <p:nvSpPr>
          <p:cNvPr id="26" name="TextBox 25"/>
          <p:cNvSpPr txBox="1"/>
          <p:nvPr/>
        </p:nvSpPr>
        <p:spPr>
          <a:xfrm>
            <a:off x="3456432" y="3081528"/>
            <a:ext cx="3913632" cy="356616"/>
          </a:xfrm>
          <a:prstGeom prst="rect">
            <a:avLst/>
          </a:prstGeom>
          <a:noFill/>
        </p:spPr>
        <p:txBody>
          <a:bodyPr wrap="square" lIns="36576" tIns="36576" rIns="36576" bIns="36576" anchor="t">
            <a:spAutoFit/>
          </a:bodyPr>
          <a:lstStyle/>
          <a:p>
            <a:pPr algn="l"/>
            <a:r>
              <a:rPr sz="950" b="0">
                <a:solidFill>
                  <a:srgbClr val="EBF1F7"/>
                </a:solidFill>
                <a:latin typeface="Calibri"/>
              </a:rPr>
              <a:t>InnoDB transactions, REPEATABLE READ, SELECT … FOR UPDATE, commit/rollback, deadlock retry, concurrency tests</a:t>
            </a:r>
          </a:p>
        </p:txBody>
      </p:sp>
      <p:sp>
        <p:nvSpPr>
          <p:cNvPr id="27" name="TextBox 26"/>
          <p:cNvSpPr txBox="1"/>
          <p:nvPr/>
        </p:nvSpPr>
        <p:spPr>
          <a:xfrm>
            <a:off x="7424927" y="3127248"/>
            <a:ext cx="960120" cy="228600"/>
          </a:xfrm>
          <a:prstGeom prst="rect">
            <a:avLst/>
          </a:prstGeom>
          <a:noFill/>
        </p:spPr>
        <p:txBody>
          <a:bodyPr wrap="square" lIns="36576" tIns="36576" rIns="36576" bIns="36576" anchor="t">
            <a:spAutoFit/>
          </a:bodyPr>
          <a:lstStyle/>
          <a:p>
            <a:pPr algn="r"/>
            <a:r>
              <a:rPr sz="860" b="1">
                <a:solidFill>
                  <a:srgbClr val="6FD6A0"/>
                </a:solidFill>
                <a:latin typeface="Calibri"/>
              </a:rPr>
              <a:t>Direct</a:t>
            </a:r>
          </a:p>
        </p:txBody>
      </p:sp>
      <p:sp>
        <p:nvSpPr>
          <p:cNvPr id="28" name="Rounded Rectangle 27"/>
          <p:cNvSpPr/>
          <p:nvPr/>
        </p:nvSpPr>
        <p:spPr>
          <a:xfrm>
            <a:off x="548640" y="3584448"/>
            <a:ext cx="8065008" cy="475488"/>
          </a:xfrm>
          <a:prstGeom prst="round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3675888"/>
            <a:ext cx="438912" cy="228600"/>
          </a:xfrm>
          <a:prstGeom prst="rect">
            <a:avLst/>
          </a:prstGeom>
          <a:noFill/>
        </p:spPr>
        <p:txBody>
          <a:bodyPr wrap="square" lIns="36576" tIns="36576" rIns="36576" bIns="36576" anchor="t">
            <a:spAutoFit/>
          </a:bodyPr>
          <a:lstStyle/>
          <a:p>
            <a:pPr algn="l"/>
            <a:r>
              <a:rPr sz="1300" b="1">
                <a:solidFill>
                  <a:srgbClr val="F6CD5F"/>
                </a:solidFill>
                <a:latin typeface="Calibri"/>
              </a:rPr>
              <a:t>CO5</a:t>
            </a:r>
          </a:p>
        </p:txBody>
      </p:sp>
      <p:sp>
        <p:nvSpPr>
          <p:cNvPr id="30" name="TextBox 29"/>
          <p:cNvSpPr txBox="1"/>
          <p:nvPr/>
        </p:nvSpPr>
        <p:spPr>
          <a:xfrm>
            <a:off x="1170432" y="3648456"/>
            <a:ext cx="2240280" cy="310896"/>
          </a:xfrm>
          <a:prstGeom prst="rect">
            <a:avLst/>
          </a:prstGeom>
          <a:noFill/>
        </p:spPr>
        <p:txBody>
          <a:bodyPr wrap="square" lIns="36576" tIns="36576" rIns="36576" bIns="36576" anchor="t">
            <a:spAutoFit/>
          </a:bodyPr>
          <a:lstStyle/>
          <a:p>
            <a:pPr algn="l"/>
            <a:r>
              <a:rPr sz="1120" b="1">
                <a:solidFill>
                  <a:srgbClr val="F8FAFC"/>
                </a:solidFill>
                <a:latin typeface="Calibri"/>
              </a:rPr>
              <a:t>Indexing + query execution</a:t>
            </a:r>
          </a:p>
        </p:txBody>
      </p:sp>
      <p:sp>
        <p:nvSpPr>
          <p:cNvPr id="31" name="TextBox 30"/>
          <p:cNvSpPr txBox="1"/>
          <p:nvPr/>
        </p:nvSpPr>
        <p:spPr>
          <a:xfrm>
            <a:off x="3456432" y="3630168"/>
            <a:ext cx="3913632" cy="356616"/>
          </a:xfrm>
          <a:prstGeom prst="rect">
            <a:avLst/>
          </a:prstGeom>
          <a:noFill/>
        </p:spPr>
        <p:txBody>
          <a:bodyPr wrap="square" lIns="36576" tIns="36576" rIns="36576" bIns="36576" anchor="t">
            <a:spAutoFit/>
          </a:bodyPr>
          <a:lstStyle/>
          <a:p>
            <a:pPr algn="l"/>
            <a:r>
              <a:rPr sz="950" b="0">
                <a:solidFill>
                  <a:srgbClr val="EBF1F7"/>
                </a:solidFill>
                <a:latin typeface="Calibri"/>
              </a:rPr>
              <a:t>idx_auction_amount (auction_id, amount); retrieval-oriented query patterns; no dedicated EXPLAIN workflow</a:t>
            </a:r>
          </a:p>
        </p:txBody>
      </p:sp>
      <p:sp>
        <p:nvSpPr>
          <p:cNvPr id="32" name="TextBox 31"/>
          <p:cNvSpPr txBox="1"/>
          <p:nvPr/>
        </p:nvSpPr>
        <p:spPr>
          <a:xfrm>
            <a:off x="7424927" y="3675888"/>
            <a:ext cx="960120" cy="228600"/>
          </a:xfrm>
          <a:prstGeom prst="rect">
            <a:avLst/>
          </a:prstGeom>
          <a:noFill/>
        </p:spPr>
        <p:txBody>
          <a:bodyPr wrap="square" lIns="36576" tIns="36576" rIns="36576" bIns="36576" anchor="t">
            <a:spAutoFit/>
          </a:bodyPr>
          <a:lstStyle/>
          <a:p>
            <a:pPr algn="r"/>
            <a:r>
              <a:rPr sz="860" b="1">
                <a:solidFill>
                  <a:srgbClr val="F6CD5F"/>
                </a:solidFill>
                <a:latin typeface="Calibri"/>
              </a:rPr>
              <a:t>Partial</a:t>
            </a:r>
          </a:p>
        </p:txBody>
      </p:sp>
      <p:sp>
        <p:nvSpPr>
          <p:cNvPr id="33" name="Rounded Rectangle 32"/>
          <p:cNvSpPr/>
          <p:nvPr/>
        </p:nvSpPr>
        <p:spPr>
          <a:xfrm>
            <a:off x="548640" y="4133088"/>
            <a:ext cx="8065008" cy="475488"/>
          </a:xfrm>
          <a:prstGeom prst="round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4224528"/>
            <a:ext cx="438912" cy="228600"/>
          </a:xfrm>
          <a:prstGeom prst="rect">
            <a:avLst/>
          </a:prstGeom>
          <a:noFill/>
        </p:spPr>
        <p:txBody>
          <a:bodyPr wrap="square" lIns="36576" tIns="36576" rIns="36576" bIns="36576" anchor="t">
            <a:spAutoFit/>
          </a:bodyPr>
          <a:lstStyle/>
          <a:p>
            <a:pPr algn="l"/>
            <a:r>
              <a:rPr sz="1300" b="1">
                <a:solidFill>
                  <a:srgbClr val="F6CD5F"/>
                </a:solidFill>
                <a:latin typeface="Calibri"/>
              </a:rPr>
              <a:t>CO6</a:t>
            </a:r>
          </a:p>
        </p:txBody>
      </p:sp>
      <p:sp>
        <p:nvSpPr>
          <p:cNvPr id="35" name="TextBox 34"/>
          <p:cNvSpPr txBox="1"/>
          <p:nvPr/>
        </p:nvSpPr>
        <p:spPr>
          <a:xfrm>
            <a:off x="1170432" y="4197096"/>
            <a:ext cx="2240280" cy="310896"/>
          </a:xfrm>
          <a:prstGeom prst="rect">
            <a:avLst/>
          </a:prstGeom>
          <a:noFill/>
        </p:spPr>
        <p:txBody>
          <a:bodyPr wrap="square" lIns="36576" tIns="36576" rIns="36576" bIns="36576" anchor="t">
            <a:spAutoFit/>
          </a:bodyPr>
          <a:lstStyle/>
          <a:p>
            <a:pPr algn="l"/>
            <a:r>
              <a:rPr sz="1120" b="1">
                <a:solidFill>
                  <a:srgbClr val="F8FAFC"/>
                </a:solidFill>
                <a:latin typeface="Calibri"/>
              </a:rPr>
              <a:t>Distributed database fundamentals</a:t>
            </a:r>
          </a:p>
        </p:txBody>
      </p:sp>
      <p:sp>
        <p:nvSpPr>
          <p:cNvPr id="36" name="TextBox 35"/>
          <p:cNvSpPr txBox="1"/>
          <p:nvPr/>
        </p:nvSpPr>
        <p:spPr>
          <a:xfrm>
            <a:off x="3456432" y="4178808"/>
            <a:ext cx="3913632" cy="356616"/>
          </a:xfrm>
          <a:prstGeom prst="rect">
            <a:avLst/>
          </a:prstGeom>
          <a:noFill/>
        </p:spPr>
        <p:txBody>
          <a:bodyPr wrap="square" lIns="36576" tIns="36576" rIns="36576" bIns="36576" anchor="t">
            <a:spAutoFit/>
          </a:bodyPr>
          <a:lstStyle/>
          <a:p>
            <a:pPr algn="l"/>
            <a:r>
              <a:rPr sz="950" b="0">
                <a:solidFill>
                  <a:srgbClr val="EBF1F7"/>
                </a:solidFill>
                <a:latin typeface="Calibri"/>
              </a:rPr>
              <a:t>Single MySQL deployment; replication, sharding and CAP are discussed as future scaling directions</a:t>
            </a:r>
          </a:p>
        </p:txBody>
      </p:sp>
      <p:sp>
        <p:nvSpPr>
          <p:cNvPr id="37" name="TextBox 36"/>
          <p:cNvSpPr txBox="1"/>
          <p:nvPr/>
        </p:nvSpPr>
        <p:spPr>
          <a:xfrm>
            <a:off x="7424927" y="4224528"/>
            <a:ext cx="960120" cy="228600"/>
          </a:xfrm>
          <a:prstGeom prst="rect">
            <a:avLst/>
          </a:prstGeom>
          <a:noFill/>
        </p:spPr>
        <p:txBody>
          <a:bodyPr wrap="square" lIns="36576" tIns="36576" rIns="36576" bIns="36576" anchor="t">
            <a:spAutoFit/>
          </a:bodyPr>
          <a:lstStyle/>
          <a:p>
            <a:pPr algn="r"/>
            <a:r>
              <a:rPr sz="860" b="1">
                <a:solidFill>
                  <a:srgbClr val="F6CD5F"/>
                </a:solidFill>
                <a:latin typeface="Calibri"/>
              </a:rPr>
              <a:t>Conceptual / future</a:t>
            </a:r>
          </a:p>
        </p:txBody>
      </p:sp>
      <p:sp>
        <p:nvSpPr>
          <p:cNvPr id="38" name="TextBox 37"/>
          <p:cNvSpPr txBox="1"/>
          <p:nvPr/>
        </p:nvSpPr>
        <p:spPr>
          <a:xfrm>
            <a:off x="658368" y="4590288"/>
            <a:ext cx="7909560" cy="246888"/>
          </a:xfrm>
          <a:prstGeom prst="rect">
            <a:avLst/>
          </a:prstGeom>
          <a:noFill/>
        </p:spPr>
        <p:txBody>
          <a:bodyPr wrap="square" lIns="36576" tIns="36576" rIns="36576" bIns="36576" anchor="t">
            <a:spAutoFit/>
          </a:bodyPr>
          <a:lstStyle/>
          <a:p>
            <a:pPr algn="l"/>
            <a:r>
              <a:rPr sz="880" b="0">
                <a:solidFill>
                  <a:srgbClr val="B8C6D6"/>
                </a:solidFill>
                <a:latin typeface="Calibri"/>
              </a:rPr>
              <a:t>CO1–CO6 in the handout cover backend layering, ER/normalization, SQL, transactions/concurrency, indexing/query execution and distributed databases.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2F52"/>
        </a:solidFill>
        <a:effectLst/>
      </p:bgPr>
    </p:bg>
    <p:spTree>
      <p:nvGrpSpPr>
        <p:cNvPr id="1" name=""/>
        <p:cNvGrpSpPr/>
        <p:nvPr/>
      </p:nvGrpSpPr>
      <p:grpSpPr>
        <a:xfrm>
          <a:off x="0" y="0"/>
          <a:ext cx="0" cy="0"/>
          <a:chOff x="0" y="0"/>
          <a:chExt cx="0" cy="0"/>
        </a:xfrm>
      </p:grpSpPr>
      <p:sp>
        <p:nvSpPr>
          <p:cNvPr id="2" name="TextBox 1"/>
          <p:cNvSpPr txBox="1"/>
          <p:nvPr/>
        </p:nvSpPr>
        <p:spPr>
          <a:xfrm>
            <a:off x="530352" y="347472"/>
            <a:ext cx="7726679" cy="438912"/>
          </a:xfrm>
          <a:prstGeom prst="rect">
            <a:avLst/>
          </a:prstGeom>
          <a:noFill/>
        </p:spPr>
        <p:txBody>
          <a:bodyPr wrap="square" lIns="36576" tIns="36576" rIns="36576" bIns="36576" anchor="t">
            <a:spAutoFit/>
          </a:bodyPr>
          <a:lstStyle/>
          <a:p>
            <a:pPr algn="l"/>
            <a:r>
              <a:rPr sz="2500" b="1">
                <a:solidFill>
                  <a:srgbClr val="F8FAFC"/>
                </a:solidFill>
                <a:latin typeface="Cambria"/>
              </a:rPr>
              <a:t>Course Mapping — Evidence &amp; PO/PSO</a:t>
            </a:r>
          </a:p>
        </p:txBody>
      </p:sp>
      <p:sp>
        <p:nvSpPr>
          <p:cNvPr id="3" name="TextBox 2"/>
          <p:cNvSpPr txBox="1"/>
          <p:nvPr/>
        </p:nvSpPr>
        <p:spPr>
          <a:xfrm>
            <a:off x="548640" y="832104"/>
            <a:ext cx="7772400" cy="329184"/>
          </a:xfrm>
          <a:prstGeom prst="rect">
            <a:avLst/>
          </a:prstGeom>
          <a:noFill/>
        </p:spPr>
        <p:txBody>
          <a:bodyPr wrap="square" lIns="36576" tIns="36576" rIns="36576" bIns="36576" anchor="t">
            <a:spAutoFit/>
          </a:bodyPr>
          <a:lstStyle/>
          <a:p>
            <a:pPr algn="l"/>
            <a:r>
              <a:rPr sz="1150" b="0">
                <a:solidFill>
                  <a:srgbClr val="B8C6D6"/>
                </a:solidFill>
                <a:latin typeface="Calibri"/>
              </a:rPr>
              <a:t>Implementation artefacts and the scope of evidence</a:t>
            </a:r>
          </a:p>
        </p:txBody>
      </p:sp>
      <p:sp>
        <p:nvSpPr>
          <p:cNvPr id="4" name="TextBox 3"/>
          <p:cNvSpPr txBox="1"/>
          <p:nvPr/>
        </p:nvSpPr>
        <p:spPr>
          <a:xfrm>
            <a:off x="8458200" y="384048"/>
            <a:ext cx="320040" cy="228600"/>
          </a:xfrm>
          <a:prstGeom prst="rect">
            <a:avLst/>
          </a:prstGeom>
          <a:noFill/>
        </p:spPr>
        <p:txBody>
          <a:bodyPr wrap="square" lIns="36576" tIns="36576" rIns="36576" bIns="36576" anchor="t">
            <a:spAutoFit/>
          </a:bodyPr>
          <a:lstStyle/>
          <a:p>
            <a:pPr algn="r"/>
            <a:r>
              <a:rPr sz="900" b="0">
                <a:solidFill>
                  <a:srgbClr val="B8C6D6"/>
                </a:solidFill>
                <a:latin typeface="Calibri"/>
              </a:rPr>
              <a:t>14</a:t>
            </a:r>
          </a:p>
        </p:txBody>
      </p:sp>
      <p:sp>
        <p:nvSpPr>
          <p:cNvPr id="5" name="Rectangle 4"/>
          <p:cNvSpPr/>
          <p:nvPr/>
        </p:nvSpPr>
        <p:spPr>
          <a:xfrm>
            <a:off x="548640" y="1207008"/>
            <a:ext cx="594360" cy="32004"/>
          </a:xfrm>
          <a:prstGeom prst="rect">
            <a:avLst/>
          </a:prstGeom>
          <a:solidFill>
            <a:srgbClr val="56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4818888"/>
            <a:ext cx="4754880" cy="164592"/>
          </a:xfrm>
          <a:prstGeom prst="rect">
            <a:avLst/>
          </a:prstGeom>
          <a:noFill/>
        </p:spPr>
        <p:txBody>
          <a:bodyPr wrap="square" lIns="36576" tIns="36576" rIns="36576" bIns="36576" anchor="t">
            <a:spAutoFit/>
          </a:bodyPr>
          <a:lstStyle/>
          <a:p>
            <a:pPr algn="l"/>
            <a:r>
              <a:rPr sz="750" b="0">
                <a:solidFill>
                  <a:srgbClr val="B8C6D6"/>
                </a:solidFill>
                <a:latin typeface="Calibri"/>
              </a:rPr>
              <a:t>Team 22  |  Final Review  |  DBDSE (25CS1302E)</a:t>
            </a:r>
          </a:p>
        </p:txBody>
      </p:sp>
      <p:sp>
        <p:nvSpPr>
          <p:cNvPr id="7" name="TextBox 6"/>
          <p:cNvSpPr txBox="1"/>
          <p:nvPr/>
        </p:nvSpPr>
        <p:spPr>
          <a:xfrm>
            <a:off x="7973568" y="4818888"/>
            <a:ext cx="621792" cy="164592"/>
          </a:xfrm>
          <a:prstGeom prst="rect">
            <a:avLst/>
          </a:prstGeom>
          <a:noFill/>
        </p:spPr>
        <p:txBody>
          <a:bodyPr wrap="square" lIns="36576" tIns="36576" rIns="36576" bIns="36576" anchor="t">
            <a:spAutoFit/>
          </a:bodyPr>
          <a:lstStyle/>
          <a:p>
            <a:pPr algn="r"/>
            <a:r>
              <a:rPr sz="750" b="0">
                <a:solidFill>
                  <a:srgbClr val="B8C6D6"/>
                </a:solidFill>
                <a:latin typeface="Calibri"/>
              </a:rPr>
              <a:t>2026–27</a:t>
            </a:r>
          </a:p>
        </p:txBody>
      </p:sp>
      <p:sp>
        <p:nvSpPr>
          <p:cNvPr id="8" name="Rectangle 7"/>
          <p:cNvSpPr/>
          <p:nvPr/>
        </p:nvSpPr>
        <p:spPr>
          <a:xfrm>
            <a:off x="566928" y="1353312"/>
            <a:ext cx="502920" cy="365760"/>
          </a:xfrm>
          <a:prstGeom prst="rect">
            <a:avLst/>
          </a:prstGeom>
          <a:solidFill>
            <a:srgbClr val="22486D"/>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 y="1426464"/>
            <a:ext cx="411480" cy="182880"/>
          </a:xfrm>
          <a:prstGeom prst="rect">
            <a:avLst/>
          </a:prstGeom>
          <a:noFill/>
        </p:spPr>
        <p:txBody>
          <a:bodyPr wrap="square" lIns="36576" tIns="36576" rIns="36576" bIns="36576" anchor="t">
            <a:spAutoFit/>
          </a:bodyPr>
          <a:lstStyle/>
          <a:p>
            <a:pPr algn="ctr"/>
            <a:r>
              <a:rPr sz="919" b="1">
                <a:solidFill>
                  <a:srgbClr val="F8FAFC"/>
                </a:solidFill>
                <a:latin typeface="Calibri"/>
              </a:rPr>
              <a:t>CO</a:t>
            </a:r>
          </a:p>
        </p:txBody>
      </p:sp>
      <p:sp>
        <p:nvSpPr>
          <p:cNvPr id="10" name="Rectangle 9"/>
          <p:cNvSpPr/>
          <p:nvPr/>
        </p:nvSpPr>
        <p:spPr>
          <a:xfrm>
            <a:off x="1115568" y="1353312"/>
            <a:ext cx="1874519" cy="365760"/>
          </a:xfrm>
          <a:prstGeom prst="rect">
            <a:avLst/>
          </a:prstGeom>
          <a:solidFill>
            <a:srgbClr val="22486D"/>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61288" y="1426464"/>
            <a:ext cx="1783079" cy="182880"/>
          </a:xfrm>
          <a:prstGeom prst="rect">
            <a:avLst/>
          </a:prstGeom>
          <a:noFill/>
        </p:spPr>
        <p:txBody>
          <a:bodyPr wrap="square" lIns="36576" tIns="36576" rIns="36576" bIns="36576" anchor="t">
            <a:spAutoFit/>
          </a:bodyPr>
          <a:lstStyle/>
          <a:p>
            <a:pPr algn="ctr"/>
            <a:r>
              <a:rPr sz="919" b="1">
                <a:solidFill>
                  <a:srgbClr val="F8FAFC"/>
                </a:solidFill>
                <a:latin typeface="Calibri"/>
              </a:rPr>
              <a:t>Project evidence</a:t>
            </a:r>
          </a:p>
        </p:txBody>
      </p:sp>
      <p:sp>
        <p:nvSpPr>
          <p:cNvPr id="12" name="Rectangle 11"/>
          <p:cNvSpPr/>
          <p:nvPr/>
        </p:nvSpPr>
        <p:spPr>
          <a:xfrm>
            <a:off x="3063240" y="1353312"/>
            <a:ext cx="2331720" cy="365760"/>
          </a:xfrm>
          <a:prstGeom prst="rect">
            <a:avLst/>
          </a:prstGeom>
          <a:solidFill>
            <a:srgbClr val="22486D"/>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08960" y="1426464"/>
            <a:ext cx="2240279" cy="182880"/>
          </a:xfrm>
          <a:prstGeom prst="rect">
            <a:avLst/>
          </a:prstGeom>
          <a:noFill/>
        </p:spPr>
        <p:txBody>
          <a:bodyPr wrap="square" lIns="36576" tIns="36576" rIns="36576" bIns="36576" anchor="t">
            <a:spAutoFit/>
          </a:bodyPr>
          <a:lstStyle/>
          <a:p>
            <a:pPr algn="ctr"/>
            <a:r>
              <a:rPr sz="919" b="1">
                <a:solidFill>
                  <a:srgbClr val="F8FAFC"/>
                </a:solidFill>
                <a:latin typeface="Calibri"/>
              </a:rPr>
              <a:t>Implementation / artefact</a:t>
            </a:r>
          </a:p>
        </p:txBody>
      </p:sp>
      <p:sp>
        <p:nvSpPr>
          <p:cNvPr id="14" name="Rectangle 13"/>
          <p:cNvSpPr/>
          <p:nvPr/>
        </p:nvSpPr>
        <p:spPr>
          <a:xfrm>
            <a:off x="5486400" y="1353312"/>
            <a:ext cx="1143000" cy="365760"/>
          </a:xfrm>
          <a:prstGeom prst="rect">
            <a:avLst/>
          </a:prstGeom>
          <a:solidFill>
            <a:srgbClr val="22486D"/>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32120" y="1426464"/>
            <a:ext cx="1051560" cy="182880"/>
          </a:xfrm>
          <a:prstGeom prst="rect">
            <a:avLst/>
          </a:prstGeom>
          <a:noFill/>
        </p:spPr>
        <p:txBody>
          <a:bodyPr wrap="square" lIns="36576" tIns="36576" rIns="36576" bIns="36576" anchor="t">
            <a:spAutoFit/>
          </a:bodyPr>
          <a:lstStyle/>
          <a:p>
            <a:pPr algn="ctr"/>
            <a:r>
              <a:rPr sz="919" b="1">
                <a:solidFill>
                  <a:srgbClr val="F8FAFC"/>
                </a:solidFill>
                <a:latin typeface="Calibri"/>
              </a:rPr>
              <a:t>PO / PSO</a:t>
            </a:r>
          </a:p>
        </p:txBody>
      </p:sp>
      <p:sp>
        <p:nvSpPr>
          <p:cNvPr id="16" name="Rectangle 15"/>
          <p:cNvSpPr/>
          <p:nvPr/>
        </p:nvSpPr>
        <p:spPr>
          <a:xfrm>
            <a:off x="6675120" y="1353312"/>
            <a:ext cx="1783080" cy="365760"/>
          </a:xfrm>
          <a:prstGeom prst="rect">
            <a:avLst/>
          </a:prstGeom>
          <a:solidFill>
            <a:srgbClr val="22486D"/>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20840" y="1426464"/>
            <a:ext cx="1691639" cy="182880"/>
          </a:xfrm>
          <a:prstGeom prst="rect">
            <a:avLst/>
          </a:prstGeom>
          <a:noFill/>
        </p:spPr>
        <p:txBody>
          <a:bodyPr wrap="square" lIns="36576" tIns="36576" rIns="36576" bIns="36576" anchor="t">
            <a:spAutoFit/>
          </a:bodyPr>
          <a:lstStyle/>
          <a:p>
            <a:pPr algn="ctr"/>
            <a:r>
              <a:rPr sz="919" b="1">
                <a:solidFill>
                  <a:srgbClr val="F8FAFC"/>
                </a:solidFill>
                <a:latin typeface="Calibri"/>
              </a:rPr>
              <a:t>Scope note</a:t>
            </a:r>
          </a:p>
        </p:txBody>
      </p:sp>
      <p:sp>
        <p:nvSpPr>
          <p:cNvPr id="18" name="Rectangle 17"/>
          <p:cNvSpPr/>
          <p:nvPr/>
        </p:nvSpPr>
        <p:spPr>
          <a:xfrm>
            <a:off x="566928" y="1773936"/>
            <a:ext cx="50292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 y="1828800"/>
            <a:ext cx="411480" cy="365760"/>
          </a:xfrm>
          <a:prstGeom prst="rect">
            <a:avLst/>
          </a:prstGeom>
          <a:noFill/>
        </p:spPr>
        <p:txBody>
          <a:bodyPr wrap="square" lIns="36576" tIns="36576" rIns="36576" bIns="36576" anchor="t">
            <a:spAutoFit/>
          </a:bodyPr>
          <a:lstStyle/>
          <a:p>
            <a:pPr algn="ctr"/>
            <a:r>
              <a:rPr sz="840" b="1">
                <a:solidFill>
                  <a:srgbClr val="F8FAFC"/>
                </a:solidFill>
                <a:latin typeface="Calibri"/>
              </a:rPr>
              <a:t>CO1</a:t>
            </a:r>
          </a:p>
        </p:txBody>
      </p:sp>
      <p:sp>
        <p:nvSpPr>
          <p:cNvPr id="20" name="Rectangle 19"/>
          <p:cNvSpPr/>
          <p:nvPr/>
        </p:nvSpPr>
        <p:spPr>
          <a:xfrm>
            <a:off x="1115568" y="1773936"/>
            <a:ext cx="1874519"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61288" y="1828800"/>
            <a:ext cx="1783079" cy="365760"/>
          </a:xfrm>
          <a:prstGeom prst="rect">
            <a:avLst/>
          </a:prstGeom>
          <a:noFill/>
        </p:spPr>
        <p:txBody>
          <a:bodyPr wrap="square" lIns="36576" tIns="36576" rIns="36576" bIns="36576" anchor="t">
            <a:spAutoFit/>
          </a:bodyPr>
          <a:lstStyle/>
          <a:p>
            <a:pPr algn="l"/>
            <a:r>
              <a:rPr sz="840" b="0">
                <a:solidFill>
                  <a:srgbClr val="F8FAFC"/>
                </a:solidFill>
                <a:latin typeface="Calibri"/>
              </a:rPr>
              <a:t>Layered backend</a:t>
            </a:r>
          </a:p>
        </p:txBody>
      </p:sp>
      <p:sp>
        <p:nvSpPr>
          <p:cNvPr id="22" name="Rectangle 21"/>
          <p:cNvSpPr/>
          <p:nvPr/>
        </p:nvSpPr>
        <p:spPr>
          <a:xfrm>
            <a:off x="3063240" y="1773936"/>
            <a:ext cx="233172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108960" y="1828800"/>
            <a:ext cx="2240279" cy="365760"/>
          </a:xfrm>
          <a:prstGeom prst="rect">
            <a:avLst/>
          </a:prstGeom>
          <a:noFill/>
        </p:spPr>
        <p:txBody>
          <a:bodyPr wrap="square" lIns="36576" tIns="36576" rIns="36576" bIns="36576" anchor="t">
            <a:spAutoFit/>
          </a:bodyPr>
          <a:lstStyle/>
          <a:p>
            <a:pPr algn="l"/>
            <a:r>
              <a:rPr sz="840" b="0">
                <a:solidFill>
                  <a:srgbClr val="F8FAFC"/>
                </a:solidFill>
                <a:latin typeface="Calibri"/>
              </a:rPr>
              <a:t>Routes, JWT/admin middleware, controllers, MySQL pool, REST flow</a:t>
            </a:r>
          </a:p>
        </p:txBody>
      </p:sp>
      <p:sp>
        <p:nvSpPr>
          <p:cNvPr id="24" name="Rectangle 23"/>
          <p:cNvSpPr/>
          <p:nvPr/>
        </p:nvSpPr>
        <p:spPr>
          <a:xfrm>
            <a:off x="5486400" y="1773936"/>
            <a:ext cx="114300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532120" y="1828800"/>
            <a:ext cx="1051560" cy="365760"/>
          </a:xfrm>
          <a:prstGeom prst="rect">
            <a:avLst/>
          </a:prstGeom>
          <a:noFill/>
        </p:spPr>
        <p:txBody>
          <a:bodyPr wrap="square" lIns="36576" tIns="36576" rIns="36576" bIns="36576" anchor="t">
            <a:spAutoFit/>
          </a:bodyPr>
          <a:lstStyle/>
          <a:p>
            <a:pPr algn="ctr"/>
            <a:r>
              <a:rPr sz="840" b="0">
                <a:solidFill>
                  <a:srgbClr val="F8FAFC"/>
                </a:solidFill>
                <a:latin typeface="Calibri"/>
              </a:rPr>
              <a:t>PO1, PO2, PO3</a:t>
            </a:r>
          </a:p>
        </p:txBody>
      </p:sp>
      <p:sp>
        <p:nvSpPr>
          <p:cNvPr id="26" name="Rectangle 25"/>
          <p:cNvSpPr/>
          <p:nvPr/>
        </p:nvSpPr>
        <p:spPr>
          <a:xfrm>
            <a:off x="6675120" y="1773936"/>
            <a:ext cx="178308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0840" y="1828800"/>
            <a:ext cx="1691639" cy="365760"/>
          </a:xfrm>
          <a:prstGeom prst="rect">
            <a:avLst/>
          </a:prstGeom>
          <a:noFill/>
        </p:spPr>
        <p:txBody>
          <a:bodyPr wrap="square" lIns="36576" tIns="36576" rIns="36576" bIns="36576" anchor="t">
            <a:spAutoFit/>
          </a:bodyPr>
          <a:lstStyle/>
          <a:p>
            <a:pPr algn="l"/>
            <a:r>
              <a:rPr sz="840" b="0">
                <a:solidFill>
                  <a:srgbClr val="F6CD5F"/>
                </a:solidFill>
                <a:latin typeface="Calibri"/>
              </a:rPr>
              <a:t>Implemented</a:t>
            </a:r>
          </a:p>
        </p:txBody>
      </p:sp>
      <p:sp>
        <p:nvSpPr>
          <p:cNvPr id="28" name="Rectangle 27"/>
          <p:cNvSpPr/>
          <p:nvPr/>
        </p:nvSpPr>
        <p:spPr>
          <a:xfrm>
            <a:off x="566928" y="2249424"/>
            <a:ext cx="50292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 y="2304288"/>
            <a:ext cx="411480" cy="365760"/>
          </a:xfrm>
          <a:prstGeom prst="rect">
            <a:avLst/>
          </a:prstGeom>
          <a:noFill/>
        </p:spPr>
        <p:txBody>
          <a:bodyPr wrap="square" lIns="36576" tIns="36576" rIns="36576" bIns="36576" anchor="t">
            <a:spAutoFit/>
          </a:bodyPr>
          <a:lstStyle/>
          <a:p>
            <a:pPr algn="ctr"/>
            <a:r>
              <a:rPr sz="840" b="1">
                <a:solidFill>
                  <a:srgbClr val="F8FAFC"/>
                </a:solidFill>
                <a:latin typeface="Calibri"/>
              </a:rPr>
              <a:t>CO2</a:t>
            </a:r>
          </a:p>
        </p:txBody>
      </p:sp>
      <p:sp>
        <p:nvSpPr>
          <p:cNvPr id="30" name="Rectangle 29"/>
          <p:cNvSpPr/>
          <p:nvPr/>
        </p:nvSpPr>
        <p:spPr>
          <a:xfrm>
            <a:off x="1115568" y="2249424"/>
            <a:ext cx="1874519"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61288" y="2304288"/>
            <a:ext cx="1783079" cy="365760"/>
          </a:xfrm>
          <a:prstGeom prst="rect">
            <a:avLst/>
          </a:prstGeom>
          <a:noFill/>
        </p:spPr>
        <p:txBody>
          <a:bodyPr wrap="square" lIns="36576" tIns="36576" rIns="36576" bIns="36576" anchor="t">
            <a:spAutoFit/>
          </a:bodyPr>
          <a:lstStyle/>
          <a:p>
            <a:pPr algn="l"/>
            <a:r>
              <a:rPr sz="840" b="0">
                <a:solidFill>
                  <a:srgbClr val="F8FAFC"/>
                </a:solidFill>
                <a:latin typeface="Calibri"/>
              </a:rPr>
              <a:t>Relational design</a:t>
            </a:r>
          </a:p>
        </p:txBody>
      </p:sp>
      <p:sp>
        <p:nvSpPr>
          <p:cNvPr id="32" name="Rectangle 31"/>
          <p:cNvSpPr/>
          <p:nvPr/>
        </p:nvSpPr>
        <p:spPr>
          <a:xfrm>
            <a:off x="3063240" y="2249424"/>
            <a:ext cx="233172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08960" y="2304288"/>
            <a:ext cx="2240279" cy="365760"/>
          </a:xfrm>
          <a:prstGeom prst="rect">
            <a:avLst/>
          </a:prstGeom>
          <a:noFill/>
        </p:spPr>
        <p:txBody>
          <a:bodyPr wrap="square" lIns="36576" tIns="36576" rIns="36576" bIns="36576" anchor="t">
            <a:spAutoFit/>
          </a:bodyPr>
          <a:lstStyle/>
          <a:p>
            <a:pPr algn="l"/>
            <a:r>
              <a:rPr sz="840" b="0">
                <a:solidFill>
                  <a:srgbClr val="F8FAFC"/>
                </a:solidFill>
                <a:latin typeface="Calibri"/>
              </a:rPr>
              <a:t>7 tables, PK/FK, composite PKs, constraints</a:t>
            </a:r>
          </a:p>
        </p:txBody>
      </p:sp>
      <p:sp>
        <p:nvSpPr>
          <p:cNvPr id="34" name="Rectangle 33"/>
          <p:cNvSpPr/>
          <p:nvPr/>
        </p:nvSpPr>
        <p:spPr>
          <a:xfrm>
            <a:off x="5486400" y="2249424"/>
            <a:ext cx="114300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32120" y="2304288"/>
            <a:ext cx="1051560" cy="365760"/>
          </a:xfrm>
          <a:prstGeom prst="rect">
            <a:avLst/>
          </a:prstGeom>
          <a:noFill/>
        </p:spPr>
        <p:txBody>
          <a:bodyPr wrap="square" lIns="36576" tIns="36576" rIns="36576" bIns="36576" anchor="t">
            <a:spAutoFit/>
          </a:bodyPr>
          <a:lstStyle/>
          <a:p>
            <a:pPr algn="ctr"/>
            <a:r>
              <a:rPr sz="840" b="0">
                <a:solidFill>
                  <a:srgbClr val="F8FAFC"/>
                </a:solidFill>
                <a:latin typeface="Calibri"/>
              </a:rPr>
              <a:t>PO1, PO3, PSO1</a:t>
            </a:r>
          </a:p>
        </p:txBody>
      </p:sp>
      <p:sp>
        <p:nvSpPr>
          <p:cNvPr id="36" name="Rectangle 35"/>
          <p:cNvSpPr/>
          <p:nvPr/>
        </p:nvSpPr>
        <p:spPr>
          <a:xfrm>
            <a:off x="6675120" y="2249424"/>
            <a:ext cx="178308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20840" y="2304288"/>
            <a:ext cx="1691639" cy="365760"/>
          </a:xfrm>
          <a:prstGeom prst="rect">
            <a:avLst/>
          </a:prstGeom>
          <a:noFill/>
        </p:spPr>
        <p:txBody>
          <a:bodyPr wrap="square" lIns="36576" tIns="36576" rIns="36576" bIns="36576" anchor="t">
            <a:spAutoFit/>
          </a:bodyPr>
          <a:lstStyle/>
          <a:p>
            <a:pPr algn="l"/>
            <a:r>
              <a:rPr sz="840" b="0">
                <a:solidFill>
                  <a:srgbClr val="F6CD5F"/>
                </a:solidFill>
                <a:latin typeface="Calibri"/>
              </a:rPr>
              <a:t>Implemented</a:t>
            </a:r>
          </a:p>
        </p:txBody>
      </p:sp>
      <p:sp>
        <p:nvSpPr>
          <p:cNvPr id="38" name="Rectangle 37"/>
          <p:cNvSpPr/>
          <p:nvPr/>
        </p:nvSpPr>
        <p:spPr>
          <a:xfrm>
            <a:off x="566928" y="2724912"/>
            <a:ext cx="50292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2648" y="2779776"/>
            <a:ext cx="411480" cy="365760"/>
          </a:xfrm>
          <a:prstGeom prst="rect">
            <a:avLst/>
          </a:prstGeom>
          <a:noFill/>
        </p:spPr>
        <p:txBody>
          <a:bodyPr wrap="square" lIns="36576" tIns="36576" rIns="36576" bIns="36576" anchor="t">
            <a:spAutoFit/>
          </a:bodyPr>
          <a:lstStyle/>
          <a:p>
            <a:pPr algn="ctr"/>
            <a:r>
              <a:rPr sz="840" b="1">
                <a:solidFill>
                  <a:srgbClr val="F8FAFC"/>
                </a:solidFill>
                <a:latin typeface="Calibri"/>
              </a:rPr>
              <a:t>CO3</a:t>
            </a:r>
          </a:p>
        </p:txBody>
      </p:sp>
      <p:sp>
        <p:nvSpPr>
          <p:cNvPr id="40" name="Rectangle 39"/>
          <p:cNvSpPr/>
          <p:nvPr/>
        </p:nvSpPr>
        <p:spPr>
          <a:xfrm>
            <a:off x="1115568" y="2724912"/>
            <a:ext cx="1874519"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61288" y="2779776"/>
            <a:ext cx="1783079" cy="365760"/>
          </a:xfrm>
          <a:prstGeom prst="rect">
            <a:avLst/>
          </a:prstGeom>
          <a:noFill/>
        </p:spPr>
        <p:txBody>
          <a:bodyPr wrap="square" lIns="36576" tIns="36576" rIns="36576" bIns="36576" anchor="t">
            <a:spAutoFit/>
          </a:bodyPr>
          <a:lstStyle/>
          <a:p>
            <a:pPr algn="l"/>
            <a:r>
              <a:rPr sz="840" b="0">
                <a:solidFill>
                  <a:srgbClr val="F8FAFC"/>
                </a:solidFill>
                <a:latin typeface="Calibri"/>
              </a:rPr>
              <a:t>SQL</a:t>
            </a:r>
          </a:p>
        </p:txBody>
      </p:sp>
      <p:sp>
        <p:nvSpPr>
          <p:cNvPr id="42" name="Rectangle 41"/>
          <p:cNvSpPr/>
          <p:nvPr/>
        </p:nvSpPr>
        <p:spPr>
          <a:xfrm>
            <a:off x="3063240" y="2724912"/>
            <a:ext cx="233172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108960" y="2779776"/>
            <a:ext cx="2240279" cy="365760"/>
          </a:xfrm>
          <a:prstGeom prst="rect">
            <a:avLst/>
          </a:prstGeom>
          <a:noFill/>
        </p:spPr>
        <p:txBody>
          <a:bodyPr wrap="square" lIns="36576" tIns="36576" rIns="36576" bIns="36576" anchor="t">
            <a:spAutoFit/>
          </a:bodyPr>
          <a:lstStyle/>
          <a:p>
            <a:pPr algn="l"/>
            <a:r>
              <a:rPr sz="840" b="0">
                <a:solidFill>
                  <a:srgbClr val="F8FAFC"/>
                </a:solidFill>
                <a:latin typeface="Calibri"/>
              </a:rPr>
              <a:t>schema.sql + controller queries; joins/grouping/filtering</a:t>
            </a:r>
          </a:p>
        </p:txBody>
      </p:sp>
      <p:sp>
        <p:nvSpPr>
          <p:cNvPr id="44" name="Rectangle 43"/>
          <p:cNvSpPr/>
          <p:nvPr/>
        </p:nvSpPr>
        <p:spPr>
          <a:xfrm>
            <a:off x="5486400" y="2724912"/>
            <a:ext cx="114300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532120" y="2779776"/>
            <a:ext cx="1051560" cy="365760"/>
          </a:xfrm>
          <a:prstGeom prst="rect">
            <a:avLst/>
          </a:prstGeom>
          <a:noFill/>
        </p:spPr>
        <p:txBody>
          <a:bodyPr wrap="square" lIns="36576" tIns="36576" rIns="36576" bIns="36576" anchor="t">
            <a:spAutoFit/>
          </a:bodyPr>
          <a:lstStyle/>
          <a:p>
            <a:pPr algn="ctr"/>
            <a:r>
              <a:rPr sz="840" b="0">
                <a:solidFill>
                  <a:srgbClr val="F8FAFC"/>
                </a:solidFill>
                <a:latin typeface="Calibri"/>
              </a:rPr>
              <a:t>PO1, PO3, PSO1</a:t>
            </a:r>
          </a:p>
        </p:txBody>
      </p:sp>
      <p:sp>
        <p:nvSpPr>
          <p:cNvPr id="46" name="Rectangle 45"/>
          <p:cNvSpPr/>
          <p:nvPr/>
        </p:nvSpPr>
        <p:spPr>
          <a:xfrm>
            <a:off x="6675120" y="2724912"/>
            <a:ext cx="178308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20840" y="2779776"/>
            <a:ext cx="1691639" cy="365760"/>
          </a:xfrm>
          <a:prstGeom prst="rect">
            <a:avLst/>
          </a:prstGeom>
          <a:noFill/>
        </p:spPr>
        <p:txBody>
          <a:bodyPr wrap="square" lIns="36576" tIns="36576" rIns="36576" bIns="36576" anchor="t">
            <a:spAutoFit/>
          </a:bodyPr>
          <a:lstStyle/>
          <a:p>
            <a:pPr algn="l"/>
            <a:r>
              <a:rPr sz="840" b="0">
                <a:solidFill>
                  <a:srgbClr val="F6CD5F"/>
                </a:solidFill>
                <a:latin typeface="Calibri"/>
              </a:rPr>
              <a:t>Advanced CTE/window use not primary</a:t>
            </a:r>
          </a:p>
        </p:txBody>
      </p:sp>
      <p:sp>
        <p:nvSpPr>
          <p:cNvPr id="48" name="Rectangle 47"/>
          <p:cNvSpPr/>
          <p:nvPr/>
        </p:nvSpPr>
        <p:spPr>
          <a:xfrm>
            <a:off x="566928" y="3200400"/>
            <a:ext cx="50292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2648" y="3255264"/>
            <a:ext cx="411480" cy="365760"/>
          </a:xfrm>
          <a:prstGeom prst="rect">
            <a:avLst/>
          </a:prstGeom>
          <a:noFill/>
        </p:spPr>
        <p:txBody>
          <a:bodyPr wrap="square" lIns="36576" tIns="36576" rIns="36576" bIns="36576" anchor="t">
            <a:spAutoFit/>
          </a:bodyPr>
          <a:lstStyle/>
          <a:p>
            <a:pPr algn="ctr"/>
            <a:r>
              <a:rPr sz="840" b="1">
                <a:solidFill>
                  <a:srgbClr val="F8FAFC"/>
                </a:solidFill>
                <a:latin typeface="Calibri"/>
              </a:rPr>
              <a:t>CO4</a:t>
            </a:r>
          </a:p>
        </p:txBody>
      </p:sp>
      <p:sp>
        <p:nvSpPr>
          <p:cNvPr id="50" name="Rectangle 49"/>
          <p:cNvSpPr/>
          <p:nvPr/>
        </p:nvSpPr>
        <p:spPr>
          <a:xfrm>
            <a:off x="1115568" y="3200400"/>
            <a:ext cx="1874519"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161288" y="3255264"/>
            <a:ext cx="1783079" cy="365760"/>
          </a:xfrm>
          <a:prstGeom prst="rect">
            <a:avLst/>
          </a:prstGeom>
          <a:noFill/>
        </p:spPr>
        <p:txBody>
          <a:bodyPr wrap="square" lIns="36576" tIns="36576" rIns="36576" bIns="36576" anchor="t">
            <a:spAutoFit/>
          </a:bodyPr>
          <a:lstStyle/>
          <a:p>
            <a:pPr algn="l"/>
            <a:r>
              <a:rPr sz="840" b="0">
                <a:solidFill>
                  <a:srgbClr val="F8FAFC"/>
                </a:solidFill>
                <a:latin typeface="Calibri"/>
              </a:rPr>
              <a:t>Transactions &amp; locking</a:t>
            </a:r>
          </a:p>
        </p:txBody>
      </p:sp>
      <p:sp>
        <p:nvSpPr>
          <p:cNvPr id="52" name="Rectangle 51"/>
          <p:cNvSpPr/>
          <p:nvPr/>
        </p:nvSpPr>
        <p:spPr>
          <a:xfrm>
            <a:off x="3063240" y="3200400"/>
            <a:ext cx="233172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108960" y="3255264"/>
            <a:ext cx="2240279" cy="365760"/>
          </a:xfrm>
          <a:prstGeom prst="rect">
            <a:avLst/>
          </a:prstGeom>
          <a:noFill/>
        </p:spPr>
        <p:txBody>
          <a:bodyPr wrap="square" lIns="36576" tIns="36576" rIns="36576" bIns="36576" anchor="t">
            <a:spAutoFit/>
          </a:bodyPr>
          <a:lstStyle/>
          <a:p>
            <a:pPr algn="l"/>
            <a:r>
              <a:rPr sz="840" b="0">
                <a:solidFill>
                  <a:srgbClr val="F8FAFC"/>
                </a:solidFill>
                <a:latin typeface="Calibri"/>
              </a:rPr>
              <a:t>SELECT FOR UPDATE; atomic update+insert; retry; tests</a:t>
            </a:r>
          </a:p>
        </p:txBody>
      </p:sp>
      <p:sp>
        <p:nvSpPr>
          <p:cNvPr id="54" name="Rectangle 53"/>
          <p:cNvSpPr/>
          <p:nvPr/>
        </p:nvSpPr>
        <p:spPr>
          <a:xfrm>
            <a:off x="5486400" y="3200400"/>
            <a:ext cx="114300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532120" y="3255264"/>
            <a:ext cx="1051560" cy="365760"/>
          </a:xfrm>
          <a:prstGeom prst="rect">
            <a:avLst/>
          </a:prstGeom>
          <a:noFill/>
        </p:spPr>
        <p:txBody>
          <a:bodyPr wrap="square" lIns="36576" tIns="36576" rIns="36576" bIns="36576" anchor="t">
            <a:spAutoFit/>
          </a:bodyPr>
          <a:lstStyle/>
          <a:p>
            <a:pPr algn="ctr"/>
            <a:r>
              <a:rPr sz="840" b="0">
                <a:solidFill>
                  <a:srgbClr val="F8FAFC"/>
                </a:solidFill>
                <a:latin typeface="Calibri"/>
              </a:rPr>
              <a:t>PO1, PO2</a:t>
            </a:r>
          </a:p>
        </p:txBody>
      </p:sp>
      <p:sp>
        <p:nvSpPr>
          <p:cNvPr id="56" name="Rectangle 55"/>
          <p:cNvSpPr/>
          <p:nvPr/>
        </p:nvSpPr>
        <p:spPr>
          <a:xfrm>
            <a:off x="6675120" y="3200400"/>
            <a:ext cx="178308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720840" y="3255264"/>
            <a:ext cx="1691639" cy="365760"/>
          </a:xfrm>
          <a:prstGeom prst="rect">
            <a:avLst/>
          </a:prstGeom>
          <a:noFill/>
        </p:spPr>
        <p:txBody>
          <a:bodyPr wrap="square" lIns="36576" tIns="36576" rIns="36576" bIns="36576" anchor="t">
            <a:spAutoFit/>
          </a:bodyPr>
          <a:lstStyle/>
          <a:p>
            <a:pPr algn="l"/>
            <a:r>
              <a:rPr sz="840" b="0">
                <a:solidFill>
                  <a:srgbClr val="F6CD5F"/>
                </a:solidFill>
                <a:latin typeface="Calibri"/>
              </a:rPr>
              <a:t>Core contribution</a:t>
            </a:r>
          </a:p>
        </p:txBody>
      </p:sp>
      <p:sp>
        <p:nvSpPr>
          <p:cNvPr id="58" name="Rectangle 57"/>
          <p:cNvSpPr/>
          <p:nvPr/>
        </p:nvSpPr>
        <p:spPr>
          <a:xfrm>
            <a:off x="566928" y="3675887"/>
            <a:ext cx="50292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12648" y="3730751"/>
            <a:ext cx="411480" cy="365760"/>
          </a:xfrm>
          <a:prstGeom prst="rect">
            <a:avLst/>
          </a:prstGeom>
          <a:noFill/>
        </p:spPr>
        <p:txBody>
          <a:bodyPr wrap="square" lIns="36576" tIns="36576" rIns="36576" bIns="36576" anchor="t">
            <a:spAutoFit/>
          </a:bodyPr>
          <a:lstStyle/>
          <a:p>
            <a:pPr algn="ctr"/>
            <a:r>
              <a:rPr sz="840" b="1">
                <a:solidFill>
                  <a:srgbClr val="F8FAFC"/>
                </a:solidFill>
                <a:latin typeface="Calibri"/>
              </a:rPr>
              <a:t>CO5</a:t>
            </a:r>
          </a:p>
        </p:txBody>
      </p:sp>
      <p:sp>
        <p:nvSpPr>
          <p:cNvPr id="60" name="Rectangle 59"/>
          <p:cNvSpPr/>
          <p:nvPr/>
        </p:nvSpPr>
        <p:spPr>
          <a:xfrm>
            <a:off x="1115568" y="3675887"/>
            <a:ext cx="1874519"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61288" y="3730751"/>
            <a:ext cx="1783079" cy="365760"/>
          </a:xfrm>
          <a:prstGeom prst="rect">
            <a:avLst/>
          </a:prstGeom>
          <a:noFill/>
        </p:spPr>
        <p:txBody>
          <a:bodyPr wrap="square" lIns="36576" tIns="36576" rIns="36576" bIns="36576" anchor="t">
            <a:spAutoFit/>
          </a:bodyPr>
          <a:lstStyle/>
          <a:p>
            <a:pPr algn="l"/>
            <a:r>
              <a:rPr sz="840" b="0">
                <a:solidFill>
                  <a:srgbClr val="F8FAFC"/>
                </a:solidFill>
                <a:latin typeface="Calibri"/>
              </a:rPr>
              <a:t>Indexing</a:t>
            </a:r>
          </a:p>
        </p:txBody>
      </p:sp>
      <p:sp>
        <p:nvSpPr>
          <p:cNvPr id="62" name="Rectangle 61"/>
          <p:cNvSpPr/>
          <p:nvPr/>
        </p:nvSpPr>
        <p:spPr>
          <a:xfrm>
            <a:off x="3063240" y="3675887"/>
            <a:ext cx="233172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108960" y="3730751"/>
            <a:ext cx="2240279" cy="365760"/>
          </a:xfrm>
          <a:prstGeom prst="rect">
            <a:avLst/>
          </a:prstGeom>
          <a:noFill/>
        </p:spPr>
        <p:txBody>
          <a:bodyPr wrap="square" lIns="36576" tIns="36576" rIns="36576" bIns="36576" anchor="t">
            <a:spAutoFit/>
          </a:bodyPr>
          <a:lstStyle/>
          <a:p>
            <a:pPr algn="l"/>
            <a:r>
              <a:rPr sz="840" b="0">
                <a:solidFill>
                  <a:srgbClr val="F8FAFC"/>
                </a:solidFill>
                <a:latin typeface="Calibri"/>
              </a:rPr>
              <a:t>idx_auction_amount on bids; retrieval-oriented queries</a:t>
            </a:r>
          </a:p>
        </p:txBody>
      </p:sp>
      <p:sp>
        <p:nvSpPr>
          <p:cNvPr id="64" name="Rectangle 63"/>
          <p:cNvSpPr/>
          <p:nvPr/>
        </p:nvSpPr>
        <p:spPr>
          <a:xfrm>
            <a:off x="5486400" y="3675887"/>
            <a:ext cx="114300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532120" y="3730751"/>
            <a:ext cx="1051560" cy="365760"/>
          </a:xfrm>
          <a:prstGeom prst="rect">
            <a:avLst/>
          </a:prstGeom>
          <a:noFill/>
        </p:spPr>
        <p:txBody>
          <a:bodyPr wrap="square" lIns="36576" tIns="36576" rIns="36576" bIns="36576" anchor="t">
            <a:spAutoFit/>
          </a:bodyPr>
          <a:lstStyle/>
          <a:p>
            <a:pPr algn="ctr"/>
            <a:r>
              <a:rPr sz="840" b="0">
                <a:solidFill>
                  <a:srgbClr val="F8FAFC"/>
                </a:solidFill>
                <a:latin typeface="Calibri"/>
              </a:rPr>
              <a:t>PO1, PO2</a:t>
            </a:r>
          </a:p>
        </p:txBody>
      </p:sp>
      <p:sp>
        <p:nvSpPr>
          <p:cNvPr id="66" name="Rectangle 65"/>
          <p:cNvSpPr/>
          <p:nvPr/>
        </p:nvSpPr>
        <p:spPr>
          <a:xfrm>
            <a:off x="6675120" y="3675887"/>
            <a:ext cx="1783080" cy="475488"/>
          </a:xfrm>
          <a:prstGeom prst="rect">
            <a:avLst/>
          </a:prstGeom>
          <a:solidFill>
            <a:srgbClr val="1B3A5B"/>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720840" y="3730751"/>
            <a:ext cx="1691639" cy="365760"/>
          </a:xfrm>
          <a:prstGeom prst="rect">
            <a:avLst/>
          </a:prstGeom>
          <a:noFill/>
        </p:spPr>
        <p:txBody>
          <a:bodyPr wrap="square" lIns="36576" tIns="36576" rIns="36576" bIns="36576" anchor="t">
            <a:spAutoFit/>
          </a:bodyPr>
          <a:lstStyle/>
          <a:p>
            <a:pPr algn="l"/>
            <a:r>
              <a:rPr sz="840" b="0">
                <a:solidFill>
                  <a:srgbClr val="F6CD5F"/>
                </a:solidFill>
                <a:latin typeface="Calibri"/>
              </a:rPr>
              <a:t>EXPLAIN not demonstrated</a:t>
            </a:r>
          </a:p>
        </p:txBody>
      </p:sp>
      <p:sp>
        <p:nvSpPr>
          <p:cNvPr id="68" name="Rectangle 67"/>
          <p:cNvSpPr/>
          <p:nvPr/>
        </p:nvSpPr>
        <p:spPr>
          <a:xfrm>
            <a:off x="566928" y="4151375"/>
            <a:ext cx="50292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12648" y="4206239"/>
            <a:ext cx="411480" cy="365760"/>
          </a:xfrm>
          <a:prstGeom prst="rect">
            <a:avLst/>
          </a:prstGeom>
          <a:noFill/>
        </p:spPr>
        <p:txBody>
          <a:bodyPr wrap="square" lIns="36576" tIns="36576" rIns="36576" bIns="36576" anchor="t">
            <a:spAutoFit/>
          </a:bodyPr>
          <a:lstStyle/>
          <a:p>
            <a:pPr algn="ctr"/>
            <a:r>
              <a:rPr sz="840" b="1">
                <a:solidFill>
                  <a:srgbClr val="F8FAFC"/>
                </a:solidFill>
                <a:latin typeface="Calibri"/>
              </a:rPr>
              <a:t>CO6</a:t>
            </a:r>
          </a:p>
        </p:txBody>
      </p:sp>
      <p:sp>
        <p:nvSpPr>
          <p:cNvPr id="70" name="Rectangle 69"/>
          <p:cNvSpPr/>
          <p:nvPr/>
        </p:nvSpPr>
        <p:spPr>
          <a:xfrm>
            <a:off x="1115568" y="4151375"/>
            <a:ext cx="1874519"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161288" y="4206239"/>
            <a:ext cx="1783079" cy="365760"/>
          </a:xfrm>
          <a:prstGeom prst="rect">
            <a:avLst/>
          </a:prstGeom>
          <a:noFill/>
        </p:spPr>
        <p:txBody>
          <a:bodyPr wrap="square" lIns="36576" tIns="36576" rIns="36576" bIns="36576" anchor="t">
            <a:spAutoFit/>
          </a:bodyPr>
          <a:lstStyle/>
          <a:p>
            <a:pPr algn="l"/>
            <a:r>
              <a:rPr sz="840" b="0">
                <a:solidFill>
                  <a:srgbClr val="F8FAFC"/>
                </a:solidFill>
                <a:latin typeface="Calibri"/>
              </a:rPr>
              <a:t>Distributed DB</a:t>
            </a:r>
          </a:p>
        </p:txBody>
      </p:sp>
      <p:sp>
        <p:nvSpPr>
          <p:cNvPr id="72" name="Rectangle 71"/>
          <p:cNvSpPr/>
          <p:nvPr/>
        </p:nvSpPr>
        <p:spPr>
          <a:xfrm>
            <a:off x="3063240" y="4151375"/>
            <a:ext cx="233172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108960" y="4206239"/>
            <a:ext cx="2240279" cy="365760"/>
          </a:xfrm>
          <a:prstGeom prst="rect">
            <a:avLst/>
          </a:prstGeom>
          <a:noFill/>
        </p:spPr>
        <p:txBody>
          <a:bodyPr wrap="square" lIns="36576" tIns="36576" rIns="36576" bIns="36576" anchor="t">
            <a:spAutoFit/>
          </a:bodyPr>
          <a:lstStyle/>
          <a:p>
            <a:pPr algn="l"/>
            <a:r>
              <a:rPr sz="840" b="0">
                <a:solidFill>
                  <a:srgbClr val="F8FAFC"/>
                </a:solidFill>
                <a:latin typeface="Calibri"/>
              </a:rPr>
              <a:t>Single-instance deployment; scaling discussed</a:t>
            </a:r>
          </a:p>
        </p:txBody>
      </p:sp>
      <p:sp>
        <p:nvSpPr>
          <p:cNvPr id="74" name="Rectangle 73"/>
          <p:cNvSpPr/>
          <p:nvPr/>
        </p:nvSpPr>
        <p:spPr>
          <a:xfrm>
            <a:off x="5486400" y="4151375"/>
            <a:ext cx="114300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532120" y="4206239"/>
            <a:ext cx="1051560" cy="365760"/>
          </a:xfrm>
          <a:prstGeom prst="rect">
            <a:avLst/>
          </a:prstGeom>
          <a:noFill/>
        </p:spPr>
        <p:txBody>
          <a:bodyPr wrap="square" lIns="36576" tIns="36576" rIns="36576" bIns="36576" anchor="t">
            <a:spAutoFit/>
          </a:bodyPr>
          <a:lstStyle/>
          <a:p>
            <a:pPr algn="ctr"/>
            <a:r>
              <a:rPr sz="840" b="0">
                <a:solidFill>
                  <a:srgbClr val="F8FAFC"/>
                </a:solidFill>
                <a:latin typeface="Calibri"/>
              </a:rPr>
              <a:t>PO1, PO3, PO4</a:t>
            </a:r>
          </a:p>
        </p:txBody>
      </p:sp>
      <p:sp>
        <p:nvSpPr>
          <p:cNvPr id="76" name="Rectangle 75"/>
          <p:cNvSpPr/>
          <p:nvPr/>
        </p:nvSpPr>
        <p:spPr>
          <a:xfrm>
            <a:off x="6675120" y="4151375"/>
            <a:ext cx="1783080" cy="475488"/>
          </a:xfrm>
          <a:prstGeom prst="rect">
            <a:avLst/>
          </a:prstGeom>
          <a:solidFill>
            <a:srgbClr val="163452"/>
          </a:solidFill>
          <a:ln>
            <a:solidFill>
              <a:srgbClr val="415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720840" y="4206239"/>
            <a:ext cx="1691639" cy="365760"/>
          </a:xfrm>
          <a:prstGeom prst="rect">
            <a:avLst/>
          </a:prstGeom>
          <a:noFill/>
        </p:spPr>
        <p:txBody>
          <a:bodyPr wrap="square" lIns="36576" tIns="36576" rIns="36576" bIns="36576" anchor="t">
            <a:spAutoFit/>
          </a:bodyPr>
          <a:lstStyle/>
          <a:p>
            <a:pPr algn="l"/>
            <a:r>
              <a:rPr sz="840" b="0">
                <a:solidFill>
                  <a:srgbClr val="F6CD5F"/>
                </a:solidFill>
                <a:latin typeface="Calibri"/>
              </a:rPr>
              <a:t>Future / conceptual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7406640" cy="502920"/>
          </a:xfrm>
          <a:prstGeom prst="rect">
            <a:avLst/>
          </a:prstGeom>
          <a:noFill/>
          <a:ln/>
        </p:spPr>
        <p:txBody>
          <a:bodyPr wrap="square" lIns="0" tIns="0" rIns="0" bIns="0" rtlCol="0" anchor="ctr"/>
          <a:lstStyle/>
          <a:p>
            <a:pPr marL="0" indent="0">
              <a:buNone/>
            </a:pPr>
            <a:r>
              <a:rPr lang="en-US" sz="2600" b="1" dirty="0">
                <a:solidFill>
                  <a:srgbClr val="0F2A4A"/>
                </a:solidFill>
                <a:latin typeface="Cambria" pitchFamily="34" charset="0"/>
                <a:ea typeface="Cambria" pitchFamily="34" charset="-122"/>
                <a:cs typeface="Cambria" pitchFamily="34" charset="-120"/>
              </a:rPr>
              <a:t>Conclusion and Future Scope</a:t>
            </a:r>
            <a:endParaRPr lang="en-US" sz="2600" dirty="0"/>
          </a:p>
        </p:txBody>
      </p:sp>
      <p:pic>
        <p:nvPicPr>
          <p:cNvPr id="3" name="Image 0" descr="/home/claude/deck/logo.png"/>
          <p:cNvPicPr>
            <a:picLocks noChangeAspect="1"/>
          </p:cNvPicPr>
          <p:nvPr/>
        </p:nvPicPr>
        <p:blipFill>
          <a:blip r:embed="rId3"/>
          <a:stretch>
            <a:fillRect/>
          </a:stretch>
        </p:blipFill>
        <p:spPr>
          <a:xfrm>
            <a:off x="7955280" y="201168"/>
            <a:ext cx="822960" cy="390599"/>
          </a:xfrm>
          <a:prstGeom prst="rect">
            <a:avLst/>
          </a:prstGeom>
        </p:spPr>
      </p:pic>
      <p:sp>
        <p:nvSpPr>
          <p:cNvPr id="4" name="Text 1"/>
          <p:cNvSpPr/>
          <p:nvPr/>
        </p:nvSpPr>
        <p:spPr>
          <a:xfrm>
            <a:off x="457200" y="4828032"/>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22  |  Final Review  |  DBDSE (25CS1302E)</a:t>
            </a:r>
            <a:endParaRPr lang="en-US" sz="900" dirty="0"/>
          </a:p>
        </p:txBody>
      </p:sp>
      <p:sp>
        <p:nvSpPr>
          <p:cNvPr id="5" name="Text 2"/>
          <p:cNvSpPr/>
          <p:nvPr/>
        </p:nvSpPr>
        <p:spPr>
          <a:xfrm>
            <a:off x="8229600" y="4828032"/>
            <a:ext cx="457200" cy="228600"/>
          </a:xfrm>
          <a:prstGeom prst="rect">
            <a:avLst/>
          </a:prstGeom>
          <a:noFill/>
          <a:ln/>
        </p:spPr>
        <p:txBody>
          <a:bodyPr wrap="square" lIns="0" tIns="0" rIns="0" bIns="0" rtlCol="0" anchor="ctr"/>
          <a:lstStyle/>
          <a:p>
            <a:r>
              <a:t>15</a:t>
            </a:r>
          </a:p>
        </p:txBody>
      </p:sp>
      <p:sp>
        <p:nvSpPr>
          <p:cNvPr id="7" name="Shape 3"/>
          <p:cNvSpPr/>
          <p:nvPr/>
        </p:nvSpPr>
        <p:spPr>
          <a:xfrm>
            <a:off x="457200" y="1097280"/>
            <a:ext cx="4023360" cy="3611880"/>
          </a:xfrm>
          <a:prstGeom prst="roundRect">
            <a:avLst>
              <a:gd name="adj" fmla="val 2025"/>
            </a:avLst>
          </a:prstGeom>
          <a:solidFill>
            <a:srgbClr val="F1F5F9"/>
          </a:solidFill>
          <a:ln w="12700">
            <a:solidFill>
              <a:srgbClr val="F1F5F9"/>
            </a:solidFill>
            <a:prstDash val="solid"/>
          </a:ln>
        </p:spPr>
      </p:sp>
      <p:sp>
        <p:nvSpPr>
          <p:cNvPr id="8" name="Shape 4"/>
          <p:cNvSpPr/>
          <p:nvPr/>
        </p:nvSpPr>
        <p:spPr>
          <a:xfrm>
            <a:off x="4663440" y="1097280"/>
            <a:ext cx="4023360" cy="3611880"/>
          </a:xfrm>
          <a:prstGeom prst="roundRect">
            <a:avLst>
              <a:gd name="adj" fmla="val 2025"/>
            </a:avLst>
          </a:prstGeom>
          <a:solidFill>
            <a:srgbClr val="E0F2FE"/>
          </a:solidFill>
          <a:ln w="12700">
            <a:solidFill>
              <a:srgbClr val="E0F2FE"/>
            </a:solidFill>
            <a:prstDash val="solid"/>
          </a:ln>
        </p:spPr>
      </p:sp>
      <p:sp>
        <p:nvSpPr>
          <p:cNvPr id="9" name="Text 5"/>
          <p:cNvSpPr/>
          <p:nvPr/>
        </p:nvSpPr>
        <p:spPr>
          <a:xfrm>
            <a:off x="640080" y="1207008"/>
            <a:ext cx="3657600" cy="320040"/>
          </a:xfrm>
          <a:prstGeom prst="rect">
            <a:avLst/>
          </a:prstGeom>
          <a:noFill/>
          <a:ln/>
        </p:spPr>
        <p:txBody>
          <a:bodyPr wrap="square" lIns="0" tIns="0" rIns="0" bIns="0" rtlCol="0" anchor="ctr"/>
          <a:lstStyle/>
          <a:p>
            <a:pPr marL="0" indent="0">
              <a:buNone/>
            </a:pPr>
            <a:r>
              <a:rPr lang="en-US" sz="1700" b="1" dirty="0">
                <a:solidFill>
                  <a:srgbClr val="0F2A4A"/>
                </a:solidFill>
                <a:latin typeface="Cambria" pitchFamily="34" charset="0"/>
                <a:ea typeface="Cambria" pitchFamily="34" charset="-122"/>
                <a:cs typeface="Cambria" pitchFamily="34" charset="-120"/>
              </a:rPr>
              <a:t>Conclusion</a:t>
            </a:r>
            <a:endParaRPr lang="en-US" sz="1700" dirty="0"/>
          </a:p>
        </p:txBody>
      </p:sp>
      <p:sp>
        <p:nvSpPr>
          <p:cNvPr id="10" name="Text 6"/>
          <p:cNvSpPr/>
          <p:nvPr/>
        </p:nvSpPr>
        <p:spPr>
          <a:xfrm>
            <a:off x="640080" y="1627632"/>
            <a:ext cx="3657600" cy="2971800"/>
          </a:xfrm>
          <a:prstGeom prst="rect">
            <a:avLst/>
          </a:prstGeom>
          <a:noFill/>
          <a:ln/>
        </p:spPr>
        <p:txBody>
          <a:bodyPr wrap="square" lIns="0" tIns="0" rIns="0" bIns="0" rtlCol="0" anchor="t"/>
          <a:lstStyle/>
          <a:p>
            <a:r>
              <a:t>A working auction platform: register, browse, bid, and automatic winner selection.</a:t>
            </a:r>
          </a:p>
          <a:p>
            <a:r>
              <a:t>Row-level locking in one transaction kept simultaneous bids correct: 10 / 10 rounds, while the naive approach produced the wrong highest bid in 8 / 10 rounds.</a:t>
            </a:r>
          </a:p>
          <a:p>
            <a:r>
              <a:t>Every open page sees new bids instantly through Socket.IO.</a:t>
            </a:r>
          </a:p>
          <a:p>
            <a:r>
              <a:t>Demonstrates schema design, integrity constraints, SQL, transactions, isolation and locking.</a:t>
            </a:r>
          </a:p>
        </p:txBody>
      </p:sp>
      <p:sp>
        <p:nvSpPr>
          <p:cNvPr id="11" name="Text 7"/>
          <p:cNvSpPr/>
          <p:nvPr/>
        </p:nvSpPr>
        <p:spPr>
          <a:xfrm>
            <a:off x="4846320" y="1207008"/>
            <a:ext cx="3657600" cy="320040"/>
          </a:xfrm>
          <a:prstGeom prst="rect">
            <a:avLst/>
          </a:prstGeom>
          <a:noFill/>
          <a:ln/>
        </p:spPr>
        <p:txBody>
          <a:bodyPr wrap="square" lIns="0" tIns="0" rIns="0" bIns="0" rtlCol="0" anchor="ctr"/>
          <a:lstStyle/>
          <a:p>
            <a:pPr marL="0" indent="0">
              <a:buNone/>
            </a:pPr>
            <a:r>
              <a:rPr lang="en-US" sz="1700" b="1" dirty="0">
                <a:solidFill>
                  <a:srgbClr val="0F2A4A"/>
                </a:solidFill>
                <a:latin typeface="Cambria" pitchFamily="34" charset="0"/>
                <a:ea typeface="Cambria" pitchFamily="34" charset="-122"/>
                <a:cs typeface="Cambria" pitchFamily="34" charset="-120"/>
              </a:rPr>
              <a:t>Future Scope</a:t>
            </a:r>
            <a:endParaRPr lang="en-US" sz="1700" dirty="0"/>
          </a:p>
        </p:txBody>
      </p:sp>
      <p:sp>
        <p:nvSpPr>
          <p:cNvPr id="12" name="Text 8"/>
          <p:cNvSpPr/>
          <p:nvPr/>
        </p:nvSpPr>
        <p:spPr>
          <a:xfrm>
            <a:off x="4846320" y="1627632"/>
            <a:ext cx="3657600" cy="2971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Online payment gateway integration</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Mobile application</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AI price prediction and bid recommendations</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Email / SMS / push notifications</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Fraud detection and stronger security</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Edit and delete screens for products and auctions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F2A4A"/>
        </a:solidFill>
        <a:effectLst/>
      </p:bgPr>
    </p:bg>
    <p:spTree>
      <p:nvGrpSpPr>
        <p:cNvPr id="1" name=""/>
        <p:cNvGrpSpPr/>
        <p:nvPr/>
      </p:nvGrpSpPr>
      <p:grpSpPr>
        <a:xfrm>
          <a:off x="0" y="0"/>
          <a:ext cx="0" cy="0"/>
          <a:chOff x="0" y="0"/>
          <a:chExt cx="0" cy="0"/>
        </a:xfrm>
      </p:grpSpPr>
      <p:sp>
        <p:nvSpPr>
          <p:cNvPr id="2" name="Shape 0"/>
          <p:cNvSpPr/>
          <p:nvPr/>
        </p:nvSpPr>
        <p:spPr>
          <a:xfrm>
            <a:off x="548640" y="502920"/>
            <a:ext cx="2011680" cy="960120"/>
          </a:xfrm>
          <a:prstGeom prst="roundRect">
            <a:avLst>
              <a:gd name="adj" fmla="val 9524"/>
            </a:avLst>
          </a:prstGeom>
          <a:solidFill>
            <a:srgbClr val="FFFFFF"/>
          </a:solidFill>
          <a:ln w="12700">
            <a:solidFill>
              <a:srgbClr val="FFFFFF"/>
            </a:solidFill>
            <a:prstDash val="solid"/>
          </a:ln>
        </p:spPr>
      </p:sp>
      <p:pic>
        <p:nvPicPr>
          <p:cNvPr id="3" name="Image 0" descr="/home/claude/deck/logo.png"/>
          <p:cNvPicPr>
            <a:picLocks noChangeAspect="1"/>
          </p:cNvPicPr>
          <p:nvPr/>
        </p:nvPicPr>
        <p:blipFill>
          <a:blip r:embed="rId3"/>
          <a:stretch>
            <a:fillRect/>
          </a:stretch>
        </p:blipFill>
        <p:spPr>
          <a:xfrm>
            <a:off x="713232" y="594360"/>
            <a:ext cx="1682496" cy="798558"/>
          </a:xfrm>
          <a:prstGeom prst="rect">
            <a:avLst/>
          </a:prstGeom>
        </p:spPr>
      </p:pic>
      <p:sp>
        <p:nvSpPr>
          <p:cNvPr id="4" name="Text 1"/>
          <p:cNvSpPr/>
          <p:nvPr/>
        </p:nvSpPr>
        <p:spPr>
          <a:xfrm>
            <a:off x="548640" y="1828800"/>
            <a:ext cx="804672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2"/>
          <p:cNvSpPr/>
          <p:nvPr/>
        </p:nvSpPr>
        <p:spPr>
          <a:xfrm>
            <a:off x="548640" y="2743200"/>
            <a:ext cx="8046720" cy="457200"/>
          </a:xfrm>
          <a:prstGeom prst="rect">
            <a:avLst/>
          </a:prstGeom>
          <a:noFill/>
          <a:ln/>
        </p:spPr>
        <p:txBody>
          <a:bodyPr wrap="square" lIns="0" tIns="0" rIns="0" bIns="0" rtlCol="0" anchor="ctr"/>
          <a:lstStyle/>
          <a:p>
            <a:pPr marL="0" indent="0">
              <a:buNone/>
            </a:pPr>
            <a:r>
              <a:rPr lang="en-US" sz="2200" dirty="0">
                <a:solidFill>
                  <a:srgbClr val="7DD3FC"/>
                </a:solidFill>
                <a:latin typeface="Calibri" pitchFamily="34" charset="0"/>
                <a:ea typeface="Calibri" pitchFamily="34" charset="-122"/>
                <a:cs typeface="Calibri" pitchFamily="34" charset="-120"/>
              </a:rPr>
              <a:t>Questions?</a:t>
            </a:r>
            <a:endParaRPr lang="en-US" sz="2200" dirty="0"/>
          </a:p>
        </p:txBody>
      </p:sp>
      <p:sp>
        <p:nvSpPr>
          <p:cNvPr id="6" name="Text 3"/>
          <p:cNvSpPr/>
          <p:nvPr/>
        </p:nvSpPr>
        <p:spPr>
          <a:xfrm>
            <a:off x="548640" y="3931920"/>
            <a:ext cx="8046720" cy="32004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Team 22  ·  Param Manasvi (2520030072)  ·  Ch. Shravya Chowdary (2520030322)</a:t>
            </a:r>
            <a:endParaRPr lang="en-US" sz="1300" dirty="0"/>
          </a:p>
        </p:txBody>
      </p:sp>
      <p:sp>
        <p:nvSpPr>
          <p:cNvPr id="7" name="Text 4"/>
          <p:cNvSpPr/>
          <p:nvPr/>
        </p:nvSpPr>
        <p:spPr>
          <a:xfrm>
            <a:off x="548640" y="4297680"/>
            <a:ext cx="8046720" cy="3200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Guide: Dr. Y. Subbarayudu  ·  Dept. of Computer Science and Engineering  ·  KLH</a:t>
            </a:r>
            <a:endParaRPr lang="en-US" sz="1300" dirty="0"/>
          </a:p>
        </p:txBody>
      </p:sp>
      <p:sp>
        <p:nvSpPr>
          <p:cNvPr id="8" name="TextBox 7"/>
          <p:cNvSpPr txBox="1"/>
          <p:nvPr/>
        </p:nvSpPr>
        <p:spPr>
          <a:xfrm>
            <a:off x="8458200" y="384048"/>
            <a:ext cx="320040" cy="228600"/>
          </a:xfrm>
          <a:prstGeom prst="rect">
            <a:avLst/>
          </a:prstGeom>
          <a:noFill/>
        </p:spPr>
        <p:txBody>
          <a:bodyPr wrap="square" lIns="36576" tIns="36576" rIns="36576" bIns="36576" anchor="t">
            <a:spAutoFit/>
          </a:bodyPr>
          <a:lstStyle/>
          <a:p>
            <a:pPr algn="r"/>
            <a:r>
              <a:rPr sz="900" b="0">
                <a:solidFill>
                  <a:srgbClr val="B8C6D6"/>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2988</Words>
  <Application>Microsoft Office PowerPoint</Application>
  <PresentationFormat>On-screen Show (16:9)</PresentationFormat>
  <Paragraphs>397</Paragraphs>
  <Slides>16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Review – Online Auction and Bidding Platform</dc:title>
  <dc:subject>PptxGenJS Presentation</dc:subject>
  <dc:creator>Team 22 – Param Manasvi, Ch. Shravya Chowdary</dc:creator>
  <cp:lastModifiedBy>Manasvi P</cp:lastModifiedBy>
  <cp:revision>2</cp:revision>
  <dcterms:created xsi:type="dcterms:W3CDTF">2026-10-03T03:50:26Z</dcterms:created>
  <dcterms:modified xsi:type="dcterms:W3CDTF">2026-10-03T08:22:46Z</dcterms:modified>
</cp:coreProperties>
</file>
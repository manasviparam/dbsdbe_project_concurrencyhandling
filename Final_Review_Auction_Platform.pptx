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4" d="100"/>
          <a:sy n="84"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Naive (SELECT then UPDATE)</c:v>
                </c:pt>
              </c:strCache>
            </c:strRef>
          </c:tx>
          <c:spPr>
            <a:solidFill>
              <a:srgbClr val="B3122B"/>
            </a:solidFill>
            <a:effectLst/>
          </c:spPr>
          <c:invertIfNegative val="0"/>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Sheet1!$B$2:$B$11</c:f>
              <c:numCache>
                <c:formatCode>General</c:formatCode>
                <c:ptCount val="10"/>
                <c:pt idx="0">
                  <c:v>2050</c:v>
                </c:pt>
                <c:pt idx="1">
                  <c:v>1400</c:v>
                </c:pt>
                <c:pt idx="2">
                  <c:v>1900</c:v>
                </c:pt>
                <c:pt idx="3">
                  <c:v>1800</c:v>
                </c:pt>
                <c:pt idx="4">
                  <c:v>1300</c:v>
                </c:pt>
                <c:pt idx="5">
                  <c:v>2050</c:v>
                </c:pt>
                <c:pt idx="6">
                  <c:v>1550</c:v>
                </c:pt>
                <c:pt idx="7">
                  <c:v>1800</c:v>
                </c:pt>
                <c:pt idx="8">
                  <c:v>1500</c:v>
                </c:pt>
                <c:pt idx="9">
                  <c:v>1650</c:v>
                </c:pt>
              </c:numCache>
            </c:numRef>
          </c:val>
          <c:extLst>
            <c:ext xmlns:c16="http://schemas.microsoft.com/office/drawing/2014/chart" uri="{C3380CC4-5D6E-409C-BE32-E72D297353CC}">
              <c16:uniqueId val="{00000000-6F21-4E96-82D8-0DC96C2F30CA}"/>
            </c:ext>
          </c:extLst>
        </c:ser>
        <c:ser>
          <c:idx val="1"/>
          <c:order val="1"/>
          <c:tx>
            <c:strRef>
              <c:f>Sheet1!$C$1</c:f>
              <c:strCache>
                <c:ptCount val="1"/>
                <c:pt idx="0">
                  <c:v>Row lock (FOR UPDATE)</c:v>
                </c:pt>
              </c:strCache>
            </c:strRef>
          </c:tx>
          <c:spPr>
            <a:solidFill>
              <a:srgbClr val="15803D"/>
            </a:solidFill>
            <a:effectLst/>
          </c:spPr>
          <c:invertIfNegative val="0"/>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Sheet1!$C$2:$C$11</c:f>
              <c:numCache>
                <c:formatCode>General</c:formatCode>
                <c:ptCount val="10"/>
                <c:pt idx="0">
                  <c:v>2050</c:v>
                </c:pt>
                <c:pt idx="1">
                  <c:v>2050</c:v>
                </c:pt>
                <c:pt idx="2">
                  <c:v>2050</c:v>
                </c:pt>
                <c:pt idx="3">
                  <c:v>2050</c:v>
                </c:pt>
                <c:pt idx="4">
                  <c:v>2050</c:v>
                </c:pt>
                <c:pt idx="5">
                  <c:v>2050</c:v>
                </c:pt>
                <c:pt idx="6">
                  <c:v>2050</c:v>
                </c:pt>
                <c:pt idx="7">
                  <c:v>2050</c:v>
                </c:pt>
                <c:pt idx="8">
                  <c:v>2050</c:v>
                </c:pt>
                <c:pt idx="9">
                  <c:v>2050</c:v>
                </c:pt>
              </c:numCache>
            </c:numRef>
          </c:val>
          <c:extLst>
            <c:ext xmlns:c16="http://schemas.microsoft.com/office/drawing/2014/chart" uri="{C3380CC4-5D6E-409C-BE32-E72D297353CC}">
              <c16:uniqueId val="{00000001-6F21-4E96-82D8-0DC96C2F30CA}"/>
            </c:ext>
          </c:extLst>
        </c:ser>
        <c:dLbls>
          <c:showLegendKey val="0"/>
          <c:showVal val="0"/>
          <c:showCatName val="0"/>
          <c:showSerName val="0"/>
          <c:showPercent val="0"/>
          <c:showBubbleSize val="0"/>
        </c:dLbls>
        <c:gapWidth val="60"/>
        <c:axId val="2094734554"/>
        <c:axId val="2094734552"/>
      </c:barChart>
      <c:catAx>
        <c:axId val="2094734554"/>
        <c:scaling>
          <c:orientation val="minMax"/>
        </c:scaling>
        <c:delete val="0"/>
        <c:axPos val="b"/>
        <c:title>
          <c:tx>
            <c:rich>
              <a:bodyPr/>
              <a:lstStyle/>
              <a:p>
                <a:pPr>
                  <a:defRPr sz="1000" b="0" i="0" u="none" strike="noStrike">
                    <a:solidFill>
                      <a:srgbClr val="64748B"/>
                    </a:solidFill>
                    <a:latin typeface="Arial"/>
                  </a:defRPr>
                </a:pPr>
                <a:r>
                  <a:rPr sz="1000" b="0" i="0" u="none" strike="noStrike">
                    <a:solidFill>
                      <a:srgbClr val="64748B"/>
                    </a:solidFill>
                    <a:latin typeface="Arial"/>
                  </a:rPr>
                  <a:t>Round</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2200"/>
          <c:min val="1000"/>
        </c:scaling>
        <c:delete val="0"/>
        <c:axPos val="l"/>
        <c:majorGridlines>
          <c:spPr>
            <a:ln w="6350" cap="flat">
              <a:solidFill>
                <a:srgbClr val="E2E8F0"/>
              </a:solidFill>
              <a:prstDash val="solid"/>
              <a:round/>
            </a:ln>
          </c:spPr>
        </c:majorGridlines>
        <c:title>
          <c:tx>
            <c:rich>
              <a:bodyPr/>
              <a:lstStyle/>
              <a:p>
                <a:pPr>
                  <a:defRPr sz="1000" b="0" i="0" u="none" strike="noStrike">
                    <a:solidFill>
                      <a:srgbClr val="64748B"/>
                    </a:solidFill>
                    <a:latin typeface="Arial"/>
                  </a:defRPr>
                </a:pPr>
                <a:r>
                  <a:rPr sz="1000" b="0" i="0" u="none" strike="noStrike">
                    <a:solidFill>
                      <a:srgbClr val="64748B"/>
                    </a:solidFill>
                    <a:latin typeface="Arial"/>
                  </a:rPr>
                  <a:t>Final highest bid (₹)</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majorUnit val="200"/>
      </c:valAx>
      <c:spPr>
        <a:noFill/>
        <a:ln>
          <a:noFill/>
        </a:ln>
        <a:effectLst/>
      </c:spPr>
    </c:plotArea>
    <c:legend>
      <c:legendPos val="b"/>
      <c:overlay val="0"/>
      <c:txPr>
        <a:bodyPr/>
        <a:lstStyle/>
        <a:p>
          <a:pPr>
            <a:defRPr sz="1050">
              <a:solidFill>
                <a:srgbClr val="1E293B"/>
              </a:solidFil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23998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Our project is an online auction platform whose main contribution is correct handling of simultaneous bids. The headline result: under 20 simultaneous bidders, our approach produced the correct highest bid in 10 out of 10 test rounds, while a plain SELECT-then-UPDATE approach got it right only twice in 10.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Suppose the highest bid is 500. User A bids 600 and user B bids 550 at almost the same moment. Both read 500, both think they are valid, A writes 600, then B writes 550 on top of it. The lower bid wins. The root cause is that read, check and write are three separate steps with nothing locking the row. We reproduced this: with 20 simultaneous bidders the plain approach ended with a wrong highest bid in 8 of 10 rounds.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fix wraps the whole bid in one MySQL transaction. We start the transaction, then SELECT the auction row FOR UPDATE, which takes a row lock; any other bidder on that auction waits. We validate against the locked, fresh value, write the new highest bid and the bid history row together, and commit, which releases the lock. If MySQL reports a deadlock we retry up to three times with a small random back-off.</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React client talks to the Express server over REST with a JWT, and over a Socket.IO WebSocket for live events. The server talks to MySQL through a mysql2 connection pool; the pool matters because each concurrent bid needs its own connection to hold its own transaction and lock. Below is the life of one bid from click to every open screen.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 has five tables: users, products, auctions, bids and auction_results. A product has many auctions, an auction has many bids, a user places many bids and creates products, and each closed auction has exactly one result row. All tables are InnoDB, which is required for transactions and row-level locks, and there is an index on auction id plus amount on the bids table.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the project, condensed from placeBidTransaction in bidController.js. The row lock on the auction is taken first, which is the line that makes every other bidder on the same auction wait. Validation then uses the locked value rather than a stale read. The update and the insert are in the same transaction, and commit releases the lock. If a deadlock error 1213 is raised, the wrapper retries up to three times.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bidder flow in the running application. On the left, the auction list shows each product, its current highest bid and its status. On the right, the detail page shows the current highest bid, the bid form, and the full bid history with bidder names and amounts.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are two captures of the same open page, taken before and after a different user placed a bid through the API. The page moved from 2400 to 2650 without any reload, pushed over Socket.IO. On the right is the admin dashboard where administrators create products and auctions.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the same experiment ten times. Twenty users bid distinct amounts from 1100 to 2050 at the same instant, so the correct final highest bid is always 2050. The plain read-then-write version ended with a wrong value in eight of ten rounds, sometimes as low as 1300. Our row-locking version ended at 2050 every single time, and the bid history was strictly increasing. Note that the naive version includes a 20 millisecond simulated processing delay between the read and the write.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test cases we executed against the running application. The first three are the concurrency tests: four distinct simultaneous bids, four users bidding the exact same amount where exactly one must win, and the twenty-bidder stress test repeated ten times. The rest cover validation, authentication, authorisation, the auto-close job and the live update. Tests were run on MariaDB 10.11 with InnoDB, which has the same row-locking behaviour as MySQL 8.</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Large commercial auction sites have the core features but are closed-source, so their database design and concurrency handling cannot be studied. Basic academic projects usually skip transaction handling entirely. Our system keeps the same core features and adds a documented, tested locking approach plus live bid updates.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stack is open source: React with Vite on the front end, Node.js and Express on the back end, MySQL with InnoDB for storage and Socket.IO for real-time events. Development used VS Code, Git and GitHub and MySQL Workbench, and the application runs on Windows or Linux in any modern browser.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we built a working auction platform and showed with measurements that row-level locking inside one transaction makes simultaneous bidding safe, 10 of 10 rounds correct versus 2 of 10 for the naive version. Bids reach every open page in real time. For future work we plan payments, a mobile app, notifications, AI-based price guidance, fraud detection, and edit and delete screens for products and auctions.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 and we can run the concurrency test live on the running application.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 Id="rId9"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A"/>
        </a:solidFill>
        <a:effectLst/>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marL="0" indent="0">
              <a:buNone/>
            </a:pPr>
            <a:r>
              <a:rPr lang="en-US" sz="1200" b="1" kern="0" spc="400" dirty="0">
                <a:solidFill>
                  <a:srgbClr val="7DD3FC"/>
                </a:solidFill>
                <a:latin typeface="Calibri" pitchFamily="34" charset="0"/>
                <a:ea typeface="Calibri" pitchFamily="34" charset="-122"/>
                <a:cs typeface="Calibri" pitchFamily="34" charset="-120"/>
              </a:rPr>
              <a:t>FINAL REVIEW</a:t>
            </a:r>
            <a:endParaRPr lang="en-US" sz="1200" dirty="0"/>
          </a:p>
        </p:txBody>
      </p:sp>
      <p:sp>
        <p:nvSpPr>
          <p:cNvPr id="3" name="Text 1"/>
          <p:cNvSpPr/>
          <p:nvPr/>
        </p:nvSpPr>
        <p:spPr>
          <a:xfrm>
            <a:off x="548640" y="822960"/>
            <a:ext cx="5669280" cy="16002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Online Auction and Bidding Platform with Real-Time Concurrency Handling</a:t>
            </a:r>
            <a:endParaRPr lang="en-US" sz="3000" dirty="0"/>
          </a:p>
        </p:txBody>
      </p:sp>
      <p:sp>
        <p:nvSpPr>
          <p:cNvPr id="4" name="Text 2"/>
          <p:cNvSpPr/>
          <p:nvPr/>
        </p:nvSpPr>
        <p:spPr>
          <a:xfrm>
            <a:off x="548640" y="2606040"/>
            <a:ext cx="6537960" cy="1333500"/>
          </a:xfrm>
          <a:prstGeom prst="rect">
            <a:avLst/>
          </a:prstGeom>
          <a:noFill/>
          <a:ln/>
        </p:spPr>
        <p:txBody>
          <a:bodyPr wrap="square" lIns="0" tIns="0" rIns="0" bIns="0" rtlCol="0" anchor="t"/>
          <a:lstStyle/>
          <a:p>
            <a:pPr marL="0" indent="0">
              <a:spcAft>
                <a:spcPts val="400"/>
              </a:spcAft>
              <a:buNone/>
            </a:pPr>
            <a:r>
              <a:rPr lang="en-US" sz="1500" b="1" dirty="0">
                <a:solidFill>
                  <a:srgbClr val="FFFFFF"/>
                </a:solidFill>
                <a:latin typeface="Calibri" pitchFamily="34" charset="0"/>
                <a:ea typeface="Calibri" pitchFamily="34" charset="-122"/>
                <a:cs typeface="Calibri" pitchFamily="34" charset="-120"/>
              </a:rPr>
              <a:t>Team 22  ·  Section 7</a:t>
            </a:r>
            <a:endParaRPr lang="en-US" sz="1500" dirty="0"/>
          </a:p>
          <a:p>
            <a:pPr marL="0" indent="0">
              <a:spcAft>
                <a:spcPts val="400"/>
              </a:spcAft>
              <a:buNone/>
            </a:pPr>
            <a:r>
              <a:rPr lang="en-US" sz="1300" dirty="0">
                <a:solidFill>
                  <a:srgbClr val="CBD5E1"/>
                </a:solidFill>
                <a:latin typeface="Calibri" pitchFamily="34" charset="0"/>
                <a:ea typeface="Calibri" pitchFamily="34" charset="-122"/>
                <a:cs typeface="Calibri" pitchFamily="34" charset="-120"/>
              </a:rPr>
              <a:t>Param Manasvi (Team Lead) – 2520030072</a:t>
            </a:r>
            <a:endParaRPr lang="en-US" sz="1500" dirty="0"/>
          </a:p>
          <a:p>
            <a:pPr marL="0" indent="0">
              <a:spcAft>
                <a:spcPts val="400"/>
              </a:spcAft>
              <a:buNone/>
            </a:pPr>
            <a:r>
              <a:rPr lang="en-US" sz="1300" dirty="0">
                <a:solidFill>
                  <a:srgbClr val="CBD5E1"/>
                </a:solidFill>
                <a:latin typeface="Calibri" pitchFamily="34" charset="0"/>
                <a:ea typeface="Calibri" pitchFamily="34" charset="-122"/>
                <a:cs typeface="Calibri" pitchFamily="34" charset="-120"/>
              </a:rPr>
              <a:t>Ch. Shravya Chowdary – 2520030322</a:t>
            </a:r>
            <a:endParaRPr lang="en-US" sz="1500" dirty="0"/>
          </a:p>
          <a:p>
            <a:pPr marL="0" indent="0">
              <a:spcAft>
                <a:spcPts val="400"/>
              </a:spcAft>
              <a:buNone/>
            </a:pPr>
            <a:r>
              <a:rPr lang="en-US" sz="1300" dirty="0">
                <a:solidFill>
                  <a:srgbClr val="CBD5E1"/>
                </a:solidFill>
                <a:latin typeface="Calibri" pitchFamily="34" charset="0"/>
                <a:ea typeface="Calibri" pitchFamily="34" charset="-122"/>
                <a:cs typeface="Calibri" pitchFamily="34" charset="-120"/>
              </a:rPr>
              <a:t>Guide: Dr. Y. Subbarayudu, Assistant Professor, Dept. of CSE</a:t>
            </a:r>
            <a:endParaRPr lang="en-US" sz="1500" dirty="0"/>
          </a:p>
        </p:txBody>
      </p:sp>
      <p:sp>
        <p:nvSpPr>
          <p:cNvPr id="5" name="Text 3"/>
          <p:cNvSpPr/>
          <p:nvPr/>
        </p:nvSpPr>
        <p:spPr>
          <a:xfrm>
            <a:off x="548640" y="4160520"/>
            <a:ext cx="5669280" cy="457200"/>
          </a:xfrm>
          <a:prstGeom prst="rect">
            <a:avLst/>
          </a:prstGeom>
          <a:noFill/>
          <a:ln/>
        </p:spPr>
        <p:txBody>
          <a:bodyPr wrap="square" lIns="0" tIns="0" rIns="0" bIns="0" rtlCol="0" anchor="t"/>
          <a:lstStyle/>
          <a:p>
            <a:pPr marL="0" indent="0">
              <a:buNone/>
            </a:pPr>
            <a:r>
              <a:rPr lang="en-US" sz="1050" dirty="0">
                <a:solidFill>
                  <a:srgbClr val="94A3B8"/>
                </a:solidFill>
                <a:latin typeface="Calibri" pitchFamily="34" charset="0"/>
                <a:ea typeface="Calibri" pitchFamily="34" charset="-122"/>
                <a:cs typeface="Calibri" pitchFamily="34" charset="-120"/>
              </a:rPr>
              <a:t>Database Systems Engineering and Distributed Backend Development (25CS1302E)  ·  Y25 · 2026-27 · Trimester 4</a:t>
            </a:r>
            <a:endParaRPr lang="en-US" sz="1050" dirty="0"/>
          </a:p>
        </p:txBody>
      </p:sp>
      <p:sp>
        <p:nvSpPr>
          <p:cNvPr id="6" name="Shape 4"/>
          <p:cNvSpPr/>
          <p:nvPr/>
        </p:nvSpPr>
        <p:spPr>
          <a:xfrm>
            <a:off x="6492240" y="502920"/>
            <a:ext cx="2194560" cy="1539240"/>
          </a:xfrm>
          <a:prstGeom prst="roundRect">
            <a:avLst>
              <a:gd name="adj" fmla="val 8696"/>
            </a:avLst>
          </a:prstGeom>
          <a:solidFill>
            <a:srgbClr val="FFFFFF"/>
          </a:solidFill>
          <a:ln w="12700">
            <a:solidFill>
              <a:srgbClr val="FFFFFF"/>
            </a:solidFill>
            <a:prstDash val="solid"/>
          </a:ln>
        </p:spPr>
      </p:sp>
      <p:pic>
        <p:nvPicPr>
          <p:cNvPr id="7" name="Image 0" descr="/home/claude/deck/logo.png"/>
          <p:cNvPicPr>
            <a:picLocks noChangeAspect="1"/>
          </p:cNvPicPr>
          <p:nvPr/>
        </p:nvPicPr>
        <p:blipFill>
          <a:blip r:embed="rId3"/>
          <a:stretch>
            <a:fillRect/>
          </a:stretch>
        </p:blipFill>
        <p:spPr>
          <a:xfrm>
            <a:off x="6583680" y="535940"/>
            <a:ext cx="2057400" cy="1485900"/>
          </a:xfrm>
          <a:prstGeom prst="rect">
            <a:avLst/>
          </a:prstGeom>
        </p:spPr>
      </p:pic>
      <p:sp>
        <p:nvSpPr>
          <p:cNvPr id="9" name="Text 6"/>
          <p:cNvSpPr/>
          <p:nvPr/>
        </p:nvSpPr>
        <p:spPr>
          <a:xfrm>
            <a:off x="6583680" y="1965960"/>
            <a:ext cx="2011680" cy="914400"/>
          </a:xfrm>
          <a:prstGeom prst="rect">
            <a:avLst/>
          </a:prstGeom>
          <a:noFill/>
          <a:ln/>
        </p:spPr>
        <p:txBody>
          <a:bodyPr wrap="square" lIns="0" tIns="0" rIns="0" bIns="0" rtlCol="0" anchor="ctr"/>
          <a:lstStyle/>
          <a:p>
            <a:pPr marL="0" indent="0" algn="ctr">
              <a:buNone/>
            </a:pPr>
            <a:endParaRPr lang="en-US" sz="4600" dirty="0"/>
          </a:p>
        </p:txBody>
      </p:sp>
      <p:sp>
        <p:nvSpPr>
          <p:cNvPr id="10" name="Text 7"/>
          <p:cNvSpPr/>
          <p:nvPr/>
        </p:nvSpPr>
        <p:spPr>
          <a:xfrm>
            <a:off x="6675120" y="2926080"/>
            <a:ext cx="1828800" cy="868680"/>
          </a:xfrm>
          <a:prstGeom prst="rect">
            <a:avLst/>
          </a:prstGeom>
          <a:noFill/>
          <a:ln/>
        </p:spPr>
        <p:txBody>
          <a:bodyPr wrap="square" lIns="0" tIns="0" rIns="0" bIns="0" rtlCol="0" anchor="t"/>
          <a:lstStyle/>
          <a:p>
            <a:pPr marL="0" indent="0" algn="ctr">
              <a:buNone/>
            </a:pPr>
            <a:endParaRPr lang="en-US" sz="1200" dirty="0"/>
          </a:p>
        </p:txBody>
      </p:sp>
      <p:sp>
        <p:nvSpPr>
          <p:cNvPr id="11" name="Text 8"/>
          <p:cNvSpPr/>
          <p:nvPr/>
        </p:nvSpPr>
        <p:spPr>
          <a:xfrm>
            <a:off x="6675120" y="3840480"/>
            <a:ext cx="1828800" cy="502920"/>
          </a:xfrm>
          <a:prstGeom prst="rect">
            <a:avLst/>
          </a:prstGeom>
          <a:noFill/>
          <a:ln/>
        </p:spPr>
        <p:txBody>
          <a:bodyPr wrap="square" lIns="0" tIns="0" rIns="0" bIns="0" rtlCol="0" anchor="t"/>
          <a:lstStyle/>
          <a:p>
            <a:pPr marL="0" indent="0" algn="ctr">
              <a:buNone/>
            </a:pP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7406640" cy="502920"/>
          </a:xfrm>
          <a:prstGeom prst="rect">
            <a:avLst/>
          </a:prstGeom>
          <a:noFill/>
          <a:ln/>
        </p:spPr>
        <p:txBody>
          <a:bodyPr wrap="square" lIns="0" tIns="0" rIns="0" bIns="0" rtlCol="0" anchor="ctr"/>
          <a:lstStyle/>
          <a:p>
            <a:pPr marL="0" indent="0">
              <a:buNone/>
            </a:pPr>
            <a:r>
              <a:rPr lang="en-US" sz="2600" b="1" dirty="0">
                <a:solidFill>
                  <a:srgbClr val="0F2A4A"/>
                </a:solidFill>
                <a:latin typeface="Cambria" pitchFamily="34" charset="0"/>
                <a:ea typeface="Cambria" pitchFamily="34" charset="-122"/>
                <a:cs typeface="Cambria" pitchFamily="34" charset="-120"/>
              </a:rPr>
              <a:t>The Problem: A Race Condition</a:t>
            </a:r>
            <a:endParaRPr lang="en-US" sz="2600" dirty="0"/>
          </a:p>
        </p:txBody>
      </p:sp>
      <p:sp>
        <p:nvSpPr>
          <p:cNvPr id="3" name="Text 1"/>
          <p:cNvSpPr/>
          <p:nvPr/>
        </p:nvSpPr>
        <p:spPr>
          <a:xfrm>
            <a:off x="457200" y="777240"/>
            <a:ext cx="7406640" cy="274320"/>
          </a:xfrm>
          <a:prstGeom prst="rect">
            <a:avLst/>
          </a:prstGeom>
          <a:noFill/>
          <a:ln/>
        </p:spPr>
        <p:txBody>
          <a:bodyPr wrap="square" lIns="0" tIns="0" rIns="0" bIns="0" rtlCol="0" anchor="ctr"/>
          <a:lstStyle/>
          <a:p>
            <a:pPr marL="0" indent="0">
              <a:buNone/>
            </a:pPr>
            <a:r>
              <a:rPr lang="en-US" sz="1250" dirty="0">
                <a:solidFill>
                  <a:srgbClr val="64748B"/>
                </a:solidFill>
                <a:latin typeface="Calibri" pitchFamily="34" charset="0"/>
                <a:ea typeface="Calibri" pitchFamily="34" charset="-122"/>
                <a:cs typeface="Calibri" pitchFamily="34" charset="-120"/>
              </a:rPr>
              <a:t>Why a simple SELECT then UPDATE is unsafe when bids arrive together</a:t>
            </a:r>
            <a:endParaRPr lang="en-US" sz="1250" dirty="0"/>
          </a:p>
        </p:txBody>
      </p:sp>
      <p:pic>
        <p:nvPicPr>
          <p:cNvPr id="4" name="Image 0" descr="/home/claude/deck/logo.png"/>
          <p:cNvPicPr>
            <a:picLocks noChangeAspect="1"/>
          </p:cNvPicPr>
          <p:nvPr/>
        </p:nvPicPr>
        <p:blipFill>
          <a:blip r:embed="rId3"/>
          <a:stretch>
            <a:fillRect/>
          </a:stretch>
        </p:blipFill>
        <p:spPr>
          <a:xfrm>
            <a:off x="7955280" y="201168"/>
            <a:ext cx="822960" cy="390599"/>
          </a:xfrm>
          <a:prstGeom prst="rect">
            <a:avLst/>
          </a:prstGeom>
        </p:spPr>
      </p:pic>
      <p:sp>
        <p:nvSpPr>
          <p:cNvPr id="5" name="Text 2"/>
          <p:cNvSpPr/>
          <p:nvPr/>
        </p:nvSpPr>
        <p:spPr>
          <a:xfrm>
            <a:off x="457200" y="4828032"/>
            <a:ext cx="54864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Team 22  |  Final Review  |  DBDSE (25CS1302E)</a:t>
            </a:r>
            <a:endParaRPr lang="en-US" sz="900" dirty="0"/>
          </a:p>
        </p:txBody>
      </p:sp>
      <p:sp>
        <p:nvSpPr>
          <p:cNvPr id="6" name="Text 3"/>
          <p:cNvSpPr/>
          <p:nvPr/>
        </p:nvSpPr>
        <p:spPr>
          <a:xfrm>
            <a:off x="8229600" y="4828032"/>
            <a:ext cx="45720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
        <p:nvSpPr>
          <p:cNvPr id="8" name="Text 4"/>
          <p:cNvSpPr/>
          <p:nvPr/>
        </p:nvSpPr>
        <p:spPr>
          <a:xfrm>
            <a:off x="1097280" y="1234440"/>
            <a:ext cx="4572000" cy="274320"/>
          </a:xfrm>
          <a:prstGeom prst="rect">
            <a:avLst/>
          </a:prstGeom>
          <a:noFill/>
          <a:ln/>
        </p:spPr>
        <p:txBody>
          <a:bodyPr wrap="square" lIns="0" tIns="0" rIns="0" bIns="0" rtlCol="0" anchor="ctr"/>
          <a:lstStyle/>
          <a:p>
            <a:pPr marL="0" indent="0" algn="ctr">
              <a:buNone/>
            </a:pPr>
            <a:r>
              <a:rPr lang="en-US" sz="1200" b="1" dirty="0">
                <a:solidFill>
                  <a:srgbClr val="1E293B"/>
                </a:solidFill>
                <a:latin typeface="Calibri" pitchFamily="34" charset="0"/>
                <a:ea typeface="Calibri" pitchFamily="34" charset="-122"/>
                <a:cs typeface="Calibri" pitchFamily="34" charset="-120"/>
              </a:rPr>
              <a:t>Highest bid in database: ₹500</a:t>
            </a:r>
            <a:endParaRPr lang="en-US" sz="1200" dirty="0"/>
          </a:p>
        </p:txBody>
      </p:sp>
      <p:sp>
        <p:nvSpPr>
          <p:cNvPr id="9" name="Shape 5"/>
          <p:cNvSpPr/>
          <p:nvPr/>
        </p:nvSpPr>
        <p:spPr>
          <a:xfrm>
            <a:off x="1097280" y="1600200"/>
            <a:ext cx="2194560" cy="347472"/>
          </a:xfrm>
          <a:prstGeom prst="roundRect">
            <a:avLst>
              <a:gd name="adj" fmla="val 15789"/>
            </a:avLst>
          </a:prstGeom>
          <a:solidFill>
            <a:srgbClr val="0B6FB8"/>
          </a:solidFill>
          <a:ln w="12700">
            <a:solidFill>
              <a:srgbClr val="0B6FB8"/>
            </a:solidFill>
            <a:prstDash val="solid"/>
          </a:ln>
        </p:spPr>
      </p:sp>
      <p:sp>
        <p:nvSpPr>
          <p:cNvPr id="10" name="Text 6"/>
          <p:cNvSpPr/>
          <p:nvPr/>
        </p:nvSpPr>
        <p:spPr>
          <a:xfrm>
            <a:off x="1097280" y="1600200"/>
            <a:ext cx="219456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User A bids ₹600</a:t>
            </a:r>
            <a:endParaRPr lang="en-US" sz="1200" dirty="0"/>
          </a:p>
        </p:txBody>
      </p:sp>
      <p:sp>
        <p:nvSpPr>
          <p:cNvPr id="11" name="Shape 7"/>
          <p:cNvSpPr/>
          <p:nvPr/>
        </p:nvSpPr>
        <p:spPr>
          <a:xfrm>
            <a:off x="3474720" y="1600200"/>
            <a:ext cx="2194560" cy="347472"/>
          </a:xfrm>
          <a:prstGeom prst="roundRect">
            <a:avLst>
              <a:gd name="adj" fmla="val 15789"/>
            </a:avLst>
          </a:prstGeom>
          <a:solidFill>
            <a:srgbClr val="0F766E"/>
          </a:solidFill>
          <a:ln w="12700">
            <a:solidFill>
              <a:srgbClr val="0F766E"/>
            </a:solidFill>
            <a:prstDash val="solid"/>
          </a:ln>
        </p:spPr>
      </p:sp>
      <p:sp>
        <p:nvSpPr>
          <p:cNvPr id="12" name="Text 8"/>
          <p:cNvSpPr/>
          <p:nvPr/>
        </p:nvSpPr>
        <p:spPr>
          <a:xfrm>
            <a:off x="3474720" y="1600200"/>
            <a:ext cx="219456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User B bids ₹550</a:t>
            </a:r>
            <a:endParaRPr lang="en-US" sz="1200" dirty="0"/>
          </a:p>
        </p:txBody>
      </p:sp>
      <p:sp>
        <p:nvSpPr>
          <p:cNvPr id="13" name="Text 9"/>
          <p:cNvSpPr/>
          <p:nvPr/>
        </p:nvSpPr>
        <p:spPr>
          <a:xfrm>
            <a:off x="457200" y="2103120"/>
            <a:ext cx="548640" cy="411480"/>
          </a:xfrm>
          <a:prstGeom prst="rect">
            <a:avLst/>
          </a:prstGeom>
          <a:noFill/>
          <a:ln/>
        </p:spPr>
        <p:txBody>
          <a:bodyPr wrap="square" lIns="0" tIns="0" rIns="0" bIns="0" rtlCol="0" anchor="ctr"/>
          <a:lstStyle/>
          <a:p>
            <a:pPr marL="0" indent="0" algn="r">
              <a:buNone/>
            </a:pPr>
            <a:r>
              <a:rPr lang="en-US" sz="1100" b="1" dirty="0">
                <a:solidFill>
                  <a:srgbClr val="64748B"/>
                </a:solidFill>
                <a:latin typeface="Calibri" pitchFamily="34" charset="0"/>
                <a:ea typeface="Calibri" pitchFamily="34" charset="-122"/>
                <a:cs typeface="Calibri" pitchFamily="34" charset="-120"/>
              </a:rPr>
              <a:t>t1</a:t>
            </a:r>
            <a:endParaRPr lang="en-US" sz="1100" dirty="0"/>
          </a:p>
        </p:txBody>
      </p:sp>
      <p:sp>
        <p:nvSpPr>
          <p:cNvPr id="14" name="Shape 10"/>
          <p:cNvSpPr/>
          <p:nvPr/>
        </p:nvSpPr>
        <p:spPr>
          <a:xfrm>
            <a:off x="1097280" y="2103120"/>
            <a:ext cx="2194560" cy="411480"/>
          </a:xfrm>
          <a:prstGeom prst="roundRect">
            <a:avLst>
              <a:gd name="adj" fmla="val 17778"/>
            </a:avLst>
          </a:prstGeom>
          <a:solidFill>
            <a:srgbClr val="F1F5F9"/>
          </a:solidFill>
          <a:ln w="12700">
            <a:solidFill>
              <a:srgbClr val="F1F5F9"/>
            </a:solidFill>
            <a:prstDash val="solid"/>
          </a:ln>
        </p:spPr>
      </p:sp>
      <p:sp>
        <p:nvSpPr>
          <p:cNvPr id="15" name="Text 11"/>
          <p:cNvSpPr/>
          <p:nvPr/>
        </p:nvSpPr>
        <p:spPr>
          <a:xfrm>
            <a:off x="1097280" y="2103120"/>
            <a:ext cx="2194560" cy="411480"/>
          </a:xfrm>
          <a:prstGeom prst="rect">
            <a:avLst/>
          </a:prstGeom>
          <a:noFill/>
          <a:ln/>
        </p:spPr>
        <p:txBody>
          <a:bodyPr wrap="square" lIns="0" tIns="0" rIns="0" bIns="0"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READ highest = ₹500</a:t>
            </a:r>
            <a:endParaRPr lang="en-US" sz="1100" dirty="0"/>
          </a:p>
        </p:txBody>
      </p:sp>
      <p:sp>
        <p:nvSpPr>
          <p:cNvPr id="16" name="Shape 12"/>
          <p:cNvSpPr/>
          <p:nvPr/>
        </p:nvSpPr>
        <p:spPr>
          <a:xfrm>
            <a:off x="3474720" y="2103120"/>
            <a:ext cx="2194560" cy="411480"/>
          </a:xfrm>
          <a:prstGeom prst="roundRect">
            <a:avLst>
              <a:gd name="adj" fmla="val 17778"/>
            </a:avLst>
          </a:prstGeom>
          <a:solidFill>
            <a:srgbClr val="F1F5F9"/>
          </a:solidFill>
          <a:ln w="12700">
            <a:solidFill>
              <a:srgbClr val="F1F5F9"/>
            </a:solidFill>
            <a:prstDash val="solid"/>
          </a:ln>
        </p:spPr>
      </p:sp>
      <p:sp>
        <p:nvSpPr>
          <p:cNvPr id="17" name="Text 13"/>
          <p:cNvSpPr/>
          <p:nvPr/>
        </p:nvSpPr>
        <p:spPr>
          <a:xfrm>
            <a:off x="3474720" y="2103120"/>
            <a:ext cx="2194560" cy="411480"/>
          </a:xfrm>
          <a:prstGeom prst="rect">
            <a:avLst/>
          </a:prstGeom>
          <a:noFill/>
          <a:ln/>
        </p:spPr>
        <p:txBody>
          <a:bodyPr wrap="square" lIns="0" tIns="0" rIns="0" bIns="0"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READ highest = ₹500</a:t>
            </a:r>
            <a:endParaRPr lang="en-US" sz="1100" dirty="0"/>
          </a:p>
        </p:txBody>
      </p:sp>
      <p:sp>
        <p:nvSpPr>
          <p:cNvPr id="18" name="Text 14"/>
          <p:cNvSpPr/>
          <p:nvPr/>
        </p:nvSpPr>
        <p:spPr>
          <a:xfrm>
            <a:off x="457200" y="2633472"/>
            <a:ext cx="548640" cy="411480"/>
          </a:xfrm>
          <a:prstGeom prst="rect">
            <a:avLst/>
          </a:prstGeom>
          <a:noFill/>
          <a:ln/>
        </p:spPr>
        <p:txBody>
          <a:bodyPr wrap="square" lIns="0" tIns="0" rIns="0" bIns="0" rtlCol="0" anchor="ctr"/>
          <a:lstStyle/>
          <a:p>
            <a:pPr marL="0" indent="0" algn="r">
              <a:buNone/>
            </a:pPr>
            <a:r>
              <a:rPr lang="en-US" sz="1100" b="1" dirty="0">
                <a:solidFill>
                  <a:srgbClr val="64748B"/>
                </a:solidFill>
                <a:latin typeface="Calibri" pitchFamily="34" charset="0"/>
                <a:ea typeface="Calibri" pitchFamily="34" charset="-122"/>
                <a:cs typeface="Calibri" pitchFamily="34" charset="-120"/>
              </a:rPr>
              <a:t>t2</a:t>
            </a:r>
            <a:endParaRPr lang="en-US" sz="1100" dirty="0"/>
          </a:p>
        </p:txBody>
      </p:sp>
      <p:sp>
        <p:nvSpPr>
          <p:cNvPr id="19" name="Shape 15"/>
          <p:cNvSpPr/>
          <p:nvPr/>
        </p:nvSpPr>
        <p:spPr>
          <a:xfrm>
            <a:off x="1097280" y="2633472"/>
            <a:ext cx="2194560" cy="411480"/>
          </a:xfrm>
          <a:prstGeom prst="roundRect">
            <a:avLst>
              <a:gd name="adj" fmla="val 17778"/>
            </a:avLst>
          </a:prstGeom>
          <a:solidFill>
            <a:srgbClr val="F1F5F9"/>
          </a:solidFill>
          <a:ln w="12700">
            <a:solidFill>
              <a:srgbClr val="F1F5F9"/>
            </a:solidFill>
            <a:prstDash val="solid"/>
          </a:ln>
        </p:spPr>
      </p:sp>
      <p:sp>
        <p:nvSpPr>
          <p:cNvPr id="20" name="Text 16"/>
          <p:cNvSpPr/>
          <p:nvPr/>
        </p:nvSpPr>
        <p:spPr>
          <a:xfrm>
            <a:off x="1097280" y="2633472"/>
            <a:ext cx="2194560" cy="411480"/>
          </a:xfrm>
          <a:prstGeom prst="rect">
            <a:avLst/>
          </a:prstGeom>
          <a:noFill/>
          <a:ln/>
        </p:spPr>
        <p:txBody>
          <a:bodyPr wrap="square" lIns="0" tIns="0" rIns="0" bIns="0"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600 &gt; 500, looks valid</a:t>
            </a:r>
            <a:endParaRPr lang="en-US" sz="1100" dirty="0"/>
          </a:p>
        </p:txBody>
      </p:sp>
      <p:sp>
        <p:nvSpPr>
          <p:cNvPr id="21" name="Shape 17"/>
          <p:cNvSpPr/>
          <p:nvPr/>
        </p:nvSpPr>
        <p:spPr>
          <a:xfrm>
            <a:off x="3474720" y="2633472"/>
            <a:ext cx="2194560" cy="411480"/>
          </a:xfrm>
          <a:prstGeom prst="roundRect">
            <a:avLst>
              <a:gd name="adj" fmla="val 17778"/>
            </a:avLst>
          </a:prstGeom>
          <a:solidFill>
            <a:srgbClr val="F1F5F9"/>
          </a:solidFill>
          <a:ln w="12700">
            <a:solidFill>
              <a:srgbClr val="F1F5F9"/>
            </a:solidFill>
            <a:prstDash val="solid"/>
          </a:ln>
        </p:spPr>
      </p:sp>
      <p:sp>
        <p:nvSpPr>
          <p:cNvPr id="22" name="Text 18"/>
          <p:cNvSpPr/>
          <p:nvPr/>
        </p:nvSpPr>
        <p:spPr>
          <a:xfrm>
            <a:off x="3474720" y="2633472"/>
            <a:ext cx="2194560" cy="411480"/>
          </a:xfrm>
          <a:prstGeom prst="rect">
            <a:avLst/>
          </a:prstGeom>
          <a:noFill/>
          <a:ln/>
        </p:spPr>
        <p:txBody>
          <a:bodyPr wrap="square" lIns="0" tIns="0" rIns="0" bIns="0"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550 &gt; 500, looks valid</a:t>
            </a:r>
            <a:endParaRPr lang="en-US" sz="1100" dirty="0"/>
          </a:p>
        </p:txBody>
      </p:sp>
      <p:sp>
        <p:nvSpPr>
          <p:cNvPr id="23" name="Text 19"/>
          <p:cNvSpPr/>
          <p:nvPr/>
        </p:nvSpPr>
        <p:spPr>
          <a:xfrm>
            <a:off x="457200" y="3163824"/>
            <a:ext cx="548640" cy="411480"/>
          </a:xfrm>
          <a:prstGeom prst="rect">
            <a:avLst/>
          </a:prstGeom>
          <a:noFill/>
          <a:ln/>
        </p:spPr>
        <p:txBody>
          <a:bodyPr wrap="square" lIns="0" tIns="0" rIns="0" bIns="0" rtlCol="0" anchor="ctr"/>
          <a:lstStyle/>
          <a:p>
            <a:pPr marL="0" indent="0" algn="r">
              <a:buNone/>
            </a:pPr>
            <a:r>
              <a:rPr lang="en-US" sz="1100" b="1" dirty="0">
                <a:solidFill>
                  <a:srgbClr val="64748B"/>
                </a:solidFill>
                <a:latin typeface="Calibri" pitchFamily="34" charset="0"/>
                <a:ea typeface="Calibri" pitchFamily="34" charset="-122"/>
                <a:cs typeface="Calibri" pitchFamily="34" charset="-120"/>
              </a:rPr>
              <a:t>t3</a:t>
            </a:r>
            <a:endParaRPr lang="en-US" sz="1100" dirty="0"/>
          </a:p>
        </p:txBody>
      </p:sp>
      <p:sp>
        <p:nvSpPr>
          <p:cNvPr id="24" name="Shape 20"/>
          <p:cNvSpPr/>
          <p:nvPr/>
        </p:nvSpPr>
        <p:spPr>
          <a:xfrm>
            <a:off x="1097280" y="3163824"/>
            <a:ext cx="2194560" cy="411480"/>
          </a:xfrm>
          <a:prstGeom prst="roundRect">
            <a:avLst>
              <a:gd name="adj" fmla="val 17778"/>
            </a:avLst>
          </a:prstGeom>
          <a:solidFill>
            <a:srgbClr val="F1F5F9"/>
          </a:solidFill>
          <a:ln w="12700">
            <a:solidFill>
              <a:srgbClr val="F1F5F9"/>
            </a:solidFill>
            <a:prstDash val="solid"/>
          </a:ln>
        </p:spPr>
      </p:sp>
      <p:sp>
        <p:nvSpPr>
          <p:cNvPr id="25" name="Text 21"/>
          <p:cNvSpPr/>
          <p:nvPr/>
        </p:nvSpPr>
        <p:spPr>
          <a:xfrm>
            <a:off x="1097280" y="3163824"/>
            <a:ext cx="2194560" cy="411480"/>
          </a:xfrm>
          <a:prstGeom prst="rect">
            <a:avLst/>
          </a:prstGeom>
          <a:noFill/>
          <a:ln/>
        </p:spPr>
        <p:txBody>
          <a:bodyPr wrap="square" lIns="0" tIns="0" rIns="0" bIns="0"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WRITE highest = ₹600</a:t>
            </a:r>
            <a:endParaRPr lang="en-US" sz="1100" dirty="0"/>
          </a:p>
        </p:txBody>
      </p:sp>
      <p:sp>
        <p:nvSpPr>
          <p:cNvPr id="26" name="Text 22"/>
          <p:cNvSpPr/>
          <p:nvPr/>
        </p:nvSpPr>
        <p:spPr>
          <a:xfrm>
            <a:off x="457200" y="3694176"/>
            <a:ext cx="548640" cy="411480"/>
          </a:xfrm>
          <a:prstGeom prst="rect">
            <a:avLst/>
          </a:prstGeom>
          <a:noFill/>
          <a:ln/>
        </p:spPr>
        <p:txBody>
          <a:bodyPr wrap="square" lIns="0" tIns="0" rIns="0" bIns="0" rtlCol="0" anchor="ctr"/>
          <a:lstStyle/>
          <a:p>
            <a:pPr marL="0" indent="0" algn="r">
              <a:buNone/>
            </a:pPr>
            <a:r>
              <a:rPr lang="en-US" sz="1100" b="1" dirty="0">
                <a:solidFill>
                  <a:srgbClr val="64748B"/>
                </a:solidFill>
                <a:latin typeface="Calibri" pitchFamily="34" charset="0"/>
                <a:ea typeface="Calibri" pitchFamily="34" charset="-122"/>
                <a:cs typeface="Calibri" pitchFamily="34" charset="-120"/>
              </a:rPr>
              <a:t>t4</a:t>
            </a:r>
            <a:endParaRPr lang="en-US" sz="1100" dirty="0"/>
          </a:p>
        </p:txBody>
      </p:sp>
      <p:sp>
        <p:nvSpPr>
          <p:cNvPr id="27" name="Shape 23"/>
          <p:cNvSpPr/>
          <p:nvPr/>
        </p:nvSpPr>
        <p:spPr>
          <a:xfrm>
            <a:off x="3474720" y="3694176"/>
            <a:ext cx="2194560" cy="411480"/>
          </a:xfrm>
          <a:prstGeom prst="roundRect">
            <a:avLst>
              <a:gd name="adj" fmla="val 17778"/>
            </a:avLst>
          </a:prstGeom>
          <a:solidFill>
            <a:srgbClr val="FEE2E2"/>
          </a:solidFill>
          <a:ln w="12700">
            <a:solidFill>
              <a:srgbClr val="FEE2E2"/>
            </a:solidFill>
            <a:prstDash val="solid"/>
          </a:ln>
        </p:spPr>
      </p:sp>
      <p:sp>
        <p:nvSpPr>
          <p:cNvPr id="28" name="Text 24"/>
          <p:cNvSpPr/>
          <p:nvPr/>
        </p:nvSpPr>
        <p:spPr>
          <a:xfrm>
            <a:off x="3474720" y="3694176"/>
            <a:ext cx="2194560" cy="411480"/>
          </a:xfrm>
          <a:prstGeom prst="rect">
            <a:avLst/>
          </a:prstGeom>
          <a:noFill/>
          <a:ln/>
        </p:spPr>
        <p:txBody>
          <a:bodyPr wrap="square" lIns="0" tIns="0" rIns="0" bIns="0" rtlCol="0" anchor="ctr"/>
          <a:lstStyle/>
          <a:p>
            <a:pPr marL="0" indent="0" algn="ctr">
              <a:buNone/>
            </a:pPr>
            <a:r>
              <a:rPr lang="en-US" sz="1100" b="1" dirty="0">
                <a:solidFill>
                  <a:srgbClr val="B3122B"/>
                </a:solidFill>
                <a:latin typeface="Calibri" pitchFamily="34" charset="0"/>
                <a:ea typeface="Calibri" pitchFamily="34" charset="-122"/>
                <a:cs typeface="Calibri" pitchFamily="34" charset="-120"/>
              </a:rPr>
              <a:t>WRITE highest = ₹550</a:t>
            </a:r>
            <a:endParaRPr lang="en-US" sz="1100" dirty="0"/>
          </a:p>
        </p:txBody>
      </p:sp>
      <p:sp>
        <p:nvSpPr>
          <p:cNvPr id="29" name="Shape 25"/>
          <p:cNvSpPr/>
          <p:nvPr/>
        </p:nvSpPr>
        <p:spPr>
          <a:xfrm>
            <a:off x="1097280" y="4297680"/>
            <a:ext cx="4572000" cy="457200"/>
          </a:xfrm>
          <a:prstGeom prst="roundRect">
            <a:avLst>
              <a:gd name="adj" fmla="val 16000"/>
            </a:avLst>
          </a:prstGeom>
          <a:solidFill>
            <a:srgbClr val="FEE2E2"/>
          </a:solidFill>
          <a:ln w="12700">
            <a:solidFill>
              <a:srgbClr val="FEE2E2"/>
            </a:solidFill>
            <a:prstDash val="solid"/>
          </a:ln>
        </p:spPr>
      </p:sp>
      <p:sp>
        <p:nvSpPr>
          <p:cNvPr id="30" name="Text 26"/>
          <p:cNvSpPr/>
          <p:nvPr/>
        </p:nvSpPr>
        <p:spPr>
          <a:xfrm>
            <a:off x="1097280" y="4297680"/>
            <a:ext cx="4572000" cy="457200"/>
          </a:xfrm>
          <a:prstGeom prst="rect">
            <a:avLst/>
          </a:prstGeom>
          <a:noFill/>
          <a:ln/>
        </p:spPr>
        <p:txBody>
          <a:bodyPr wrap="square" lIns="0" tIns="0" rIns="0" bIns="0" rtlCol="0" anchor="ctr"/>
          <a:lstStyle/>
          <a:p>
            <a:pPr marL="0" indent="0" algn="ctr">
              <a:buNone/>
            </a:pPr>
            <a:r>
              <a:rPr lang="en-US" sz="1200" b="1" dirty="0">
                <a:solidFill>
                  <a:srgbClr val="B3122B"/>
                </a:solidFill>
                <a:latin typeface="Calibri" pitchFamily="34" charset="0"/>
                <a:ea typeface="Calibri" pitchFamily="34" charset="-122"/>
                <a:cs typeface="Calibri" pitchFamily="34" charset="-120"/>
              </a:rPr>
              <a:t>Database now holds ₹550: the lower bid overwrote the higher one</a:t>
            </a:r>
            <a:endParaRPr lang="en-US" sz="1200" dirty="0"/>
          </a:p>
        </p:txBody>
      </p:sp>
      <p:sp>
        <p:nvSpPr>
          <p:cNvPr id="31" name="Shape 27"/>
          <p:cNvSpPr/>
          <p:nvPr/>
        </p:nvSpPr>
        <p:spPr>
          <a:xfrm>
            <a:off x="6126480" y="1234440"/>
            <a:ext cx="2560320" cy="1600200"/>
          </a:xfrm>
          <a:prstGeom prst="roundRect">
            <a:avLst>
              <a:gd name="adj" fmla="val 4571"/>
            </a:avLst>
          </a:prstGeom>
          <a:solidFill>
            <a:srgbClr val="F1F5F9"/>
          </a:solidFill>
          <a:ln w="12700">
            <a:solidFill>
              <a:srgbClr val="F1F5F9"/>
            </a:solidFill>
            <a:prstDash val="solid"/>
          </a:ln>
        </p:spPr>
      </p:sp>
      <p:sp>
        <p:nvSpPr>
          <p:cNvPr id="32" name="Text 28"/>
          <p:cNvSpPr/>
          <p:nvPr/>
        </p:nvSpPr>
        <p:spPr>
          <a:xfrm>
            <a:off x="6263640" y="1325880"/>
            <a:ext cx="2286000" cy="274320"/>
          </a:xfrm>
          <a:prstGeom prst="rect">
            <a:avLst/>
          </a:prstGeom>
          <a:noFill/>
          <a:ln/>
        </p:spPr>
        <p:txBody>
          <a:bodyPr wrap="square" lIns="0" tIns="0" rIns="0" bIns="0" rtlCol="0" anchor="ctr"/>
          <a:lstStyle/>
          <a:p>
            <a:pPr marL="0" indent="0">
              <a:buNone/>
            </a:pPr>
            <a:r>
              <a:rPr lang="en-US" sz="1300" b="1" dirty="0">
                <a:solidFill>
                  <a:srgbClr val="0B6FB8"/>
                </a:solidFill>
                <a:latin typeface="Calibri" pitchFamily="34" charset="0"/>
                <a:ea typeface="Calibri" pitchFamily="34" charset="-122"/>
                <a:cs typeface="Calibri" pitchFamily="34" charset="-120"/>
              </a:rPr>
              <a:t>Root cause</a:t>
            </a:r>
            <a:endParaRPr lang="en-US" sz="1300" dirty="0"/>
          </a:p>
        </p:txBody>
      </p:sp>
      <p:sp>
        <p:nvSpPr>
          <p:cNvPr id="33" name="Text 29"/>
          <p:cNvSpPr/>
          <p:nvPr/>
        </p:nvSpPr>
        <p:spPr>
          <a:xfrm>
            <a:off x="6263640" y="1645920"/>
            <a:ext cx="2286000" cy="1097280"/>
          </a:xfrm>
          <a:prstGeom prst="rect">
            <a:avLst/>
          </a:prstGeom>
          <a:noFill/>
          <a:ln/>
        </p:spPr>
        <p:txBody>
          <a:bodyPr wrap="square" lIns="0" tIns="0" rIns="0" bIns="0" rtlCol="0" anchor="t"/>
          <a:lstStyle/>
          <a:p>
            <a:pPr marL="0" indent="0">
              <a:buNone/>
            </a:pPr>
            <a:r>
              <a:rPr lang="en-US" sz="1150" dirty="0">
                <a:solidFill>
                  <a:srgbClr val="1E293B"/>
                </a:solidFill>
                <a:latin typeface="Calibri" pitchFamily="34" charset="0"/>
                <a:ea typeface="Calibri" pitchFamily="34" charset="-122"/>
                <a:cs typeface="Calibri" pitchFamily="34" charset="-120"/>
              </a:rPr>
              <a:t>Read, check and write are separate, unsynchronised steps. Nothing locks the auction row between them.</a:t>
            </a:r>
            <a:endParaRPr lang="en-US" sz="1150" dirty="0"/>
          </a:p>
        </p:txBody>
      </p:sp>
      <p:sp>
        <p:nvSpPr>
          <p:cNvPr id="34" name="Shape 30"/>
          <p:cNvSpPr/>
          <p:nvPr/>
        </p:nvSpPr>
        <p:spPr>
          <a:xfrm>
            <a:off x="6126480" y="3017520"/>
            <a:ext cx="2560320" cy="1737360"/>
          </a:xfrm>
          <a:prstGeom prst="roundRect">
            <a:avLst>
              <a:gd name="adj" fmla="val 4211"/>
            </a:avLst>
          </a:prstGeom>
          <a:solidFill>
            <a:srgbClr val="FEF2F2"/>
          </a:solidFill>
          <a:ln w="12700">
            <a:solidFill>
              <a:srgbClr val="FEF2F2"/>
            </a:solidFill>
            <a:prstDash val="solid"/>
          </a:ln>
        </p:spPr>
      </p:sp>
      <p:sp>
        <p:nvSpPr>
          <p:cNvPr id="35" name="Text 31"/>
          <p:cNvSpPr/>
          <p:nvPr/>
        </p:nvSpPr>
        <p:spPr>
          <a:xfrm>
            <a:off x="6217920" y="3108960"/>
            <a:ext cx="2377440" cy="685800"/>
          </a:xfrm>
          <a:prstGeom prst="rect">
            <a:avLst/>
          </a:prstGeom>
          <a:noFill/>
          <a:ln/>
        </p:spPr>
        <p:txBody>
          <a:bodyPr wrap="square" lIns="0" tIns="0" rIns="0" bIns="0" rtlCol="0" anchor="ctr"/>
          <a:lstStyle/>
          <a:p>
            <a:pPr marL="0" indent="0" algn="ctr">
              <a:buNone/>
            </a:pPr>
            <a:r>
              <a:rPr lang="en-US" sz="3800" b="1" dirty="0">
                <a:solidFill>
                  <a:srgbClr val="B3122B"/>
                </a:solidFill>
                <a:latin typeface="Cambria" pitchFamily="34" charset="0"/>
                <a:ea typeface="Cambria" pitchFamily="34" charset="-122"/>
                <a:cs typeface="Cambria" pitchFamily="34" charset="-120"/>
              </a:rPr>
              <a:t>8 / 10</a:t>
            </a:r>
            <a:endParaRPr lang="en-US" sz="3800" dirty="0"/>
          </a:p>
        </p:txBody>
      </p:sp>
      <p:sp>
        <p:nvSpPr>
          <p:cNvPr id="36" name="Text 32"/>
          <p:cNvSpPr/>
          <p:nvPr/>
        </p:nvSpPr>
        <p:spPr>
          <a:xfrm>
            <a:off x="6309360" y="3840480"/>
            <a:ext cx="2194560" cy="822960"/>
          </a:xfrm>
          <a:prstGeom prst="rect">
            <a:avLst/>
          </a:prstGeom>
          <a:noFill/>
          <a:ln/>
        </p:spPr>
        <p:txBody>
          <a:bodyPr wrap="square" lIns="0" tIns="0" rIns="0" bIns="0" rtlCol="0" anchor="t"/>
          <a:lstStyle/>
          <a:p>
            <a:pPr marL="0" indent="0" algn="ctr">
              <a:buNone/>
            </a:pPr>
            <a:r>
              <a:rPr lang="en-US" sz="1100" dirty="0">
                <a:solidFill>
                  <a:srgbClr val="1E293B"/>
                </a:solidFill>
                <a:latin typeface="Calibri" pitchFamily="34" charset="0"/>
                <a:ea typeface="Calibri" pitchFamily="34" charset="-122"/>
                <a:cs typeface="Calibri" pitchFamily="34" charset="-120"/>
              </a:rPr>
              <a:t>rounds ended with a wrong highest bid when we ran it ourselves (20 bidders)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7406640" cy="502920"/>
          </a:xfrm>
          <a:prstGeom prst="rect">
            <a:avLst/>
          </a:prstGeom>
          <a:noFill/>
          <a:ln/>
        </p:spPr>
        <p:txBody>
          <a:bodyPr wrap="square" lIns="0" tIns="0" rIns="0" bIns="0" rtlCol="0" anchor="ctr"/>
          <a:lstStyle/>
          <a:p>
            <a:pPr marL="0" indent="0">
              <a:buNone/>
            </a:pPr>
            <a:r>
              <a:rPr lang="en-US" sz="2600" b="1" dirty="0">
                <a:solidFill>
                  <a:srgbClr val="0F2A4A"/>
                </a:solidFill>
                <a:latin typeface="Cambria" pitchFamily="34" charset="0"/>
                <a:ea typeface="Cambria" pitchFamily="34" charset="-122"/>
                <a:cs typeface="Cambria" pitchFamily="34" charset="-120"/>
              </a:rPr>
              <a:t>Our Solution: One Atomic Transaction</a:t>
            </a:r>
            <a:endParaRPr lang="en-US" sz="2600" dirty="0"/>
          </a:p>
        </p:txBody>
      </p:sp>
      <p:sp>
        <p:nvSpPr>
          <p:cNvPr id="3" name="Text 1"/>
          <p:cNvSpPr/>
          <p:nvPr/>
        </p:nvSpPr>
        <p:spPr>
          <a:xfrm>
            <a:off x="457200" y="777240"/>
            <a:ext cx="7406640" cy="274320"/>
          </a:xfrm>
          <a:prstGeom prst="rect">
            <a:avLst/>
          </a:prstGeom>
          <a:noFill/>
          <a:ln/>
        </p:spPr>
        <p:txBody>
          <a:bodyPr wrap="square" lIns="0" tIns="0" rIns="0" bIns="0" rtlCol="0" anchor="ctr"/>
          <a:lstStyle/>
          <a:p>
            <a:pPr marL="0" indent="0">
              <a:buNone/>
            </a:pPr>
            <a:r>
              <a:rPr lang="en-US" sz="1250" dirty="0">
                <a:solidFill>
                  <a:srgbClr val="64748B"/>
                </a:solidFill>
                <a:latin typeface="Calibri" pitchFamily="34" charset="0"/>
                <a:ea typeface="Calibri" pitchFamily="34" charset="-122"/>
                <a:cs typeface="Calibri" pitchFamily="34" charset="-120"/>
              </a:rPr>
              <a:t>Bid validation and update happen under a row lock, so only one bid is processed at a time</a:t>
            </a:r>
            <a:endParaRPr lang="en-US" sz="1250" dirty="0"/>
          </a:p>
        </p:txBody>
      </p:sp>
      <p:pic>
        <p:nvPicPr>
          <p:cNvPr id="4" name="Image 0" descr="/home/claude/deck/logo.png"/>
          <p:cNvPicPr>
            <a:picLocks noChangeAspect="1"/>
          </p:cNvPicPr>
          <p:nvPr/>
        </p:nvPicPr>
        <p:blipFill>
          <a:blip r:embed="rId3"/>
          <a:stretch>
            <a:fillRect/>
          </a:stretch>
        </p:blipFill>
        <p:spPr>
          <a:xfrm>
            <a:off x="7955280" y="201168"/>
            <a:ext cx="822960" cy="390599"/>
          </a:xfrm>
          <a:prstGeom prst="rect">
            <a:avLst/>
          </a:prstGeom>
        </p:spPr>
      </p:pic>
      <p:sp>
        <p:nvSpPr>
          <p:cNvPr id="5" name="Text 2"/>
          <p:cNvSpPr/>
          <p:nvPr/>
        </p:nvSpPr>
        <p:spPr>
          <a:xfrm>
            <a:off x="457200" y="4828032"/>
            <a:ext cx="54864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Team 22  |  Final Review  |  DBDSE (25CS1302E)</a:t>
            </a:r>
            <a:endParaRPr lang="en-US" sz="900" dirty="0"/>
          </a:p>
        </p:txBody>
      </p:sp>
      <p:sp>
        <p:nvSpPr>
          <p:cNvPr id="6" name="Text 3"/>
          <p:cNvSpPr/>
          <p:nvPr/>
        </p:nvSpPr>
        <p:spPr>
          <a:xfrm>
            <a:off x="8229600" y="4828032"/>
            <a:ext cx="45720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
        <p:nvSpPr>
          <p:cNvPr id="8" name="Shape 4"/>
          <p:cNvSpPr/>
          <p:nvPr/>
        </p:nvSpPr>
        <p:spPr>
          <a:xfrm>
            <a:off x="457200" y="1325880"/>
            <a:ext cx="1554480" cy="1737360"/>
          </a:xfrm>
          <a:prstGeom prst="roundRect">
            <a:avLst>
              <a:gd name="adj" fmla="val 4706"/>
            </a:avLst>
          </a:prstGeom>
          <a:solidFill>
            <a:srgbClr val="F1F5F9"/>
          </a:solidFill>
          <a:ln w="12700">
            <a:solidFill>
              <a:srgbClr val="F1F5F9"/>
            </a:solidFill>
            <a:prstDash val="solid"/>
          </a:ln>
        </p:spPr>
      </p:sp>
      <p:sp>
        <p:nvSpPr>
          <p:cNvPr id="9" name="Shape 5"/>
          <p:cNvSpPr/>
          <p:nvPr/>
        </p:nvSpPr>
        <p:spPr>
          <a:xfrm>
            <a:off x="585216" y="1453896"/>
            <a:ext cx="310896" cy="310896"/>
          </a:xfrm>
          <a:prstGeom prst="ellipse">
            <a:avLst/>
          </a:prstGeom>
          <a:solidFill>
            <a:srgbClr val="0B6FB8"/>
          </a:solidFill>
          <a:ln w="12700">
            <a:solidFill>
              <a:srgbClr val="0B6FB8"/>
            </a:solidFill>
            <a:prstDash val="solid"/>
          </a:ln>
        </p:spPr>
      </p:sp>
      <p:sp>
        <p:nvSpPr>
          <p:cNvPr id="10" name="Text 6"/>
          <p:cNvSpPr/>
          <p:nvPr/>
        </p:nvSpPr>
        <p:spPr>
          <a:xfrm>
            <a:off x="585216" y="145389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7"/>
          <p:cNvSpPr/>
          <p:nvPr/>
        </p:nvSpPr>
        <p:spPr>
          <a:xfrm>
            <a:off x="585216" y="1874520"/>
            <a:ext cx="1298448" cy="292608"/>
          </a:xfrm>
          <a:prstGeom prst="rect">
            <a:avLst/>
          </a:prstGeom>
          <a:noFill/>
          <a:ln/>
        </p:spPr>
        <p:txBody>
          <a:bodyPr wrap="square" lIns="0" tIns="0" rIns="0" bIns="0" rtlCol="0" anchor="ctr"/>
          <a:lstStyle/>
          <a:p>
            <a:pPr marL="0" indent="0">
              <a:buNone/>
            </a:pPr>
            <a:r>
              <a:rPr lang="en-US" sz="1400" b="1" dirty="0">
                <a:solidFill>
                  <a:srgbClr val="0F2A4A"/>
                </a:solidFill>
                <a:latin typeface="Calibri" pitchFamily="34" charset="0"/>
                <a:ea typeface="Calibri" pitchFamily="34" charset="-122"/>
                <a:cs typeface="Calibri" pitchFamily="34" charset="-120"/>
              </a:rPr>
              <a:t>BEGIN</a:t>
            </a:r>
            <a:endParaRPr lang="en-US" sz="1400" dirty="0"/>
          </a:p>
        </p:txBody>
      </p:sp>
      <p:sp>
        <p:nvSpPr>
          <p:cNvPr id="12" name="Text 8"/>
          <p:cNvSpPr/>
          <p:nvPr/>
        </p:nvSpPr>
        <p:spPr>
          <a:xfrm>
            <a:off x="585216" y="2212848"/>
            <a:ext cx="1298448" cy="777240"/>
          </a:xfrm>
          <a:prstGeom prst="rect">
            <a:avLst/>
          </a:prstGeom>
          <a:noFill/>
          <a:ln/>
        </p:spPr>
        <p:txBody>
          <a:bodyPr wrap="square" lIns="0" tIns="0" rIns="0" bIns="0" rtlCol="0" anchor="t"/>
          <a:lstStyle/>
          <a:p>
            <a:pPr marL="0" indent="0">
              <a:buNone/>
            </a:pPr>
            <a:r>
              <a:rPr lang="en-US" sz="1050" dirty="0">
                <a:solidFill>
                  <a:srgbClr val="1E293B"/>
                </a:solidFill>
                <a:latin typeface="Calibri" pitchFamily="34" charset="0"/>
                <a:ea typeface="Calibri" pitchFamily="34" charset="-122"/>
                <a:cs typeface="Calibri" pitchFamily="34" charset="-120"/>
              </a:rPr>
              <a:t>Start one MySQL transaction on a pooled connection.</a:t>
            </a:r>
            <a:endParaRPr lang="en-US" sz="1050" dirty="0"/>
          </a:p>
        </p:txBody>
      </p:sp>
      <p:sp>
        <p:nvSpPr>
          <p:cNvPr id="13" name="Shape 9"/>
          <p:cNvSpPr/>
          <p:nvPr/>
        </p:nvSpPr>
        <p:spPr>
          <a:xfrm>
            <a:off x="2125980" y="1325880"/>
            <a:ext cx="1554480" cy="1737360"/>
          </a:xfrm>
          <a:prstGeom prst="roundRect">
            <a:avLst>
              <a:gd name="adj" fmla="val 4706"/>
            </a:avLst>
          </a:prstGeom>
          <a:solidFill>
            <a:srgbClr val="F1F5F9"/>
          </a:solidFill>
          <a:ln w="12700">
            <a:solidFill>
              <a:srgbClr val="F1F5F9"/>
            </a:solidFill>
            <a:prstDash val="solid"/>
          </a:ln>
        </p:spPr>
      </p:sp>
      <p:sp>
        <p:nvSpPr>
          <p:cNvPr id="14" name="Shape 10"/>
          <p:cNvSpPr/>
          <p:nvPr/>
        </p:nvSpPr>
        <p:spPr>
          <a:xfrm>
            <a:off x="2253996" y="1453896"/>
            <a:ext cx="310896" cy="310896"/>
          </a:xfrm>
          <a:prstGeom prst="ellipse">
            <a:avLst/>
          </a:prstGeom>
          <a:solidFill>
            <a:srgbClr val="0B6FB8"/>
          </a:solidFill>
          <a:ln w="12700">
            <a:solidFill>
              <a:srgbClr val="0B6FB8"/>
            </a:solidFill>
            <a:prstDash val="solid"/>
          </a:ln>
        </p:spPr>
      </p:sp>
      <p:sp>
        <p:nvSpPr>
          <p:cNvPr id="15" name="Text 11"/>
          <p:cNvSpPr/>
          <p:nvPr/>
        </p:nvSpPr>
        <p:spPr>
          <a:xfrm>
            <a:off x="2253996" y="145389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6" name="Text 12"/>
          <p:cNvSpPr/>
          <p:nvPr/>
        </p:nvSpPr>
        <p:spPr>
          <a:xfrm>
            <a:off x="2253996" y="1874520"/>
            <a:ext cx="1298448" cy="292608"/>
          </a:xfrm>
          <a:prstGeom prst="rect">
            <a:avLst/>
          </a:prstGeom>
          <a:noFill/>
          <a:ln/>
        </p:spPr>
        <p:txBody>
          <a:bodyPr wrap="square" lIns="0" tIns="0" rIns="0" bIns="0" rtlCol="0" anchor="ctr"/>
          <a:lstStyle/>
          <a:p>
            <a:pPr marL="0" indent="0">
              <a:buNone/>
            </a:pPr>
            <a:r>
              <a:rPr lang="en-US" sz="1400" b="1" dirty="0">
                <a:solidFill>
                  <a:srgbClr val="0F2A4A"/>
                </a:solidFill>
                <a:latin typeface="Calibri" pitchFamily="34" charset="0"/>
                <a:ea typeface="Calibri" pitchFamily="34" charset="-122"/>
                <a:cs typeface="Calibri" pitchFamily="34" charset="-120"/>
              </a:rPr>
              <a:t>LOCK</a:t>
            </a:r>
            <a:endParaRPr lang="en-US" sz="1400" dirty="0"/>
          </a:p>
        </p:txBody>
      </p:sp>
      <p:sp>
        <p:nvSpPr>
          <p:cNvPr id="17" name="Text 13"/>
          <p:cNvSpPr/>
          <p:nvPr/>
        </p:nvSpPr>
        <p:spPr>
          <a:xfrm>
            <a:off x="2253996" y="2212848"/>
            <a:ext cx="1298448" cy="777240"/>
          </a:xfrm>
          <a:prstGeom prst="rect">
            <a:avLst/>
          </a:prstGeom>
          <a:noFill/>
          <a:ln/>
        </p:spPr>
        <p:txBody>
          <a:bodyPr wrap="square" lIns="0" tIns="0" rIns="0" bIns="0" rtlCol="0" anchor="t"/>
          <a:lstStyle/>
          <a:p>
            <a:pPr marL="0" indent="0">
              <a:buNone/>
            </a:pPr>
            <a:r>
              <a:rPr lang="en-US" sz="1050" dirty="0">
                <a:solidFill>
                  <a:srgbClr val="1E293B"/>
                </a:solidFill>
                <a:latin typeface="Calibri" pitchFamily="34" charset="0"/>
                <a:ea typeface="Calibri" pitchFamily="34" charset="-122"/>
                <a:cs typeface="Calibri" pitchFamily="34" charset="-120"/>
              </a:rPr>
              <a:t>SELECT … FOR UPDATE takes a row lock on the auction.</a:t>
            </a:r>
            <a:endParaRPr lang="en-US" sz="1050" dirty="0"/>
          </a:p>
        </p:txBody>
      </p:sp>
      <p:sp>
        <p:nvSpPr>
          <p:cNvPr id="18" name="Shape 14"/>
          <p:cNvSpPr/>
          <p:nvPr/>
        </p:nvSpPr>
        <p:spPr>
          <a:xfrm>
            <a:off x="3794760" y="1325880"/>
            <a:ext cx="1554480" cy="1737360"/>
          </a:xfrm>
          <a:prstGeom prst="roundRect">
            <a:avLst>
              <a:gd name="adj" fmla="val 4706"/>
            </a:avLst>
          </a:prstGeom>
          <a:solidFill>
            <a:srgbClr val="F1F5F9"/>
          </a:solidFill>
          <a:ln w="12700">
            <a:solidFill>
              <a:srgbClr val="F1F5F9"/>
            </a:solidFill>
            <a:prstDash val="solid"/>
          </a:ln>
        </p:spPr>
      </p:sp>
      <p:sp>
        <p:nvSpPr>
          <p:cNvPr id="19" name="Shape 15"/>
          <p:cNvSpPr/>
          <p:nvPr/>
        </p:nvSpPr>
        <p:spPr>
          <a:xfrm>
            <a:off x="3922776" y="1453896"/>
            <a:ext cx="310896" cy="310896"/>
          </a:xfrm>
          <a:prstGeom prst="ellipse">
            <a:avLst/>
          </a:prstGeom>
          <a:solidFill>
            <a:srgbClr val="0B6FB8"/>
          </a:solidFill>
          <a:ln w="12700">
            <a:solidFill>
              <a:srgbClr val="0B6FB8"/>
            </a:solidFill>
            <a:prstDash val="solid"/>
          </a:ln>
        </p:spPr>
      </p:sp>
      <p:sp>
        <p:nvSpPr>
          <p:cNvPr id="20" name="Text 16"/>
          <p:cNvSpPr/>
          <p:nvPr/>
        </p:nvSpPr>
        <p:spPr>
          <a:xfrm>
            <a:off x="3922776" y="145389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1" name="Text 17"/>
          <p:cNvSpPr/>
          <p:nvPr/>
        </p:nvSpPr>
        <p:spPr>
          <a:xfrm>
            <a:off x="3922776" y="1874520"/>
            <a:ext cx="1298448" cy="292608"/>
          </a:xfrm>
          <a:prstGeom prst="rect">
            <a:avLst/>
          </a:prstGeom>
          <a:noFill/>
          <a:ln/>
        </p:spPr>
        <p:txBody>
          <a:bodyPr wrap="square" lIns="0" tIns="0" rIns="0" bIns="0" rtlCol="0" anchor="ctr"/>
          <a:lstStyle/>
          <a:p>
            <a:pPr marL="0" indent="0">
              <a:buNone/>
            </a:pPr>
            <a:r>
              <a:rPr lang="en-US" sz="1400" b="1" dirty="0">
                <a:solidFill>
                  <a:srgbClr val="0F2A4A"/>
                </a:solidFill>
                <a:latin typeface="Calibri" pitchFamily="34" charset="0"/>
                <a:ea typeface="Calibri" pitchFamily="34" charset="-122"/>
                <a:cs typeface="Calibri" pitchFamily="34" charset="-120"/>
              </a:rPr>
              <a:t>VALIDATE</a:t>
            </a:r>
            <a:endParaRPr lang="en-US" sz="1400" dirty="0"/>
          </a:p>
        </p:txBody>
      </p:sp>
      <p:sp>
        <p:nvSpPr>
          <p:cNvPr id="22" name="Text 18"/>
          <p:cNvSpPr/>
          <p:nvPr/>
        </p:nvSpPr>
        <p:spPr>
          <a:xfrm>
            <a:off x="3922776" y="2212848"/>
            <a:ext cx="1298448" cy="777240"/>
          </a:xfrm>
          <a:prstGeom prst="rect">
            <a:avLst/>
          </a:prstGeom>
          <a:noFill/>
          <a:ln/>
        </p:spPr>
        <p:txBody>
          <a:bodyPr wrap="square" lIns="0" tIns="0" rIns="0" bIns="0" rtlCol="0" anchor="t"/>
          <a:lstStyle/>
          <a:p>
            <a:pPr marL="0" indent="0">
              <a:buNone/>
            </a:pPr>
            <a:r>
              <a:rPr lang="en-US" sz="1050" dirty="0">
                <a:solidFill>
                  <a:srgbClr val="1E293B"/>
                </a:solidFill>
                <a:latin typeface="Calibri" pitchFamily="34" charset="0"/>
                <a:ea typeface="Calibri" pitchFamily="34" charset="-122"/>
                <a:cs typeface="Calibri" pitchFamily="34" charset="-120"/>
              </a:rPr>
              <a:t>Check status, end time and amount against the locked value.</a:t>
            </a:r>
            <a:endParaRPr lang="en-US" sz="1050" dirty="0"/>
          </a:p>
        </p:txBody>
      </p:sp>
      <p:sp>
        <p:nvSpPr>
          <p:cNvPr id="23" name="Shape 19"/>
          <p:cNvSpPr/>
          <p:nvPr/>
        </p:nvSpPr>
        <p:spPr>
          <a:xfrm>
            <a:off x="5463540" y="1325880"/>
            <a:ext cx="1554480" cy="1737360"/>
          </a:xfrm>
          <a:prstGeom prst="roundRect">
            <a:avLst>
              <a:gd name="adj" fmla="val 4706"/>
            </a:avLst>
          </a:prstGeom>
          <a:solidFill>
            <a:srgbClr val="F1F5F9"/>
          </a:solidFill>
          <a:ln w="12700">
            <a:solidFill>
              <a:srgbClr val="F1F5F9"/>
            </a:solidFill>
            <a:prstDash val="solid"/>
          </a:ln>
        </p:spPr>
      </p:sp>
      <p:sp>
        <p:nvSpPr>
          <p:cNvPr id="24" name="Shape 20"/>
          <p:cNvSpPr/>
          <p:nvPr/>
        </p:nvSpPr>
        <p:spPr>
          <a:xfrm>
            <a:off x="5591556" y="1453896"/>
            <a:ext cx="310896" cy="310896"/>
          </a:xfrm>
          <a:prstGeom prst="ellipse">
            <a:avLst/>
          </a:prstGeom>
          <a:solidFill>
            <a:srgbClr val="0B6FB8"/>
          </a:solidFill>
          <a:ln w="12700">
            <a:solidFill>
              <a:srgbClr val="0B6FB8"/>
            </a:solidFill>
            <a:prstDash val="solid"/>
          </a:ln>
        </p:spPr>
      </p:sp>
      <p:sp>
        <p:nvSpPr>
          <p:cNvPr id="25" name="Text 21"/>
          <p:cNvSpPr/>
          <p:nvPr/>
        </p:nvSpPr>
        <p:spPr>
          <a:xfrm>
            <a:off x="5591556" y="145389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2"/>
          <p:cNvSpPr/>
          <p:nvPr/>
        </p:nvSpPr>
        <p:spPr>
          <a:xfrm>
            <a:off x="5591556" y="1874520"/>
            <a:ext cx="1298448" cy="292608"/>
          </a:xfrm>
          <a:prstGeom prst="rect">
            <a:avLst/>
          </a:prstGeom>
          <a:noFill/>
          <a:ln/>
        </p:spPr>
        <p:txBody>
          <a:bodyPr wrap="square" lIns="0" tIns="0" rIns="0" bIns="0" rtlCol="0" anchor="ctr"/>
          <a:lstStyle/>
          <a:p>
            <a:pPr marL="0" indent="0">
              <a:buNone/>
            </a:pPr>
            <a:r>
              <a:rPr lang="en-US" sz="1400" b="1" dirty="0">
                <a:solidFill>
                  <a:srgbClr val="0F2A4A"/>
                </a:solidFill>
                <a:latin typeface="Calibri" pitchFamily="34" charset="0"/>
                <a:ea typeface="Calibri" pitchFamily="34" charset="-122"/>
                <a:cs typeface="Calibri" pitchFamily="34" charset="-120"/>
              </a:rPr>
              <a:t>WRITE</a:t>
            </a:r>
            <a:endParaRPr lang="en-US" sz="1400" dirty="0"/>
          </a:p>
        </p:txBody>
      </p:sp>
      <p:sp>
        <p:nvSpPr>
          <p:cNvPr id="27" name="Text 23"/>
          <p:cNvSpPr/>
          <p:nvPr/>
        </p:nvSpPr>
        <p:spPr>
          <a:xfrm>
            <a:off x="5591556" y="2212848"/>
            <a:ext cx="1298448" cy="777240"/>
          </a:xfrm>
          <a:prstGeom prst="rect">
            <a:avLst/>
          </a:prstGeom>
          <a:noFill/>
          <a:ln/>
        </p:spPr>
        <p:txBody>
          <a:bodyPr wrap="square" lIns="0" tIns="0" rIns="0" bIns="0" rtlCol="0" anchor="t"/>
          <a:lstStyle/>
          <a:p>
            <a:pPr marL="0" indent="0">
              <a:buNone/>
            </a:pPr>
            <a:r>
              <a:rPr lang="en-US" sz="1050" dirty="0">
                <a:solidFill>
                  <a:srgbClr val="1E293B"/>
                </a:solidFill>
                <a:latin typeface="Calibri" pitchFamily="34" charset="0"/>
                <a:ea typeface="Calibri" pitchFamily="34" charset="-122"/>
                <a:cs typeface="Calibri" pitchFamily="34" charset="-120"/>
              </a:rPr>
              <a:t>UPDATE the highest bid and INSERT the bid record together.</a:t>
            </a:r>
            <a:endParaRPr lang="en-US" sz="1050" dirty="0"/>
          </a:p>
        </p:txBody>
      </p:sp>
      <p:sp>
        <p:nvSpPr>
          <p:cNvPr id="28" name="Shape 24"/>
          <p:cNvSpPr/>
          <p:nvPr/>
        </p:nvSpPr>
        <p:spPr>
          <a:xfrm>
            <a:off x="7132320" y="1325880"/>
            <a:ext cx="1554480" cy="1737360"/>
          </a:xfrm>
          <a:prstGeom prst="roundRect">
            <a:avLst>
              <a:gd name="adj" fmla="val 4706"/>
            </a:avLst>
          </a:prstGeom>
          <a:solidFill>
            <a:srgbClr val="F1F5F9"/>
          </a:solidFill>
          <a:ln w="12700">
            <a:solidFill>
              <a:srgbClr val="F1F5F9"/>
            </a:solidFill>
            <a:prstDash val="solid"/>
          </a:ln>
        </p:spPr>
      </p:sp>
      <p:sp>
        <p:nvSpPr>
          <p:cNvPr id="29" name="Shape 25"/>
          <p:cNvSpPr/>
          <p:nvPr/>
        </p:nvSpPr>
        <p:spPr>
          <a:xfrm>
            <a:off x="7260336" y="1453896"/>
            <a:ext cx="310896" cy="310896"/>
          </a:xfrm>
          <a:prstGeom prst="ellipse">
            <a:avLst/>
          </a:prstGeom>
          <a:solidFill>
            <a:srgbClr val="0B6FB8"/>
          </a:solidFill>
          <a:ln w="12700">
            <a:solidFill>
              <a:srgbClr val="0B6FB8"/>
            </a:solidFill>
            <a:prstDash val="solid"/>
          </a:ln>
        </p:spPr>
      </p:sp>
      <p:sp>
        <p:nvSpPr>
          <p:cNvPr id="30" name="Text 26"/>
          <p:cNvSpPr/>
          <p:nvPr/>
        </p:nvSpPr>
        <p:spPr>
          <a:xfrm>
            <a:off x="7260336" y="145389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1" name="Text 27"/>
          <p:cNvSpPr/>
          <p:nvPr/>
        </p:nvSpPr>
        <p:spPr>
          <a:xfrm>
            <a:off x="7260336" y="1874520"/>
            <a:ext cx="1298448" cy="292608"/>
          </a:xfrm>
          <a:prstGeom prst="rect">
            <a:avLst/>
          </a:prstGeom>
          <a:noFill/>
          <a:ln/>
        </p:spPr>
        <p:txBody>
          <a:bodyPr wrap="square" lIns="0" tIns="0" rIns="0" bIns="0" rtlCol="0" anchor="ctr"/>
          <a:lstStyle/>
          <a:p>
            <a:pPr marL="0" indent="0">
              <a:buNone/>
            </a:pPr>
            <a:r>
              <a:rPr lang="en-US" sz="1400" b="1" dirty="0">
                <a:solidFill>
                  <a:srgbClr val="0F2A4A"/>
                </a:solidFill>
                <a:latin typeface="Calibri" pitchFamily="34" charset="0"/>
                <a:ea typeface="Calibri" pitchFamily="34" charset="-122"/>
                <a:cs typeface="Calibri" pitchFamily="34" charset="-120"/>
              </a:rPr>
              <a:t>COMMIT</a:t>
            </a:r>
            <a:endParaRPr lang="en-US" sz="1400" dirty="0"/>
          </a:p>
        </p:txBody>
      </p:sp>
      <p:sp>
        <p:nvSpPr>
          <p:cNvPr id="32" name="Text 28"/>
          <p:cNvSpPr/>
          <p:nvPr/>
        </p:nvSpPr>
        <p:spPr>
          <a:xfrm>
            <a:off x="7260336" y="2212848"/>
            <a:ext cx="1298448" cy="777240"/>
          </a:xfrm>
          <a:prstGeom prst="rect">
            <a:avLst/>
          </a:prstGeom>
          <a:noFill/>
          <a:ln/>
        </p:spPr>
        <p:txBody>
          <a:bodyPr wrap="square" lIns="0" tIns="0" rIns="0" bIns="0" rtlCol="0" anchor="t"/>
          <a:lstStyle/>
          <a:p>
            <a:pPr marL="0" indent="0">
              <a:buNone/>
            </a:pPr>
            <a:r>
              <a:rPr lang="en-US" sz="1050" dirty="0">
                <a:solidFill>
                  <a:srgbClr val="1E293B"/>
                </a:solidFill>
                <a:latin typeface="Calibri" pitchFamily="34" charset="0"/>
                <a:ea typeface="Calibri" pitchFamily="34" charset="-122"/>
                <a:cs typeface="Calibri" pitchFamily="34" charset="-120"/>
              </a:rPr>
              <a:t>Lock released; Socket.IO pushes bid_update to all watchers.</a:t>
            </a:r>
            <a:endParaRPr lang="en-US" sz="1050" dirty="0"/>
          </a:p>
        </p:txBody>
      </p:sp>
      <p:sp>
        <p:nvSpPr>
          <p:cNvPr id="33" name="Shape 29"/>
          <p:cNvSpPr/>
          <p:nvPr/>
        </p:nvSpPr>
        <p:spPr>
          <a:xfrm>
            <a:off x="457200" y="3337560"/>
            <a:ext cx="2651760" cy="1280160"/>
          </a:xfrm>
          <a:prstGeom prst="roundRect">
            <a:avLst>
              <a:gd name="adj" fmla="val 5714"/>
            </a:avLst>
          </a:prstGeom>
          <a:solidFill>
            <a:srgbClr val="E0F2FE"/>
          </a:solidFill>
          <a:ln w="12700">
            <a:solidFill>
              <a:srgbClr val="E0F2FE"/>
            </a:solidFill>
            <a:prstDash val="solid"/>
          </a:ln>
        </p:spPr>
      </p:sp>
      <p:sp>
        <p:nvSpPr>
          <p:cNvPr id="34" name="Text 30"/>
          <p:cNvSpPr/>
          <p:nvPr/>
        </p:nvSpPr>
        <p:spPr>
          <a:xfrm>
            <a:off x="621792" y="3447288"/>
            <a:ext cx="2331720" cy="274320"/>
          </a:xfrm>
          <a:prstGeom prst="rect">
            <a:avLst/>
          </a:prstGeom>
          <a:noFill/>
          <a:ln/>
        </p:spPr>
        <p:txBody>
          <a:bodyPr wrap="square" lIns="0" tIns="0" rIns="0" bIns="0" rtlCol="0" anchor="ctr"/>
          <a:lstStyle/>
          <a:p>
            <a:pPr marL="0" indent="0">
              <a:buNone/>
            </a:pPr>
            <a:r>
              <a:rPr lang="en-US" sz="1300" b="1" dirty="0">
                <a:solidFill>
                  <a:srgbClr val="0B6FB8"/>
                </a:solidFill>
                <a:latin typeface="Calibri" pitchFamily="34" charset="0"/>
                <a:ea typeface="Calibri" pitchFamily="34" charset="-122"/>
                <a:cs typeface="Calibri" pitchFamily="34" charset="-120"/>
              </a:rPr>
              <a:t>Isolation</a:t>
            </a:r>
            <a:endParaRPr lang="en-US" sz="1300" dirty="0"/>
          </a:p>
        </p:txBody>
      </p:sp>
      <p:sp>
        <p:nvSpPr>
          <p:cNvPr id="35" name="Text 31"/>
          <p:cNvSpPr/>
          <p:nvPr/>
        </p:nvSpPr>
        <p:spPr>
          <a:xfrm>
            <a:off x="621792" y="3794760"/>
            <a:ext cx="2331720" cy="731520"/>
          </a:xfrm>
          <a:prstGeom prst="rect">
            <a:avLst/>
          </a:prstGeom>
          <a:noFill/>
          <a:ln/>
        </p:spPr>
        <p:txBody>
          <a:bodyPr wrap="square" lIns="0" tIns="0" rIns="0" bIns="0" rtlCol="0" anchor="t"/>
          <a:lstStyle/>
          <a:p>
            <a:pPr marL="0" indent="0">
              <a:buNone/>
            </a:pPr>
            <a:r>
              <a:rPr lang="en-US" sz="1100" dirty="0">
                <a:solidFill>
                  <a:srgbClr val="1E293B"/>
                </a:solidFill>
                <a:latin typeface="Calibri" pitchFamily="34" charset="0"/>
                <a:ea typeface="Calibri" pitchFamily="34" charset="-122"/>
                <a:cs typeface="Calibri" pitchFamily="34" charset="-120"/>
              </a:rPr>
              <a:t>InnoDB REPEATABLE READ plus the explicit row lock closes the read-check-write window.</a:t>
            </a:r>
            <a:endParaRPr lang="en-US" sz="1100" dirty="0"/>
          </a:p>
        </p:txBody>
      </p:sp>
      <p:sp>
        <p:nvSpPr>
          <p:cNvPr id="36" name="Shape 32"/>
          <p:cNvSpPr/>
          <p:nvPr/>
        </p:nvSpPr>
        <p:spPr>
          <a:xfrm>
            <a:off x="3246120" y="3337560"/>
            <a:ext cx="2651760" cy="1280160"/>
          </a:xfrm>
          <a:prstGeom prst="roundRect">
            <a:avLst>
              <a:gd name="adj" fmla="val 5714"/>
            </a:avLst>
          </a:prstGeom>
          <a:solidFill>
            <a:srgbClr val="E0F2FE"/>
          </a:solidFill>
          <a:ln w="12700">
            <a:solidFill>
              <a:srgbClr val="E0F2FE"/>
            </a:solidFill>
            <a:prstDash val="solid"/>
          </a:ln>
        </p:spPr>
      </p:sp>
      <p:sp>
        <p:nvSpPr>
          <p:cNvPr id="37" name="Text 33"/>
          <p:cNvSpPr/>
          <p:nvPr/>
        </p:nvSpPr>
        <p:spPr>
          <a:xfrm>
            <a:off x="3410712" y="3447288"/>
            <a:ext cx="2331720" cy="274320"/>
          </a:xfrm>
          <a:prstGeom prst="rect">
            <a:avLst/>
          </a:prstGeom>
          <a:noFill/>
          <a:ln/>
        </p:spPr>
        <p:txBody>
          <a:bodyPr wrap="square" lIns="0" tIns="0" rIns="0" bIns="0" rtlCol="0" anchor="ctr"/>
          <a:lstStyle/>
          <a:p>
            <a:pPr marL="0" indent="0">
              <a:buNone/>
            </a:pPr>
            <a:r>
              <a:rPr lang="en-US" sz="1300" b="1" dirty="0">
                <a:solidFill>
                  <a:srgbClr val="0B6FB8"/>
                </a:solidFill>
                <a:latin typeface="Calibri" pitchFamily="34" charset="0"/>
                <a:ea typeface="Calibri" pitchFamily="34" charset="-122"/>
                <a:cs typeface="Calibri" pitchFamily="34" charset="-120"/>
              </a:rPr>
              <a:t>Deadlock retry</a:t>
            </a:r>
            <a:endParaRPr lang="en-US" sz="1300" dirty="0"/>
          </a:p>
        </p:txBody>
      </p:sp>
      <p:sp>
        <p:nvSpPr>
          <p:cNvPr id="38" name="Text 34"/>
          <p:cNvSpPr/>
          <p:nvPr/>
        </p:nvSpPr>
        <p:spPr>
          <a:xfrm>
            <a:off x="3410712" y="3794760"/>
            <a:ext cx="2331720" cy="731520"/>
          </a:xfrm>
          <a:prstGeom prst="rect">
            <a:avLst/>
          </a:prstGeom>
          <a:noFill/>
          <a:ln/>
        </p:spPr>
        <p:txBody>
          <a:bodyPr wrap="square" lIns="0" tIns="0" rIns="0" bIns="0" rtlCol="0" anchor="t"/>
          <a:lstStyle/>
          <a:p>
            <a:pPr marL="0" indent="0">
              <a:buNone/>
            </a:pPr>
            <a:r>
              <a:rPr lang="en-US" sz="1100" dirty="0">
                <a:solidFill>
                  <a:srgbClr val="1E293B"/>
                </a:solidFill>
                <a:latin typeface="Calibri" pitchFamily="34" charset="0"/>
                <a:ea typeface="Calibri" pitchFamily="34" charset="-122"/>
                <a:cs typeface="Calibri" pitchFamily="34" charset="-120"/>
              </a:rPr>
              <a:t>On ER_LOCK_DEADLOCK the bid is retried up to 3 times with jittered back-off.</a:t>
            </a:r>
            <a:endParaRPr lang="en-US" sz="1100" dirty="0"/>
          </a:p>
        </p:txBody>
      </p:sp>
      <p:sp>
        <p:nvSpPr>
          <p:cNvPr id="39" name="Shape 35"/>
          <p:cNvSpPr/>
          <p:nvPr/>
        </p:nvSpPr>
        <p:spPr>
          <a:xfrm>
            <a:off x="6035040" y="3337560"/>
            <a:ext cx="2651760" cy="1280160"/>
          </a:xfrm>
          <a:prstGeom prst="roundRect">
            <a:avLst>
              <a:gd name="adj" fmla="val 5714"/>
            </a:avLst>
          </a:prstGeom>
          <a:solidFill>
            <a:srgbClr val="E0F2FE"/>
          </a:solidFill>
          <a:ln w="12700">
            <a:solidFill>
              <a:srgbClr val="E0F2FE"/>
            </a:solidFill>
            <a:prstDash val="solid"/>
          </a:ln>
        </p:spPr>
      </p:sp>
      <p:sp>
        <p:nvSpPr>
          <p:cNvPr id="40" name="Text 36"/>
          <p:cNvSpPr/>
          <p:nvPr/>
        </p:nvSpPr>
        <p:spPr>
          <a:xfrm>
            <a:off x="6199632" y="3447288"/>
            <a:ext cx="2331720" cy="274320"/>
          </a:xfrm>
          <a:prstGeom prst="rect">
            <a:avLst/>
          </a:prstGeom>
          <a:noFill/>
          <a:ln/>
        </p:spPr>
        <p:txBody>
          <a:bodyPr wrap="square" lIns="0" tIns="0" rIns="0" bIns="0" rtlCol="0" anchor="ctr"/>
          <a:lstStyle/>
          <a:p>
            <a:pPr marL="0" indent="0">
              <a:buNone/>
            </a:pPr>
            <a:r>
              <a:rPr lang="en-US" sz="1300" b="1" dirty="0">
                <a:solidFill>
                  <a:srgbClr val="0B6FB8"/>
                </a:solidFill>
                <a:latin typeface="Calibri" pitchFamily="34" charset="0"/>
                <a:ea typeface="Calibri" pitchFamily="34" charset="-122"/>
                <a:cs typeface="Calibri" pitchFamily="34" charset="-120"/>
              </a:rPr>
              <a:t>Data integrity</a:t>
            </a:r>
            <a:endParaRPr lang="en-US" sz="1300" dirty="0"/>
          </a:p>
        </p:txBody>
      </p:sp>
      <p:sp>
        <p:nvSpPr>
          <p:cNvPr id="41" name="Text 37"/>
          <p:cNvSpPr/>
          <p:nvPr/>
        </p:nvSpPr>
        <p:spPr>
          <a:xfrm>
            <a:off x="6199632" y="3794760"/>
            <a:ext cx="2331720" cy="731520"/>
          </a:xfrm>
          <a:prstGeom prst="rect">
            <a:avLst/>
          </a:prstGeom>
          <a:noFill/>
          <a:ln/>
        </p:spPr>
        <p:txBody>
          <a:bodyPr wrap="square" lIns="0" tIns="0" rIns="0" bIns="0" rtlCol="0" anchor="t"/>
          <a:lstStyle/>
          <a:p>
            <a:pPr marL="0" indent="0">
              <a:buNone/>
            </a:pPr>
            <a:r>
              <a:rPr lang="en-US" sz="1100" dirty="0">
                <a:solidFill>
                  <a:srgbClr val="1E293B"/>
                </a:solidFill>
                <a:latin typeface="Calibri" pitchFamily="34" charset="0"/>
                <a:ea typeface="Calibri" pitchFamily="34" charset="-122"/>
                <a:cs typeface="Calibri" pitchFamily="34" charset="-120"/>
              </a:rPr>
              <a:t>Primary keys, foreign keys and constraints keep users, auctions and bids consistent.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7406640" cy="502920"/>
          </a:xfrm>
          <a:prstGeom prst="rect">
            <a:avLst/>
          </a:prstGeom>
          <a:noFill/>
          <a:ln/>
        </p:spPr>
        <p:txBody>
          <a:bodyPr wrap="square" lIns="0" tIns="0" rIns="0" bIns="0" rtlCol="0" anchor="ctr"/>
          <a:lstStyle/>
          <a:p>
            <a:pPr marL="0" indent="0">
              <a:buNone/>
            </a:pPr>
            <a:r>
              <a:rPr lang="en-US" sz="2600" b="1" dirty="0">
                <a:solidFill>
                  <a:srgbClr val="0F2A4A"/>
                </a:solidFill>
                <a:latin typeface="Cambria" pitchFamily="34" charset="0"/>
                <a:ea typeface="Cambria" pitchFamily="34" charset="-122"/>
                <a:cs typeface="Cambria" pitchFamily="34" charset="-120"/>
              </a:rPr>
              <a:t>System Architecture</a:t>
            </a:r>
            <a:endParaRPr lang="en-US" sz="2600" dirty="0"/>
          </a:p>
        </p:txBody>
      </p:sp>
      <p:sp>
        <p:nvSpPr>
          <p:cNvPr id="3" name="Text 1"/>
          <p:cNvSpPr/>
          <p:nvPr/>
        </p:nvSpPr>
        <p:spPr>
          <a:xfrm>
            <a:off x="457200" y="777240"/>
            <a:ext cx="7406640" cy="274320"/>
          </a:xfrm>
          <a:prstGeom prst="rect">
            <a:avLst/>
          </a:prstGeom>
          <a:noFill/>
          <a:ln/>
        </p:spPr>
        <p:txBody>
          <a:bodyPr wrap="square" lIns="0" tIns="0" rIns="0" bIns="0" rtlCol="0" anchor="ctr"/>
          <a:lstStyle/>
          <a:p>
            <a:pPr marL="0" indent="0">
              <a:buNone/>
            </a:pPr>
            <a:r>
              <a:rPr lang="en-US" sz="1250" dirty="0">
                <a:solidFill>
                  <a:srgbClr val="64748B"/>
                </a:solidFill>
                <a:latin typeface="Calibri" pitchFamily="34" charset="0"/>
                <a:ea typeface="Calibri" pitchFamily="34" charset="-122"/>
                <a:cs typeface="Calibri" pitchFamily="34" charset="-120"/>
              </a:rPr>
              <a:t>Three tiers connected by REST, WebSocket and SQL</a:t>
            </a:r>
            <a:endParaRPr lang="en-US" sz="1250" dirty="0"/>
          </a:p>
        </p:txBody>
      </p:sp>
      <p:pic>
        <p:nvPicPr>
          <p:cNvPr id="4" name="Image 0" descr="/home/claude/deck/logo.png"/>
          <p:cNvPicPr>
            <a:picLocks noChangeAspect="1"/>
          </p:cNvPicPr>
          <p:nvPr/>
        </p:nvPicPr>
        <p:blipFill>
          <a:blip r:embed="rId3"/>
          <a:stretch>
            <a:fillRect/>
          </a:stretch>
        </p:blipFill>
        <p:spPr>
          <a:xfrm>
            <a:off x="7955280" y="201168"/>
            <a:ext cx="822960" cy="390599"/>
          </a:xfrm>
          <a:prstGeom prst="rect">
            <a:avLst/>
          </a:prstGeom>
        </p:spPr>
      </p:pic>
      <p:sp>
        <p:nvSpPr>
          <p:cNvPr id="5" name="Text 2"/>
          <p:cNvSpPr/>
          <p:nvPr/>
        </p:nvSpPr>
        <p:spPr>
          <a:xfrm>
            <a:off x="457200" y="4828032"/>
            <a:ext cx="54864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Team 22  |  Final Review  |  DBDSE (25CS1302E)</a:t>
            </a:r>
            <a:endParaRPr lang="en-US" sz="900" dirty="0"/>
          </a:p>
        </p:txBody>
      </p:sp>
      <p:sp>
        <p:nvSpPr>
          <p:cNvPr id="6" name="Text 3"/>
          <p:cNvSpPr/>
          <p:nvPr/>
        </p:nvSpPr>
        <p:spPr>
          <a:xfrm>
            <a:off x="8229600" y="4828032"/>
            <a:ext cx="45720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sp>
        <p:nvSpPr>
          <p:cNvPr id="8" name="Shape 4"/>
          <p:cNvSpPr/>
          <p:nvPr/>
        </p:nvSpPr>
        <p:spPr>
          <a:xfrm>
            <a:off x="457200" y="1234440"/>
            <a:ext cx="2286000" cy="1965960"/>
          </a:xfrm>
          <a:prstGeom prst="roundRect">
            <a:avLst>
              <a:gd name="adj" fmla="val 3721"/>
            </a:avLst>
          </a:prstGeom>
          <a:solidFill>
            <a:srgbClr val="F1F5F9"/>
          </a:solidFill>
          <a:ln w="12700">
            <a:solidFill>
              <a:srgbClr val="F1F5F9"/>
            </a:solidFill>
            <a:prstDash val="solid"/>
          </a:ln>
        </p:spPr>
      </p:sp>
      <p:sp>
        <p:nvSpPr>
          <p:cNvPr id="9" name="Text 5"/>
          <p:cNvSpPr/>
          <p:nvPr/>
        </p:nvSpPr>
        <p:spPr>
          <a:xfrm>
            <a:off x="594360" y="1307592"/>
            <a:ext cx="2011680" cy="320040"/>
          </a:xfrm>
          <a:prstGeom prst="rect">
            <a:avLst/>
          </a:prstGeom>
          <a:noFill/>
          <a:ln/>
        </p:spPr>
        <p:txBody>
          <a:bodyPr wrap="square" lIns="0" tIns="0" rIns="0" bIns="0" rtlCol="0" anchor="ctr"/>
          <a:lstStyle/>
          <a:p>
            <a:pPr marL="0" indent="0">
              <a:buNone/>
            </a:pPr>
            <a:r>
              <a:rPr lang="en-US" sz="1300" b="1" dirty="0">
                <a:solidFill>
                  <a:srgbClr val="0B6FB8"/>
                </a:solidFill>
                <a:latin typeface="Calibri" pitchFamily="34" charset="0"/>
                <a:ea typeface="Calibri" pitchFamily="34" charset="-122"/>
                <a:cs typeface="Calibri" pitchFamily="34" charset="-120"/>
              </a:rPr>
              <a:t>React Client (Vite)</a:t>
            </a:r>
            <a:endParaRPr lang="en-US" sz="1300" dirty="0"/>
          </a:p>
        </p:txBody>
      </p:sp>
      <p:sp>
        <p:nvSpPr>
          <p:cNvPr id="10" name="Text 6"/>
          <p:cNvSpPr/>
          <p:nvPr/>
        </p:nvSpPr>
        <p:spPr>
          <a:xfrm>
            <a:off x="594360" y="1664208"/>
            <a:ext cx="2057400" cy="146304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E293B"/>
                </a:solidFill>
                <a:latin typeface="Calibri" pitchFamily="34" charset="0"/>
                <a:ea typeface="Calibri" pitchFamily="34" charset="-122"/>
                <a:cs typeface="Calibri" pitchFamily="34" charset="-120"/>
              </a:rPr>
              <a:t>Login · Register</a:t>
            </a:r>
            <a:endParaRPr lang="en-US" sz="1050" dirty="0"/>
          </a:p>
          <a:p>
            <a:pPr marL="342900" indent="-342900">
              <a:spcAft>
                <a:spcPts val="300"/>
              </a:spcAft>
              <a:buSzPct val="100000"/>
              <a:buChar char="•"/>
            </a:pPr>
            <a:r>
              <a:rPr lang="en-US" sz="1050" dirty="0">
                <a:solidFill>
                  <a:srgbClr val="1E293B"/>
                </a:solidFill>
                <a:latin typeface="Calibri" pitchFamily="34" charset="0"/>
                <a:ea typeface="Calibri" pitchFamily="34" charset="-122"/>
                <a:cs typeface="Calibri" pitchFamily="34" charset="-120"/>
              </a:rPr>
              <a:t>Auction list and detail</a:t>
            </a:r>
            <a:endParaRPr lang="en-US" sz="1050" dirty="0"/>
          </a:p>
          <a:p>
            <a:pPr marL="342900" indent="-342900">
              <a:spcAft>
                <a:spcPts val="300"/>
              </a:spcAft>
              <a:buSzPct val="100000"/>
              <a:buChar char="•"/>
            </a:pPr>
            <a:r>
              <a:rPr lang="en-US" sz="1050" dirty="0">
                <a:solidFill>
                  <a:srgbClr val="1E293B"/>
                </a:solidFill>
                <a:latin typeface="Calibri" pitchFamily="34" charset="0"/>
                <a:ea typeface="Calibri" pitchFamily="34" charset="-122"/>
                <a:cs typeface="Calibri" pitchFamily="34" charset="-120"/>
              </a:rPr>
              <a:t>Bid form + live history</a:t>
            </a:r>
            <a:endParaRPr lang="en-US" sz="1050" dirty="0"/>
          </a:p>
          <a:p>
            <a:pPr marL="342900" indent="-342900">
              <a:spcAft>
                <a:spcPts val="300"/>
              </a:spcAft>
              <a:buSzPct val="100000"/>
              <a:buChar char="•"/>
            </a:pPr>
            <a:r>
              <a:rPr lang="en-US" sz="1050" dirty="0">
                <a:solidFill>
                  <a:srgbClr val="1E293B"/>
                </a:solidFill>
                <a:latin typeface="Calibri" pitchFamily="34" charset="0"/>
                <a:ea typeface="Calibri" pitchFamily="34" charset="-122"/>
                <a:cs typeface="Calibri" pitchFamily="34" charset="-120"/>
              </a:rPr>
              <a:t>Admin dashboard</a:t>
            </a:r>
            <a:endParaRPr lang="en-US" sz="1050" dirty="0"/>
          </a:p>
          <a:p>
            <a:pPr marL="342900" indent="-342900">
              <a:spcAft>
                <a:spcPts val="300"/>
              </a:spcAft>
              <a:buSzPct val="100000"/>
              <a:buChar char="•"/>
            </a:pPr>
            <a:r>
              <a:rPr lang="en-US" sz="1050" dirty="0">
                <a:solidFill>
                  <a:srgbClr val="1E293B"/>
                </a:solidFill>
                <a:latin typeface="Calibri" pitchFamily="34" charset="0"/>
                <a:ea typeface="Calibri" pitchFamily="34" charset="-122"/>
                <a:cs typeface="Calibri" pitchFamily="34" charset="-120"/>
              </a:rPr>
              <a:t>Axios + Socket.IO client</a:t>
            </a:r>
            <a:endParaRPr lang="en-US" sz="1050" dirty="0"/>
          </a:p>
        </p:txBody>
      </p:sp>
      <p:sp>
        <p:nvSpPr>
          <p:cNvPr id="11" name="Shape 7"/>
          <p:cNvSpPr/>
          <p:nvPr/>
        </p:nvSpPr>
        <p:spPr>
          <a:xfrm>
            <a:off x="3429000" y="1234440"/>
            <a:ext cx="2286000" cy="1965960"/>
          </a:xfrm>
          <a:prstGeom prst="roundRect">
            <a:avLst>
              <a:gd name="adj" fmla="val 3721"/>
            </a:avLst>
          </a:prstGeom>
          <a:solidFill>
            <a:srgbClr val="E0F2FE"/>
          </a:solidFill>
          <a:ln w="12700">
            <a:solidFill>
              <a:srgbClr val="E0F2FE"/>
            </a:solidFill>
            <a:prstDash val="solid"/>
          </a:ln>
        </p:spPr>
      </p:sp>
      <p:sp>
        <p:nvSpPr>
          <p:cNvPr id="12" name="Text 8"/>
          <p:cNvSpPr/>
          <p:nvPr/>
        </p:nvSpPr>
        <p:spPr>
          <a:xfrm>
            <a:off x="3566160" y="1307592"/>
            <a:ext cx="2011680" cy="320040"/>
          </a:xfrm>
          <a:prstGeom prst="rect">
            <a:avLst/>
          </a:prstGeom>
          <a:noFill/>
          <a:ln/>
        </p:spPr>
        <p:txBody>
          <a:bodyPr wrap="square" lIns="0" tIns="0" rIns="0" bIns="0" rtlCol="0" anchor="ctr"/>
          <a:lstStyle/>
          <a:p>
            <a:pPr marL="0" indent="0">
              <a:buNone/>
            </a:pPr>
            <a:r>
              <a:rPr lang="en-US" sz="1300" b="1" dirty="0">
                <a:solidFill>
                  <a:srgbClr val="0B6FB8"/>
                </a:solidFill>
                <a:latin typeface="Calibri" pitchFamily="34" charset="0"/>
                <a:ea typeface="Calibri" pitchFamily="34" charset="-122"/>
                <a:cs typeface="Calibri" pitchFamily="34" charset="-120"/>
              </a:rPr>
              <a:t>Node.js + Express</a:t>
            </a:r>
            <a:endParaRPr lang="en-US" sz="1300" dirty="0"/>
          </a:p>
        </p:txBody>
      </p:sp>
      <p:sp>
        <p:nvSpPr>
          <p:cNvPr id="13" name="Text 9"/>
          <p:cNvSpPr/>
          <p:nvPr/>
        </p:nvSpPr>
        <p:spPr>
          <a:xfrm>
            <a:off x="3566160" y="1664208"/>
            <a:ext cx="2057400" cy="146304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E293B"/>
                </a:solidFill>
                <a:latin typeface="Calibri" pitchFamily="34" charset="0"/>
                <a:ea typeface="Calibri" pitchFamily="34" charset="-122"/>
                <a:cs typeface="Calibri" pitchFamily="34" charset="-120"/>
              </a:rPr>
              <a:t>REST routes + JWT / admin guards</a:t>
            </a:r>
            <a:endParaRPr lang="en-US" sz="1050" dirty="0"/>
          </a:p>
          <a:p>
            <a:pPr marL="342900" indent="-342900">
              <a:spcAft>
                <a:spcPts val="300"/>
              </a:spcAft>
              <a:buSzPct val="100000"/>
              <a:buChar char="•"/>
            </a:pPr>
            <a:r>
              <a:rPr lang="en-US" sz="1050" dirty="0">
                <a:solidFill>
                  <a:srgbClr val="1E293B"/>
                </a:solidFill>
                <a:latin typeface="Calibri" pitchFamily="34" charset="0"/>
                <a:ea typeface="Calibri" pitchFamily="34" charset="-122"/>
                <a:cs typeface="Calibri" pitchFamily="34" charset="-120"/>
              </a:rPr>
              <a:t>Controllers: auth, product, auction, bid</a:t>
            </a:r>
            <a:endParaRPr lang="en-US" sz="1050" dirty="0"/>
          </a:p>
          <a:p>
            <a:pPr marL="342900" indent="-342900">
              <a:spcAft>
                <a:spcPts val="300"/>
              </a:spcAft>
              <a:buSzPct val="100000"/>
              <a:buChar char="•"/>
            </a:pPr>
            <a:r>
              <a:rPr lang="en-US" sz="1050" dirty="0">
                <a:solidFill>
                  <a:srgbClr val="1E293B"/>
                </a:solidFill>
                <a:latin typeface="Calibri" pitchFamily="34" charset="0"/>
                <a:ea typeface="Calibri" pitchFamily="34" charset="-122"/>
                <a:cs typeface="Calibri" pitchFamily="34" charset="-120"/>
              </a:rPr>
              <a:t>Socket.IO rooms per auction</a:t>
            </a:r>
            <a:endParaRPr lang="en-US" sz="1050" dirty="0"/>
          </a:p>
          <a:p>
            <a:pPr marL="342900" indent="-342900">
              <a:spcAft>
                <a:spcPts val="300"/>
              </a:spcAft>
              <a:buSzPct val="100000"/>
              <a:buChar char="•"/>
            </a:pPr>
            <a:r>
              <a:rPr lang="en-US" sz="1050" dirty="0">
                <a:solidFill>
                  <a:srgbClr val="1E293B"/>
                </a:solidFill>
                <a:latin typeface="Calibri" pitchFamily="34" charset="0"/>
                <a:ea typeface="Calibri" pitchFamily="34" charset="-122"/>
                <a:cs typeface="Calibri" pitchFamily="34" charset="-120"/>
              </a:rPr>
              <a:t>node-cron: auto-close (30 s)</a:t>
            </a:r>
            <a:endParaRPr lang="en-US" sz="1050" dirty="0"/>
          </a:p>
        </p:txBody>
      </p:sp>
      <p:sp>
        <p:nvSpPr>
          <p:cNvPr id="14" name="Shape 10"/>
          <p:cNvSpPr/>
          <p:nvPr/>
        </p:nvSpPr>
        <p:spPr>
          <a:xfrm>
            <a:off x="6400800" y="1234440"/>
            <a:ext cx="2286000" cy="1965960"/>
          </a:xfrm>
          <a:prstGeom prst="roundRect">
            <a:avLst>
              <a:gd name="adj" fmla="val 3721"/>
            </a:avLst>
          </a:prstGeom>
          <a:solidFill>
            <a:srgbClr val="F1F5F9"/>
          </a:solidFill>
          <a:ln w="12700">
            <a:solidFill>
              <a:srgbClr val="F1F5F9"/>
            </a:solidFill>
            <a:prstDash val="solid"/>
          </a:ln>
        </p:spPr>
      </p:sp>
      <p:sp>
        <p:nvSpPr>
          <p:cNvPr id="15" name="Text 11"/>
          <p:cNvSpPr/>
          <p:nvPr/>
        </p:nvSpPr>
        <p:spPr>
          <a:xfrm>
            <a:off x="6537960" y="1307592"/>
            <a:ext cx="2011680" cy="320040"/>
          </a:xfrm>
          <a:prstGeom prst="rect">
            <a:avLst/>
          </a:prstGeom>
          <a:noFill/>
          <a:ln/>
        </p:spPr>
        <p:txBody>
          <a:bodyPr wrap="square" lIns="0" tIns="0" rIns="0" bIns="0" rtlCol="0" anchor="ctr"/>
          <a:lstStyle/>
          <a:p>
            <a:pPr marL="0" indent="0">
              <a:buNone/>
            </a:pPr>
            <a:r>
              <a:rPr lang="en-US" sz="1300" b="1" dirty="0">
                <a:solidFill>
                  <a:srgbClr val="0B6FB8"/>
                </a:solidFill>
                <a:latin typeface="Calibri" pitchFamily="34" charset="0"/>
                <a:ea typeface="Calibri" pitchFamily="34" charset="-122"/>
                <a:cs typeface="Calibri" pitchFamily="34" charset="-120"/>
              </a:rPr>
              <a:t>MySQL 8.0 · InnoDB</a:t>
            </a:r>
            <a:endParaRPr lang="en-US" sz="1300" dirty="0"/>
          </a:p>
        </p:txBody>
      </p:sp>
      <p:sp>
        <p:nvSpPr>
          <p:cNvPr id="16" name="Text 12"/>
          <p:cNvSpPr/>
          <p:nvPr/>
        </p:nvSpPr>
        <p:spPr>
          <a:xfrm>
            <a:off x="6537960" y="1664208"/>
            <a:ext cx="2057400" cy="146304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E293B"/>
                </a:solidFill>
                <a:latin typeface="Calibri" pitchFamily="34" charset="0"/>
                <a:ea typeface="Calibri" pitchFamily="34" charset="-122"/>
                <a:cs typeface="Calibri" pitchFamily="34" charset="-120"/>
              </a:rPr>
              <a:t>users · products · auctions</a:t>
            </a:r>
            <a:endParaRPr lang="en-US" sz="1050" dirty="0"/>
          </a:p>
          <a:p>
            <a:pPr marL="342900" indent="-342900">
              <a:spcAft>
                <a:spcPts val="300"/>
              </a:spcAft>
              <a:buSzPct val="100000"/>
              <a:buChar char="•"/>
            </a:pPr>
            <a:r>
              <a:rPr lang="en-US" sz="1050" dirty="0">
                <a:solidFill>
                  <a:srgbClr val="1E293B"/>
                </a:solidFill>
                <a:latin typeface="Calibri" pitchFamily="34" charset="0"/>
                <a:ea typeface="Calibri" pitchFamily="34" charset="-122"/>
                <a:cs typeface="Calibri" pitchFamily="34" charset="-120"/>
              </a:rPr>
              <a:t>bids · auction_results</a:t>
            </a:r>
            <a:endParaRPr lang="en-US" sz="1050" dirty="0"/>
          </a:p>
          <a:p>
            <a:pPr marL="342900" indent="-342900">
              <a:spcAft>
                <a:spcPts val="300"/>
              </a:spcAft>
              <a:buSzPct val="100000"/>
              <a:buChar char="•"/>
            </a:pPr>
            <a:r>
              <a:rPr lang="en-US" sz="1050" dirty="0">
                <a:solidFill>
                  <a:srgbClr val="1E293B"/>
                </a:solidFill>
                <a:latin typeface="Calibri" pitchFamily="34" charset="0"/>
                <a:ea typeface="Calibri" pitchFamily="34" charset="-122"/>
                <a:cs typeface="Calibri" pitchFamily="34" charset="-120"/>
              </a:rPr>
              <a:t>Row-level locks + transactions</a:t>
            </a:r>
            <a:endParaRPr lang="en-US" sz="1050" dirty="0"/>
          </a:p>
          <a:p>
            <a:pPr marL="342900" indent="-342900">
              <a:spcAft>
                <a:spcPts val="300"/>
              </a:spcAft>
              <a:buSzPct val="100000"/>
              <a:buChar char="•"/>
            </a:pPr>
            <a:r>
              <a:rPr lang="en-US" sz="1050" dirty="0">
                <a:solidFill>
                  <a:srgbClr val="1E293B"/>
                </a:solidFill>
                <a:latin typeface="Calibri" pitchFamily="34" charset="0"/>
                <a:ea typeface="Calibri" pitchFamily="34" charset="-122"/>
                <a:cs typeface="Calibri" pitchFamily="34" charset="-120"/>
              </a:rPr>
              <a:t>PK / FK / constraints</a:t>
            </a:r>
            <a:endParaRPr lang="en-US" sz="1050" dirty="0"/>
          </a:p>
        </p:txBody>
      </p:sp>
      <p:sp>
        <p:nvSpPr>
          <p:cNvPr id="17" name="Shape 13"/>
          <p:cNvSpPr/>
          <p:nvPr/>
        </p:nvSpPr>
        <p:spPr>
          <a:xfrm>
            <a:off x="2788920" y="2011680"/>
            <a:ext cx="594360" cy="0"/>
          </a:xfrm>
          <a:prstGeom prst="line">
            <a:avLst/>
          </a:prstGeom>
          <a:noFill/>
          <a:ln w="22225">
            <a:solidFill>
              <a:srgbClr val="0B6FB8"/>
            </a:solidFill>
            <a:prstDash val="solid"/>
            <a:headEnd type="triangle"/>
            <a:tailEnd type="triangle"/>
          </a:ln>
        </p:spPr>
      </p:sp>
      <p:sp>
        <p:nvSpPr>
          <p:cNvPr id="18" name="Shape 14"/>
          <p:cNvSpPr/>
          <p:nvPr/>
        </p:nvSpPr>
        <p:spPr>
          <a:xfrm>
            <a:off x="2788920" y="2606040"/>
            <a:ext cx="594360" cy="0"/>
          </a:xfrm>
          <a:prstGeom prst="line">
            <a:avLst/>
          </a:prstGeom>
          <a:noFill/>
          <a:ln w="22225">
            <a:solidFill>
              <a:srgbClr val="0B6FB8"/>
            </a:solidFill>
            <a:prstDash val="solid"/>
            <a:headEnd type="triangle"/>
            <a:tailEnd type="triangle"/>
          </a:ln>
        </p:spPr>
      </p:sp>
      <p:sp>
        <p:nvSpPr>
          <p:cNvPr id="19" name="Shape 15"/>
          <p:cNvSpPr/>
          <p:nvPr/>
        </p:nvSpPr>
        <p:spPr>
          <a:xfrm>
            <a:off x="5760720" y="2286000"/>
            <a:ext cx="594360" cy="0"/>
          </a:xfrm>
          <a:prstGeom prst="line">
            <a:avLst/>
          </a:prstGeom>
          <a:noFill/>
          <a:ln w="22225">
            <a:solidFill>
              <a:srgbClr val="0B6FB8"/>
            </a:solidFill>
            <a:prstDash val="solid"/>
            <a:headEnd type="triangle"/>
            <a:tailEnd type="triangle"/>
          </a:ln>
        </p:spPr>
      </p:sp>
      <p:sp>
        <p:nvSpPr>
          <p:cNvPr id="20" name="Text 16"/>
          <p:cNvSpPr/>
          <p:nvPr/>
        </p:nvSpPr>
        <p:spPr>
          <a:xfrm>
            <a:off x="2788920" y="1783080"/>
            <a:ext cx="594360" cy="201168"/>
          </a:xfrm>
          <a:prstGeom prst="rect">
            <a:avLst/>
          </a:prstGeom>
          <a:noFill/>
          <a:ln/>
        </p:spPr>
        <p:txBody>
          <a:bodyPr wrap="square" lIns="0" tIns="0" rIns="0" bIns="0" rtlCol="0" anchor="ctr"/>
          <a:lstStyle/>
          <a:p>
            <a:pPr marL="0" indent="0" algn="ctr">
              <a:buNone/>
            </a:pPr>
            <a:r>
              <a:rPr lang="en-US" sz="850" b="1" dirty="0">
                <a:solidFill>
                  <a:srgbClr val="0B6FB8"/>
                </a:solidFill>
                <a:latin typeface="Calibri" pitchFamily="34" charset="0"/>
                <a:ea typeface="Calibri" pitchFamily="34" charset="-122"/>
                <a:cs typeface="Calibri" pitchFamily="34" charset="-120"/>
              </a:rPr>
              <a:t>REST + JWT</a:t>
            </a:r>
            <a:endParaRPr lang="en-US" sz="850" dirty="0"/>
          </a:p>
        </p:txBody>
      </p:sp>
      <p:sp>
        <p:nvSpPr>
          <p:cNvPr id="21" name="Text 17"/>
          <p:cNvSpPr/>
          <p:nvPr/>
        </p:nvSpPr>
        <p:spPr>
          <a:xfrm>
            <a:off x="2788920" y="2377440"/>
            <a:ext cx="594360" cy="201168"/>
          </a:xfrm>
          <a:prstGeom prst="rect">
            <a:avLst/>
          </a:prstGeom>
          <a:noFill/>
          <a:ln/>
        </p:spPr>
        <p:txBody>
          <a:bodyPr wrap="square" lIns="0" tIns="0" rIns="0" bIns="0" rtlCol="0" anchor="ctr"/>
          <a:lstStyle/>
          <a:p>
            <a:pPr marL="0" indent="0" algn="ctr">
              <a:buNone/>
            </a:pPr>
            <a:r>
              <a:rPr lang="en-US" sz="850" b="1" dirty="0">
                <a:solidFill>
                  <a:srgbClr val="0B6FB8"/>
                </a:solidFill>
                <a:latin typeface="Calibri" pitchFamily="34" charset="0"/>
                <a:ea typeface="Calibri" pitchFamily="34" charset="-122"/>
                <a:cs typeface="Calibri" pitchFamily="34" charset="-120"/>
              </a:rPr>
              <a:t>WebSocket</a:t>
            </a:r>
            <a:endParaRPr lang="en-US" sz="850" dirty="0"/>
          </a:p>
        </p:txBody>
      </p:sp>
      <p:sp>
        <p:nvSpPr>
          <p:cNvPr id="22" name="Text 18"/>
          <p:cNvSpPr/>
          <p:nvPr/>
        </p:nvSpPr>
        <p:spPr>
          <a:xfrm>
            <a:off x="5760720" y="2057400"/>
            <a:ext cx="594360" cy="201168"/>
          </a:xfrm>
          <a:prstGeom prst="rect">
            <a:avLst/>
          </a:prstGeom>
          <a:noFill/>
          <a:ln/>
        </p:spPr>
        <p:txBody>
          <a:bodyPr wrap="square" lIns="0" tIns="0" rIns="0" bIns="0" rtlCol="0" anchor="ctr"/>
          <a:lstStyle/>
          <a:p>
            <a:pPr marL="0" indent="0" algn="ctr">
              <a:buNone/>
            </a:pPr>
            <a:r>
              <a:rPr lang="en-US" sz="850" b="1" dirty="0">
                <a:solidFill>
                  <a:srgbClr val="0B6FB8"/>
                </a:solidFill>
                <a:latin typeface="Calibri" pitchFamily="34" charset="0"/>
                <a:ea typeface="Calibri" pitchFamily="34" charset="-122"/>
                <a:cs typeface="Calibri" pitchFamily="34" charset="-120"/>
              </a:rPr>
              <a:t>SQL</a:t>
            </a:r>
            <a:endParaRPr lang="en-US" sz="850" dirty="0"/>
          </a:p>
        </p:txBody>
      </p:sp>
      <p:sp>
        <p:nvSpPr>
          <p:cNvPr id="23" name="Text 19"/>
          <p:cNvSpPr/>
          <p:nvPr/>
        </p:nvSpPr>
        <p:spPr>
          <a:xfrm>
            <a:off x="457200" y="3310128"/>
            <a:ext cx="2743200" cy="228600"/>
          </a:xfrm>
          <a:prstGeom prst="rect">
            <a:avLst/>
          </a:prstGeom>
          <a:noFill/>
          <a:ln/>
        </p:spPr>
        <p:txBody>
          <a:bodyPr wrap="square" lIns="0" tIns="0" rIns="0" bIns="0" rtlCol="0" anchor="ctr"/>
          <a:lstStyle/>
          <a:p>
            <a:pPr marL="0" indent="0">
              <a:buNone/>
            </a:pPr>
            <a:r>
              <a:rPr lang="en-US" sz="1150" b="1" dirty="0">
                <a:solidFill>
                  <a:srgbClr val="0F2A4A"/>
                </a:solidFill>
                <a:latin typeface="Calibri" pitchFamily="34" charset="0"/>
                <a:ea typeface="Calibri" pitchFamily="34" charset="-122"/>
                <a:cs typeface="Calibri" pitchFamily="34" charset="-120"/>
              </a:rPr>
              <a:t>Life of one bid</a:t>
            </a:r>
            <a:endParaRPr lang="en-US" sz="1150" dirty="0"/>
          </a:p>
        </p:txBody>
      </p:sp>
      <p:sp>
        <p:nvSpPr>
          <p:cNvPr id="24" name="Shape 20"/>
          <p:cNvSpPr/>
          <p:nvPr/>
        </p:nvSpPr>
        <p:spPr>
          <a:xfrm>
            <a:off x="457200" y="3584448"/>
            <a:ext cx="1261872" cy="1097280"/>
          </a:xfrm>
          <a:prstGeom prst="roundRect">
            <a:avLst>
              <a:gd name="adj" fmla="val 6667"/>
            </a:avLst>
          </a:prstGeom>
          <a:solidFill>
            <a:srgbClr val="F1F5F9"/>
          </a:solidFill>
          <a:ln w="12700">
            <a:solidFill>
              <a:srgbClr val="F1F5F9"/>
            </a:solidFill>
            <a:prstDash val="solid"/>
          </a:ln>
        </p:spPr>
      </p:sp>
      <p:sp>
        <p:nvSpPr>
          <p:cNvPr id="25" name="Shape 21"/>
          <p:cNvSpPr/>
          <p:nvPr/>
        </p:nvSpPr>
        <p:spPr>
          <a:xfrm>
            <a:off x="548640" y="3657600"/>
            <a:ext cx="256032" cy="256032"/>
          </a:xfrm>
          <a:prstGeom prst="ellipse">
            <a:avLst/>
          </a:prstGeom>
          <a:solidFill>
            <a:srgbClr val="0B6FB8"/>
          </a:solidFill>
          <a:ln w="12700">
            <a:solidFill>
              <a:srgbClr val="0B6FB8"/>
            </a:solidFill>
            <a:prstDash val="solid"/>
          </a:ln>
        </p:spPr>
      </p:sp>
      <p:sp>
        <p:nvSpPr>
          <p:cNvPr id="26" name="Text 22"/>
          <p:cNvSpPr/>
          <p:nvPr/>
        </p:nvSpPr>
        <p:spPr>
          <a:xfrm>
            <a:off x="548640" y="3657600"/>
            <a:ext cx="256032" cy="25603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7" name="Text 23"/>
          <p:cNvSpPr/>
          <p:nvPr/>
        </p:nvSpPr>
        <p:spPr>
          <a:xfrm>
            <a:off x="548640" y="3977640"/>
            <a:ext cx="1097280" cy="658368"/>
          </a:xfrm>
          <a:prstGeom prst="rect">
            <a:avLst/>
          </a:prstGeom>
          <a:noFill/>
          <a:ln/>
        </p:spPr>
        <p:txBody>
          <a:bodyPr wrap="square" lIns="0" tIns="0" rIns="0" bIns="0" rtlCol="0" anchor="t"/>
          <a:lstStyle/>
          <a:p>
            <a:pPr marL="0" indent="0">
              <a:buNone/>
            </a:pPr>
            <a:r>
              <a:rPr lang="en-US" sz="950" dirty="0">
                <a:solidFill>
                  <a:srgbClr val="1E293B"/>
                </a:solidFill>
                <a:latin typeface="Calibri" pitchFamily="34" charset="0"/>
                <a:ea typeface="Calibri" pitchFamily="34" charset="-122"/>
                <a:cs typeface="Calibri" pitchFamily="34" charset="-120"/>
              </a:rPr>
              <a:t>POST /api/auctions/:id/bids with JWT</a:t>
            </a:r>
            <a:endParaRPr lang="en-US" sz="950" dirty="0"/>
          </a:p>
        </p:txBody>
      </p:sp>
      <p:sp>
        <p:nvSpPr>
          <p:cNvPr id="28" name="Shape 24"/>
          <p:cNvSpPr/>
          <p:nvPr/>
        </p:nvSpPr>
        <p:spPr>
          <a:xfrm>
            <a:off x="1828800" y="3584448"/>
            <a:ext cx="1261872" cy="1097280"/>
          </a:xfrm>
          <a:prstGeom prst="roundRect">
            <a:avLst>
              <a:gd name="adj" fmla="val 6667"/>
            </a:avLst>
          </a:prstGeom>
          <a:solidFill>
            <a:srgbClr val="F1F5F9"/>
          </a:solidFill>
          <a:ln w="12700">
            <a:solidFill>
              <a:srgbClr val="F1F5F9"/>
            </a:solidFill>
            <a:prstDash val="solid"/>
          </a:ln>
        </p:spPr>
      </p:sp>
      <p:sp>
        <p:nvSpPr>
          <p:cNvPr id="29" name="Shape 25"/>
          <p:cNvSpPr/>
          <p:nvPr/>
        </p:nvSpPr>
        <p:spPr>
          <a:xfrm>
            <a:off x="1920240" y="3657600"/>
            <a:ext cx="256032" cy="256032"/>
          </a:xfrm>
          <a:prstGeom prst="ellipse">
            <a:avLst/>
          </a:prstGeom>
          <a:solidFill>
            <a:srgbClr val="0B6FB8"/>
          </a:solidFill>
          <a:ln w="12700">
            <a:solidFill>
              <a:srgbClr val="0B6FB8"/>
            </a:solidFill>
            <a:prstDash val="solid"/>
          </a:ln>
        </p:spPr>
      </p:sp>
      <p:sp>
        <p:nvSpPr>
          <p:cNvPr id="30" name="Text 26"/>
          <p:cNvSpPr/>
          <p:nvPr/>
        </p:nvSpPr>
        <p:spPr>
          <a:xfrm>
            <a:off x="1920240" y="3657600"/>
            <a:ext cx="256032" cy="25603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Text 27"/>
          <p:cNvSpPr/>
          <p:nvPr/>
        </p:nvSpPr>
        <p:spPr>
          <a:xfrm>
            <a:off x="1920240" y="3977640"/>
            <a:ext cx="1097280" cy="658368"/>
          </a:xfrm>
          <a:prstGeom prst="rect">
            <a:avLst/>
          </a:prstGeom>
          <a:noFill/>
          <a:ln/>
        </p:spPr>
        <p:txBody>
          <a:bodyPr wrap="square" lIns="0" tIns="0" rIns="0" bIns="0" rtlCol="0" anchor="t"/>
          <a:lstStyle/>
          <a:p>
            <a:pPr marL="0" indent="0">
              <a:buNone/>
            </a:pPr>
            <a:r>
              <a:rPr lang="en-US" sz="950" dirty="0">
                <a:solidFill>
                  <a:srgbClr val="1E293B"/>
                </a:solidFill>
                <a:latin typeface="Calibri" pitchFamily="34" charset="0"/>
                <a:ea typeface="Calibri" pitchFamily="34" charset="-122"/>
                <a:cs typeface="Calibri" pitchFamily="34" charset="-120"/>
              </a:rPr>
              <a:t>Auth middleware verifies the token</a:t>
            </a:r>
            <a:endParaRPr lang="en-US" sz="950" dirty="0"/>
          </a:p>
        </p:txBody>
      </p:sp>
      <p:sp>
        <p:nvSpPr>
          <p:cNvPr id="32" name="Shape 28"/>
          <p:cNvSpPr/>
          <p:nvPr/>
        </p:nvSpPr>
        <p:spPr>
          <a:xfrm>
            <a:off x="3200400" y="3584448"/>
            <a:ext cx="1261872" cy="1097280"/>
          </a:xfrm>
          <a:prstGeom prst="roundRect">
            <a:avLst>
              <a:gd name="adj" fmla="val 6667"/>
            </a:avLst>
          </a:prstGeom>
          <a:solidFill>
            <a:srgbClr val="F1F5F9"/>
          </a:solidFill>
          <a:ln w="12700">
            <a:solidFill>
              <a:srgbClr val="F1F5F9"/>
            </a:solidFill>
            <a:prstDash val="solid"/>
          </a:ln>
        </p:spPr>
      </p:sp>
      <p:sp>
        <p:nvSpPr>
          <p:cNvPr id="33" name="Shape 29"/>
          <p:cNvSpPr/>
          <p:nvPr/>
        </p:nvSpPr>
        <p:spPr>
          <a:xfrm>
            <a:off x="3291840" y="3657600"/>
            <a:ext cx="256032" cy="256032"/>
          </a:xfrm>
          <a:prstGeom prst="ellipse">
            <a:avLst/>
          </a:prstGeom>
          <a:solidFill>
            <a:srgbClr val="0B6FB8"/>
          </a:solidFill>
          <a:ln w="12700">
            <a:solidFill>
              <a:srgbClr val="0B6FB8"/>
            </a:solidFill>
            <a:prstDash val="solid"/>
          </a:ln>
        </p:spPr>
      </p:sp>
      <p:sp>
        <p:nvSpPr>
          <p:cNvPr id="34" name="Text 30"/>
          <p:cNvSpPr/>
          <p:nvPr/>
        </p:nvSpPr>
        <p:spPr>
          <a:xfrm>
            <a:off x="3291840" y="3657600"/>
            <a:ext cx="256032" cy="25603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5" name="Text 31"/>
          <p:cNvSpPr/>
          <p:nvPr/>
        </p:nvSpPr>
        <p:spPr>
          <a:xfrm>
            <a:off x="3291840" y="3977640"/>
            <a:ext cx="1097280" cy="658368"/>
          </a:xfrm>
          <a:prstGeom prst="rect">
            <a:avLst/>
          </a:prstGeom>
          <a:noFill/>
          <a:ln/>
        </p:spPr>
        <p:txBody>
          <a:bodyPr wrap="square" lIns="0" tIns="0" rIns="0" bIns="0" rtlCol="0" anchor="t"/>
          <a:lstStyle/>
          <a:p>
            <a:pPr marL="0" indent="0">
              <a:buNone/>
            </a:pPr>
            <a:r>
              <a:rPr lang="en-US" sz="950" dirty="0">
                <a:solidFill>
                  <a:srgbClr val="1E293B"/>
                </a:solidFill>
                <a:latin typeface="Calibri" pitchFamily="34" charset="0"/>
                <a:ea typeface="Calibri" pitchFamily="34" charset="-122"/>
                <a:cs typeface="Calibri" pitchFamily="34" charset="-120"/>
              </a:rPr>
              <a:t>placeBidWithRetry() opens a transaction</a:t>
            </a:r>
            <a:endParaRPr lang="en-US" sz="950" dirty="0"/>
          </a:p>
        </p:txBody>
      </p:sp>
      <p:sp>
        <p:nvSpPr>
          <p:cNvPr id="36" name="Shape 32"/>
          <p:cNvSpPr/>
          <p:nvPr/>
        </p:nvSpPr>
        <p:spPr>
          <a:xfrm>
            <a:off x="4572000" y="3584448"/>
            <a:ext cx="1261872" cy="1097280"/>
          </a:xfrm>
          <a:prstGeom prst="roundRect">
            <a:avLst>
              <a:gd name="adj" fmla="val 6667"/>
            </a:avLst>
          </a:prstGeom>
          <a:solidFill>
            <a:srgbClr val="F1F5F9"/>
          </a:solidFill>
          <a:ln w="12700">
            <a:solidFill>
              <a:srgbClr val="F1F5F9"/>
            </a:solidFill>
            <a:prstDash val="solid"/>
          </a:ln>
        </p:spPr>
      </p:sp>
      <p:sp>
        <p:nvSpPr>
          <p:cNvPr id="37" name="Shape 33"/>
          <p:cNvSpPr/>
          <p:nvPr/>
        </p:nvSpPr>
        <p:spPr>
          <a:xfrm>
            <a:off x="4663440" y="3657600"/>
            <a:ext cx="256032" cy="256032"/>
          </a:xfrm>
          <a:prstGeom prst="ellipse">
            <a:avLst/>
          </a:prstGeom>
          <a:solidFill>
            <a:srgbClr val="0B6FB8"/>
          </a:solidFill>
          <a:ln w="12700">
            <a:solidFill>
              <a:srgbClr val="0B6FB8"/>
            </a:solidFill>
            <a:prstDash val="solid"/>
          </a:ln>
        </p:spPr>
      </p:sp>
      <p:sp>
        <p:nvSpPr>
          <p:cNvPr id="38" name="Text 34"/>
          <p:cNvSpPr/>
          <p:nvPr/>
        </p:nvSpPr>
        <p:spPr>
          <a:xfrm>
            <a:off x="4663440" y="3657600"/>
            <a:ext cx="256032" cy="25603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9" name="Text 35"/>
          <p:cNvSpPr/>
          <p:nvPr/>
        </p:nvSpPr>
        <p:spPr>
          <a:xfrm>
            <a:off x="4663440" y="3977640"/>
            <a:ext cx="1097280" cy="658368"/>
          </a:xfrm>
          <a:prstGeom prst="rect">
            <a:avLst/>
          </a:prstGeom>
          <a:noFill/>
          <a:ln/>
        </p:spPr>
        <p:txBody>
          <a:bodyPr wrap="square" lIns="0" tIns="0" rIns="0" bIns="0" rtlCol="0" anchor="t"/>
          <a:lstStyle/>
          <a:p>
            <a:pPr marL="0" indent="0">
              <a:buNone/>
            </a:pPr>
            <a:r>
              <a:rPr lang="en-US" sz="950" dirty="0">
                <a:solidFill>
                  <a:srgbClr val="1E293B"/>
                </a:solidFill>
                <a:latin typeface="Calibri" pitchFamily="34" charset="0"/>
                <a:ea typeface="Calibri" pitchFamily="34" charset="-122"/>
                <a:cs typeface="Calibri" pitchFamily="34" charset="-120"/>
              </a:rPr>
              <a:t>Row lock, validate, write, commit</a:t>
            </a:r>
            <a:endParaRPr lang="en-US" sz="950" dirty="0"/>
          </a:p>
        </p:txBody>
      </p:sp>
      <p:sp>
        <p:nvSpPr>
          <p:cNvPr id="40" name="Shape 36"/>
          <p:cNvSpPr/>
          <p:nvPr/>
        </p:nvSpPr>
        <p:spPr>
          <a:xfrm>
            <a:off x="5943600" y="3584448"/>
            <a:ext cx="1261872" cy="1097280"/>
          </a:xfrm>
          <a:prstGeom prst="roundRect">
            <a:avLst>
              <a:gd name="adj" fmla="val 6667"/>
            </a:avLst>
          </a:prstGeom>
          <a:solidFill>
            <a:srgbClr val="F1F5F9"/>
          </a:solidFill>
          <a:ln w="12700">
            <a:solidFill>
              <a:srgbClr val="F1F5F9"/>
            </a:solidFill>
            <a:prstDash val="solid"/>
          </a:ln>
        </p:spPr>
      </p:sp>
      <p:sp>
        <p:nvSpPr>
          <p:cNvPr id="41" name="Shape 37"/>
          <p:cNvSpPr/>
          <p:nvPr/>
        </p:nvSpPr>
        <p:spPr>
          <a:xfrm>
            <a:off x="6035040" y="3657600"/>
            <a:ext cx="256032" cy="256032"/>
          </a:xfrm>
          <a:prstGeom prst="ellipse">
            <a:avLst/>
          </a:prstGeom>
          <a:solidFill>
            <a:srgbClr val="0B6FB8"/>
          </a:solidFill>
          <a:ln w="12700">
            <a:solidFill>
              <a:srgbClr val="0B6FB8"/>
            </a:solidFill>
            <a:prstDash val="solid"/>
          </a:ln>
        </p:spPr>
      </p:sp>
      <p:sp>
        <p:nvSpPr>
          <p:cNvPr id="42" name="Text 38"/>
          <p:cNvSpPr/>
          <p:nvPr/>
        </p:nvSpPr>
        <p:spPr>
          <a:xfrm>
            <a:off x="6035040" y="3657600"/>
            <a:ext cx="256032" cy="25603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3" name="Text 39"/>
          <p:cNvSpPr/>
          <p:nvPr/>
        </p:nvSpPr>
        <p:spPr>
          <a:xfrm>
            <a:off x="6035040" y="3977640"/>
            <a:ext cx="1097280" cy="658368"/>
          </a:xfrm>
          <a:prstGeom prst="rect">
            <a:avLst/>
          </a:prstGeom>
          <a:noFill/>
          <a:ln/>
        </p:spPr>
        <p:txBody>
          <a:bodyPr wrap="square" lIns="0" tIns="0" rIns="0" bIns="0" rtlCol="0" anchor="t"/>
          <a:lstStyle/>
          <a:p>
            <a:pPr marL="0" indent="0">
              <a:buNone/>
            </a:pPr>
            <a:r>
              <a:rPr lang="en-US" sz="950" dirty="0">
                <a:solidFill>
                  <a:srgbClr val="1E293B"/>
                </a:solidFill>
                <a:latin typeface="Calibri" pitchFamily="34" charset="0"/>
                <a:ea typeface="Calibri" pitchFamily="34" charset="-122"/>
                <a:cs typeface="Calibri" pitchFamily="34" charset="-120"/>
              </a:rPr>
              <a:t>Server emits bid_update to the auction room</a:t>
            </a:r>
            <a:endParaRPr lang="en-US" sz="950" dirty="0"/>
          </a:p>
        </p:txBody>
      </p:sp>
      <p:sp>
        <p:nvSpPr>
          <p:cNvPr id="44" name="Shape 40"/>
          <p:cNvSpPr/>
          <p:nvPr/>
        </p:nvSpPr>
        <p:spPr>
          <a:xfrm>
            <a:off x="7315200" y="3584448"/>
            <a:ext cx="1261872" cy="1097280"/>
          </a:xfrm>
          <a:prstGeom prst="roundRect">
            <a:avLst>
              <a:gd name="adj" fmla="val 6667"/>
            </a:avLst>
          </a:prstGeom>
          <a:solidFill>
            <a:srgbClr val="F1F5F9"/>
          </a:solidFill>
          <a:ln w="12700">
            <a:solidFill>
              <a:srgbClr val="F1F5F9"/>
            </a:solidFill>
            <a:prstDash val="solid"/>
          </a:ln>
        </p:spPr>
      </p:sp>
      <p:sp>
        <p:nvSpPr>
          <p:cNvPr id="45" name="Shape 41"/>
          <p:cNvSpPr/>
          <p:nvPr/>
        </p:nvSpPr>
        <p:spPr>
          <a:xfrm>
            <a:off x="7406640" y="3657600"/>
            <a:ext cx="256032" cy="256032"/>
          </a:xfrm>
          <a:prstGeom prst="ellipse">
            <a:avLst/>
          </a:prstGeom>
          <a:solidFill>
            <a:srgbClr val="0B6FB8"/>
          </a:solidFill>
          <a:ln w="12700">
            <a:solidFill>
              <a:srgbClr val="0B6FB8"/>
            </a:solidFill>
            <a:prstDash val="solid"/>
          </a:ln>
        </p:spPr>
      </p:sp>
      <p:sp>
        <p:nvSpPr>
          <p:cNvPr id="46" name="Text 42"/>
          <p:cNvSpPr/>
          <p:nvPr/>
        </p:nvSpPr>
        <p:spPr>
          <a:xfrm>
            <a:off x="7406640" y="3657600"/>
            <a:ext cx="256032" cy="25603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47" name="Text 43"/>
          <p:cNvSpPr/>
          <p:nvPr/>
        </p:nvSpPr>
        <p:spPr>
          <a:xfrm>
            <a:off x="7406640" y="3977640"/>
            <a:ext cx="1097280" cy="658368"/>
          </a:xfrm>
          <a:prstGeom prst="rect">
            <a:avLst/>
          </a:prstGeom>
          <a:noFill/>
          <a:ln/>
        </p:spPr>
        <p:txBody>
          <a:bodyPr wrap="square" lIns="0" tIns="0" rIns="0" bIns="0" rtlCol="0" anchor="t"/>
          <a:lstStyle/>
          <a:p>
            <a:pPr marL="0" indent="0">
              <a:buNone/>
            </a:pPr>
            <a:r>
              <a:rPr lang="en-US" sz="950" dirty="0">
                <a:solidFill>
                  <a:srgbClr val="1E293B"/>
                </a:solidFill>
                <a:latin typeface="Calibri" pitchFamily="34" charset="0"/>
                <a:ea typeface="Calibri" pitchFamily="34" charset="-122"/>
                <a:cs typeface="Calibri" pitchFamily="34" charset="-120"/>
              </a:rPr>
              <a:t>Every open page refreshes instantly</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7406640" cy="502920"/>
          </a:xfrm>
          <a:prstGeom prst="rect">
            <a:avLst/>
          </a:prstGeom>
          <a:noFill/>
          <a:ln/>
        </p:spPr>
        <p:txBody>
          <a:bodyPr wrap="square" lIns="0" tIns="0" rIns="0" bIns="0" rtlCol="0" anchor="ctr"/>
          <a:lstStyle/>
          <a:p>
            <a:pPr marL="0" indent="0">
              <a:buNone/>
            </a:pPr>
            <a:r>
              <a:rPr lang="en-US" sz="2600" b="1" dirty="0">
                <a:solidFill>
                  <a:srgbClr val="0F2A4A"/>
                </a:solidFill>
                <a:latin typeface="Cambria" pitchFamily="34" charset="0"/>
                <a:ea typeface="Cambria" pitchFamily="34" charset="-122"/>
                <a:cs typeface="Cambria" pitchFamily="34" charset="-120"/>
              </a:rPr>
              <a:t>Database Design</a:t>
            </a:r>
            <a:endParaRPr lang="en-US" sz="2600" dirty="0"/>
          </a:p>
        </p:txBody>
      </p:sp>
      <p:sp>
        <p:nvSpPr>
          <p:cNvPr id="3" name="Text 1"/>
          <p:cNvSpPr/>
          <p:nvPr/>
        </p:nvSpPr>
        <p:spPr>
          <a:xfrm>
            <a:off x="457200" y="777240"/>
            <a:ext cx="7406640" cy="274320"/>
          </a:xfrm>
          <a:prstGeom prst="rect">
            <a:avLst/>
          </a:prstGeom>
          <a:noFill/>
          <a:ln/>
        </p:spPr>
        <p:txBody>
          <a:bodyPr wrap="square" lIns="0" tIns="0" rIns="0" bIns="0" rtlCol="0" anchor="ctr"/>
          <a:lstStyle/>
          <a:p>
            <a:pPr marL="0" indent="0">
              <a:buNone/>
            </a:pPr>
            <a:r>
              <a:rPr lang="en-US" sz="1250" dirty="0">
                <a:solidFill>
                  <a:srgbClr val="64748B"/>
                </a:solidFill>
                <a:latin typeface="Calibri" pitchFamily="34" charset="0"/>
                <a:ea typeface="Calibri" pitchFamily="34" charset="-122"/>
                <a:cs typeface="Calibri" pitchFamily="34" charset="-120"/>
              </a:rPr>
              <a:t>Five InnoDB tables with enforced primary and foreign keys</a:t>
            </a:r>
            <a:endParaRPr lang="en-US" sz="1250" dirty="0"/>
          </a:p>
        </p:txBody>
      </p:sp>
      <p:pic>
        <p:nvPicPr>
          <p:cNvPr id="4" name="Image 0" descr="/home/claude/deck/logo.png"/>
          <p:cNvPicPr>
            <a:picLocks noChangeAspect="1"/>
          </p:cNvPicPr>
          <p:nvPr/>
        </p:nvPicPr>
        <p:blipFill>
          <a:blip r:embed="rId3"/>
          <a:stretch>
            <a:fillRect/>
          </a:stretch>
        </p:blipFill>
        <p:spPr>
          <a:xfrm>
            <a:off x="7955280" y="201168"/>
            <a:ext cx="822960" cy="390599"/>
          </a:xfrm>
          <a:prstGeom prst="rect">
            <a:avLst/>
          </a:prstGeom>
        </p:spPr>
      </p:pic>
      <p:sp>
        <p:nvSpPr>
          <p:cNvPr id="5" name="Text 2"/>
          <p:cNvSpPr/>
          <p:nvPr/>
        </p:nvSpPr>
        <p:spPr>
          <a:xfrm>
            <a:off x="457200" y="4828032"/>
            <a:ext cx="54864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Team 22  |  Final Review  |  DBDSE (25CS1302E)</a:t>
            </a:r>
            <a:endParaRPr lang="en-US" sz="900" dirty="0"/>
          </a:p>
        </p:txBody>
      </p:sp>
      <p:sp>
        <p:nvSpPr>
          <p:cNvPr id="6" name="Text 3"/>
          <p:cNvSpPr/>
          <p:nvPr/>
        </p:nvSpPr>
        <p:spPr>
          <a:xfrm>
            <a:off x="8229600" y="4828032"/>
            <a:ext cx="45720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sp>
        <p:nvSpPr>
          <p:cNvPr id="8" name="Shape 4"/>
          <p:cNvSpPr/>
          <p:nvPr/>
        </p:nvSpPr>
        <p:spPr>
          <a:xfrm>
            <a:off x="457200" y="1188720"/>
            <a:ext cx="2286000" cy="274320"/>
          </a:xfrm>
          <a:prstGeom prst="rect">
            <a:avLst/>
          </a:prstGeom>
          <a:solidFill>
            <a:srgbClr val="C2410C"/>
          </a:solidFill>
          <a:ln w="9525">
            <a:solidFill>
              <a:srgbClr val="C2410C"/>
            </a:solidFill>
            <a:prstDash val="solid"/>
          </a:ln>
        </p:spPr>
      </p:sp>
      <p:sp>
        <p:nvSpPr>
          <p:cNvPr id="9" name="Text 5"/>
          <p:cNvSpPr/>
          <p:nvPr/>
        </p:nvSpPr>
        <p:spPr>
          <a:xfrm>
            <a:off x="457200" y="1188720"/>
            <a:ext cx="2286000" cy="27432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products</a:t>
            </a:r>
            <a:endParaRPr lang="en-US" sz="1150" dirty="0"/>
          </a:p>
        </p:txBody>
      </p:sp>
      <p:sp>
        <p:nvSpPr>
          <p:cNvPr id="10" name="Shape 6"/>
          <p:cNvSpPr/>
          <p:nvPr/>
        </p:nvSpPr>
        <p:spPr>
          <a:xfrm>
            <a:off x="457200" y="1463040"/>
            <a:ext cx="2286000" cy="1024128"/>
          </a:xfrm>
          <a:prstGeom prst="rect">
            <a:avLst/>
          </a:prstGeom>
          <a:solidFill>
            <a:srgbClr val="FFFFFF"/>
          </a:solidFill>
          <a:ln w="9525">
            <a:solidFill>
              <a:srgbClr val="C2410C"/>
            </a:solidFill>
            <a:prstDash val="solid"/>
          </a:ln>
        </p:spPr>
      </p:sp>
      <p:sp>
        <p:nvSpPr>
          <p:cNvPr id="11" name="Text 7"/>
          <p:cNvSpPr/>
          <p:nvPr/>
        </p:nvSpPr>
        <p:spPr>
          <a:xfrm>
            <a:off x="548640" y="1517904"/>
            <a:ext cx="2103120" cy="932688"/>
          </a:xfrm>
          <a:prstGeom prst="rect">
            <a:avLst/>
          </a:prstGeom>
          <a:noFill/>
          <a:ln/>
        </p:spPr>
        <p:txBody>
          <a:bodyPr wrap="square" lIns="0" tIns="0" rIns="0" bIns="0" rtlCol="0" anchor="t"/>
          <a:lstStyle/>
          <a:p>
            <a:pPr marL="0" indent="0">
              <a:buNone/>
            </a:pPr>
            <a:r>
              <a:rPr lang="en-US" sz="1000" b="1" dirty="0">
                <a:solidFill>
                  <a:srgbClr val="C2410C"/>
                </a:solidFill>
                <a:latin typeface="Calibri" pitchFamily="34" charset="0"/>
                <a:ea typeface="Calibri" pitchFamily="34" charset="-122"/>
                <a:cs typeface="Calibri" pitchFamily="34" charset="-120"/>
              </a:rPr>
              <a:t>PK </a:t>
            </a:r>
            <a:r>
              <a:rPr lang="en-US" sz="1000" dirty="0">
                <a:solidFill>
                  <a:srgbClr val="1E293B"/>
                </a:solidFill>
                <a:latin typeface="Calibri" pitchFamily="34" charset="0"/>
                <a:ea typeface="Calibri" pitchFamily="34" charset="-122"/>
                <a:cs typeface="Calibri" pitchFamily="34" charset="-120"/>
              </a:rPr>
              <a:t>id</a:t>
            </a:r>
            <a:endParaRPr lang="en-US" sz="1000" dirty="0"/>
          </a:p>
          <a:p>
            <a:pPr marL="0" indent="0">
              <a:buNone/>
            </a:pPr>
            <a:r>
              <a:rPr lang="en-US" sz="1000" dirty="0">
                <a:solidFill>
                  <a:srgbClr val="1E293B"/>
                </a:solidFill>
                <a:latin typeface="Calibri" pitchFamily="34" charset="0"/>
                <a:ea typeface="Calibri" pitchFamily="34" charset="-122"/>
                <a:cs typeface="Calibri" pitchFamily="34" charset="-120"/>
              </a:rPr>
              <a:t>name, description</a:t>
            </a:r>
            <a:endParaRPr lang="en-US" sz="1000" dirty="0"/>
          </a:p>
          <a:p>
            <a:pPr marL="0" indent="0">
              <a:buNone/>
            </a:pPr>
            <a:r>
              <a:rPr lang="en-US" sz="1000" dirty="0">
                <a:solidFill>
                  <a:srgbClr val="1E293B"/>
                </a:solidFill>
                <a:latin typeface="Calibri" pitchFamily="34" charset="0"/>
                <a:ea typeface="Calibri" pitchFamily="34" charset="-122"/>
                <a:cs typeface="Calibri" pitchFamily="34" charset="-120"/>
              </a:rPr>
              <a:t>image_url</a:t>
            </a:r>
            <a:endParaRPr lang="en-US" sz="1000" dirty="0"/>
          </a:p>
          <a:p>
            <a:pPr marL="0" indent="0">
              <a:buNone/>
            </a:pPr>
            <a:r>
              <a:rPr lang="en-US" sz="1000" b="1" dirty="0">
                <a:solidFill>
                  <a:srgbClr val="C2410C"/>
                </a:solidFill>
                <a:latin typeface="Calibri" pitchFamily="34" charset="0"/>
                <a:ea typeface="Calibri" pitchFamily="34" charset="-122"/>
                <a:cs typeface="Calibri" pitchFamily="34" charset="-120"/>
              </a:rPr>
              <a:t>FK </a:t>
            </a:r>
            <a:r>
              <a:rPr lang="en-US" sz="1000" dirty="0">
                <a:solidFill>
                  <a:srgbClr val="1E293B"/>
                </a:solidFill>
                <a:latin typeface="Calibri" pitchFamily="34" charset="0"/>
                <a:ea typeface="Calibri" pitchFamily="34" charset="-122"/>
                <a:cs typeface="Calibri" pitchFamily="34" charset="-120"/>
              </a:rPr>
              <a:t>created_by</a:t>
            </a:r>
            <a:endParaRPr lang="en-US" sz="1000" dirty="0"/>
          </a:p>
          <a:p>
            <a:pPr marL="0" indent="0">
              <a:buNone/>
            </a:pPr>
            <a:r>
              <a:rPr lang="en-US" sz="1000" dirty="0">
                <a:solidFill>
                  <a:srgbClr val="1E293B"/>
                </a:solidFill>
                <a:latin typeface="Calibri" pitchFamily="34" charset="0"/>
                <a:ea typeface="Calibri" pitchFamily="34" charset="-122"/>
                <a:cs typeface="Calibri" pitchFamily="34" charset="-120"/>
              </a:rPr>
              <a:t>created_at</a:t>
            </a:r>
            <a:endParaRPr lang="en-US" sz="1000" dirty="0"/>
          </a:p>
        </p:txBody>
      </p:sp>
      <p:sp>
        <p:nvSpPr>
          <p:cNvPr id="12" name="Shape 8"/>
          <p:cNvSpPr/>
          <p:nvPr/>
        </p:nvSpPr>
        <p:spPr>
          <a:xfrm>
            <a:off x="3429000" y="1188720"/>
            <a:ext cx="2286000" cy="274320"/>
          </a:xfrm>
          <a:prstGeom prst="rect">
            <a:avLst/>
          </a:prstGeom>
          <a:solidFill>
            <a:srgbClr val="C2410C"/>
          </a:solidFill>
          <a:ln w="9525">
            <a:solidFill>
              <a:srgbClr val="C2410C"/>
            </a:solidFill>
            <a:prstDash val="solid"/>
          </a:ln>
        </p:spPr>
      </p:sp>
      <p:sp>
        <p:nvSpPr>
          <p:cNvPr id="13" name="Text 9"/>
          <p:cNvSpPr/>
          <p:nvPr/>
        </p:nvSpPr>
        <p:spPr>
          <a:xfrm>
            <a:off x="3429000" y="1188720"/>
            <a:ext cx="2286000" cy="27432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auctions</a:t>
            </a:r>
            <a:endParaRPr lang="en-US" sz="1150" dirty="0"/>
          </a:p>
        </p:txBody>
      </p:sp>
      <p:sp>
        <p:nvSpPr>
          <p:cNvPr id="14" name="Shape 10"/>
          <p:cNvSpPr/>
          <p:nvPr/>
        </p:nvSpPr>
        <p:spPr>
          <a:xfrm>
            <a:off x="3429000" y="1463040"/>
            <a:ext cx="2286000" cy="1389888"/>
          </a:xfrm>
          <a:prstGeom prst="rect">
            <a:avLst/>
          </a:prstGeom>
          <a:solidFill>
            <a:srgbClr val="FFFFFF"/>
          </a:solidFill>
          <a:ln w="9525">
            <a:solidFill>
              <a:srgbClr val="C2410C"/>
            </a:solidFill>
            <a:prstDash val="solid"/>
          </a:ln>
        </p:spPr>
      </p:sp>
      <p:sp>
        <p:nvSpPr>
          <p:cNvPr id="15" name="Text 11"/>
          <p:cNvSpPr/>
          <p:nvPr/>
        </p:nvSpPr>
        <p:spPr>
          <a:xfrm>
            <a:off x="3520440" y="1517904"/>
            <a:ext cx="2103120" cy="1298448"/>
          </a:xfrm>
          <a:prstGeom prst="rect">
            <a:avLst/>
          </a:prstGeom>
          <a:noFill/>
          <a:ln/>
        </p:spPr>
        <p:txBody>
          <a:bodyPr wrap="square" lIns="0" tIns="0" rIns="0" bIns="0" rtlCol="0" anchor="t"/>
          <a:lstStyle/>
          <a:p>
            <a:pPr marL="0" indent="0">
              <a:buNone/>
            </a:pPr>
            <a:r>
              <a:rPr lang="en-US" sz="1000" b="1" dirty="0">
                <a:solidFill>
                  <a:srgbClr val="C2410C"/>
                </a:solidFill>
                <a:latin typeface="Calibri" pitchFamily="34" charset="0"/>
                <a:ea typeface="Calibri" pitchFamily="34" charset="-122"/>
                <a:cs typeface="Calibri" pitchFamily="34" charset="-120"/>
              </a:rPr>
              <a:t>PK </a:t>
            </a:r>
            <a:r>
              <a:rPr lang="en-US" sz="1000" dirty="0">
                <a:solidFill>
                  <a:srgbClr val="1E293B"/>
                </a:solidFill>
                <a:latin typeface="Calibri" pitchFamily="34" charset="0"/>
                <a:ea typeface="Calibri" pitchFamily="34" charset="-122"/>
                <a:cs typeface="Calibri" pitchFamily="34" charset="-120"/>
              </a:rPr>
              <a:t>id</a:t>
            </a:r>
            <a:endParaRPr lang="en-US" sz="1000" dirty="0"/>
          </a:p>
          <a:p>
            <a:pPr marL="0" indent="0">
              <a:buNone/>
            </a:pPr>
            <a:r>
              <a:rPr lang="en-US" sz="1000" b="1" dirty="0">
                <a:solidFill>
                  <a:srgbClr val="C2410C"/>
                </a:solidFill>
                <a:latin typeface="Calibri" pitchFamily="34" charset="0"/>
                <a:ea typeface="Calibri" pitchFamily="34" charset="-122"/>
                <a:cs typeface="Calibri" pitchFamily="34" charset="-120"/>
              </a:rPr>
              <a:t>FK </a:t>
            </a:r>
            <a:r>
              <a:rPr lang="en-US" sz="1000" dirty="0">
                <a:solidFill>
                  <a:srgbClr val="1E293B"/>
                </a:solidFill>
                <a:latin typeface="Calibri" pitchFamily="34" charset="0"/>
                <a:ea typeface="Calibri" pitchFamily="34" charset="-122"/>
                <a:cs typeface="Calibri" pitchFamily="34" charset="-120"/>
              </a:rPr>
              <a:t>product_id</a:t>
            </a:r>
            <a:endParaRPr lang="en-US" sz="1000" dirty="0"/>
          </a:p>
          <a:p>
            <a:pPr marL="0" indent="0">
              <a:buNone/>
            </a:pPr>
            <a:r>
              <a:rPr lang="en-US" sz="1000" dirty="0">
                <a:solidFill>
                  <a:srgbClr val="1E293B"/>
                </a:solidFill>
                <a:latin typeface="Calibri" pitchFamily="34" charset="0"/>
                <a:ea typeface="Calibri" pitchFamily="34" charset="-122"/>
                <a:cs typeface="Calibri" pitchFamily="34" charset="-120"/>
              </a:rPr>
              <a:t>starting_price</a:t>
            </a:r>
            <a:endParaRPr lang="en-US" sz="1000" dirty="0"/>
          </a:p>
          <a:p>
            <a:pPr marL="0" indent="0">
              <a:buNone/>
            </a:pPr>
            <a:r>
              <a:rPr lang="en-US" sz="1000" dirty="0">
                <a:solidFill>
                  <a:srgbClr val="1E293B"/>
                </a:solidFill>
                <a:latin typeface="Calibri" pitchFamily="34" charset="0"/>
                <a:ea typeface="Calibri" pitchFamily="34" charset="-122"/>
                <a:cs typeface="Calibri" pitchFamily="34" charset="-120"/>
              </a:rPr>
              <a:t>current_highest_bid</a:t>
            </a:r>
            <a:endParaRPr lang="en-US" sz="1000" dirty="0"/>
          </a:p>
          <a:p>
            <a:pPr marL="0" indent="0">
              <a:buNone/>
            </a:pPr>
            <a:r>
              <a:rPr lang="en-US" sz="1000" b="1" dirty="0">
                <a:solidFill>
                  <a:srgbClr val="C2410C"/>
                </a:solidFill>
                <a:latin typeface="Calibri" pitchFamily="34" charset="0"/>
                <a:ea typeface="Calibri" pitchFamily="34" charset="-122"/>
                <a:cs typeface="Calibri" pitchFamily="34" charset="-120"/>
              </a:rPr>
              <a:t>FK </a:t>
            </a:r>
            <a:r>
              <a:rPr lang="en-US" sz="1000" dirty="0">
                <a:solidFill>
                  <a:srgbClr val="1E293B"/>
                </a:solidFill>
                <a:latin typeface="Calibri" pitchFamily="34" charset="0"/>
                <a:ea typeface="Calibri" pitchFamily="34" charset="-122"/>
                <a:cs typeface="Calibri" pitchFamily="34" charset="-120"/>
              </a:rPr>
              <a:t>current_highest_bidder_id</a:t>
            </a:r>
            <a:endParaRPr lang="en-US" sz="1000" dirty="0"/>
          </a:p>
          <a:p>
            <a:pPr marL="0" indent="0">
              <a:buNone/>
            </a:pPr>
            <a:r>
              <a:rPr lang="en-US" sz="1000" dirty="0">
                <a:solidFill>
                  <a:srgbClr val="1E293B"/>
                </a:solidFill>
                <a:latin typeface="Calibri" pitchFamily="34" charset="0"/>
                <a:ea typeface="Calibri" pitchFamily="34" charset="-122"/>
                <a:cs typeface="Calibri" pitchFamily="34" charset="-120"/>
              </a:rPr>
              <a:t>start_time, end_time</a:t>
            </a:r>
            <a:endParaRPr lang="en-US" sz="1000" dirty="0"/>
          </a:p>
          <a:p>
            <a:pPr marL="0" indent="0">
              <a:buNone/>
            </a:pPr>
            <a:r>
              <a:rPr lang="en-US" sz="1000" dirty="0">
                <a:solidFill>
                  <a:srgbClr val="1E293B"/>
                </a:solidFill>
                <a:latin typeface="Calibri" pitchFamily="34" charset="0"/>
                <a:ea typeface="Calibri" pitchFamily="34" charset="-122"/>
                <a:cs typeface="Calibri" pitchFamily="34" charset="-120"/>
              </a:rPr>
              <a:t>status (scheduled | active | closed)</a:t>
            </a:r>
            <a:endParaRPr lang="en-US" sz="1000" dirty="0"/>
          </a:p>
        </p:txBody>
      </p:sp>
      <p:sp>
        <p:nvSpPr>
          <p:cNvPr id="16" name="Shape 12"/>
          <p:cNvSpPr/>
          <p:nvPr/>
        </p:nvSpPr>
        <p:spPr>
          <a:xfrm>
            <a:off x="6400800" y="1188720"/>
            <a:ext cx="2286000" cy="274320"/>
          </a:xfrm>
          <a:prstGeom prst="rect">
            <a:avLst/>
          </a:prstGeom>
          <a:solidFill>
            <a:srgbClr val="C2410C"/>
          </a:solidFill>
          <a:ln w="9525">
            <a:solidFill>
              <a:srgbClr val="C2410C"/>
            </a:solidFill>
            <a:prstDash val="solid"/>
          </a:ln>
        </p:spPr>
      </p:sp>
      <p:sp>
        <p:nvSpPr>
          <p:cNvPr id="17" name="Text 13"/>
          <p:cNvSpPr/>
          <p:nvPr/>
        </p:nvSpPr>
        <p:spPr>
          <a:xfrm>
            <a:off x="6400800" y="1188720"/>
            <a:ext cx="2286000" cy="27432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auction_results</a:t>
            </a:r>
            <a:endParaRPr lang="en-US" sz="1150" dirty="0"/>
          </a:p>
        </p:txBody>
      </p:sp>
      <p:sp>
        <p:nvSpPr>
          <p:cNvPr id="18" name="Shape 14"/>
          <p:cNvSpPr/>
          <p:nvPr/>
        </p:nvSpPr>
        <p:spPr>
          <a:xfrm>
            <a:off x="6400800" y="1463040"/>
            <a:ext cx="2286000" cy="841248"/>
          </a:xfrm>
          <a:prstGeom prst="rect">
            <a:avLst/>
          </a:prstGeom>
          <a:solidFill>
            <a:srgbClr val="FFFFFF"/>
          </a:solidFill>
          <a:ln w="9525">
            <a:solidFill>
              <a:srgbClr val="C2410C"/>
            </a:solidFill>
            <a:prstDash val="solid"/>
          </a:ln>
        </p:spPr>
      </p:sp>
      <p:sp>
        <p:nvSpPr>
          <p:cNvPr id="19" name="Text 15"/>
          <p:cNvSpPr/>
          <p:nvPr/>
        </p:nvSpPr>
        <p:spPr>
          <a:xfrm>
            <a:off x="6492240" y="1517904"/>
            <a:ext cx="2103120" cy="749808"/>
          </a:xfrm>
          <a:prstGeom prst="rect">
            <a:avLst/>
          </a:prstGeom>
          <a:noFill/>
          <a:ln/>
        </p:spPr>
        <p:txBody>
          <a:bodyPr wrap="square" lIns="0" tIns="0" rIns="0" bIns="0" rtlCol="0" anchor="t"/>
          <a:lstStyle/>
          <a:p>
            <a:pPr marL="0" indent="0">
              <a:buNone/>
            </a:pPr>
            <a:r>
              <a:rPr lang="en-US" sz="1000" b="1" dirty="0">
                <a:solidFill>
                  <a:srgbClr val="C2410C"/>
                </a:solidFill>
                <a:latin typeface="Calibri" pitchFamily="34" charset="0"/>
                <a:ea typeface="Calibri" pitchFamily="34" charset="-122"/>
                <a:cs typeface="Calibri" pitchFamily="34" charset="-120"/>
              </a:rPr>
              <a:t>PK/FK </a:t>
            </a:r>
            <a:r>
              <a:rPr lang="en-US" sz="1000" dirty="0">
                <a:solidFill>
                  <a:srgbClr val="1E293B"/>
                </a:solidFill>
                <a:latin typeface="Calibri" pitchFamily="34" charset="0"/>
                <a:ea typeface="Calibri" pitchFamily="34" charset="-122"/>
                <a:cs typeface="Calibri" pitchFamily="34" charset="-120"/>
              </a:rPr>
              <a:t>auction_id</a:t>
            </a:r>
            <a:endParaRPr lang="en-US" sz="1000" dirty="0"/>
          </a:p>
          <a:p>
            <a:pPr marL="0" indent="0">
              <a:buNone/>
            </a:pPr>
            <a:r>
              <a:rPr lang="en-US" sz="1000" b="1" dirty="0">
                <a:solidFill>
                  <a:srgbClr val="C2410C"/>
                </a:solidFill>
                <a:latin typeface="Calibri" pitchFamily="34" charset="0"/>
                <a:ea typeface="Calibri" pitchFamily="34" charset="-122"/>
                <a:cs typeface="Calibri" pitchFamily="34" charset="-120"/>
              </a:rPr>
              <a:t>FK </a:t>
            </a:r>
            <a:r>
              <a:rPr lang="en-US" sz="1000" dirty="0">
                <a:solidFill>
                  <a:srgbClr val="1E293B"/>
                </a:solidFill>
                <a:latin typeface="Calibri" pitchFamily="34" charset="0"/>
                <a:ea typeface="Calibri" pitchFamily="34" charset="-122"/>
                <a:cs typeface="Calibri" pitchFamily="34" charset="-120"/>
              </a:rPr>
              <a:t>winning_bid_id</a:t>
            </a:r>
            <a:endParaRPr lang="en-US" sz="1000" dirty="0"/>
          </a:p>
          <a:p>
            <a:pPr marL="0" indent="0">
              <a:buNone/>
            </a:pPr>
            <a:r>
              <a:rPr lang="en-US" sz="1000" b="1" dirty="0">
                <a:solidFill>
                  <a:srgbClr val="C2410C"/>
                </a:solidFill>
                <a:latin typeface="Calibri" pitchFamily="34" charset="0"/>
                <a:ea typeface="Calibri" pitchFamily="34" charset="-122"/>
                <a:cs typeface="Calibri" pitchFamily="34" charset="-120"/>
              </a:rPr>
              <a:t>FK </a:t>
            </a:r>
            <a:r>
              <a:rPr lang="en-US" sz="1000" dirty="0">
                <a:solidFill>
                  <a:srgbClr val="1E293B"/>
                </a:solidFill>
                <a:latin typeface="Calibri" pitchFamily="34" charset="0"/>
                <a:ea typeface="Calibri" pitchFamily="34" charset="-122"/>
                <a:cs typeface="Calibri" pitchFamily="34" charset="-120"/>
              </a:rPr>
              <a:t>winner_id</a:t>
            </a:r>
            <a:endParaRPr lang="en-US" sz="1000" dirty="0"/>
          </a:p>
          <a:p>
            <a:pPr marL="0" indent="0">
              <a:buNone/>
            </a:pPr>
            <a:r>
              <a:rPr lang="en-US" sz="1000" dirty="0">
                <a:solidFill>
                  <a:srgbClr val="1E293B"/>
                </a:solidFill>
                <a:latin typeface="Calibri" pitchFamily="34" charset="0"/>
                <a:ea typeface="Calibri" pitchFamily="34" charset="-122"/>
                <a:cs typeface="Calibri" pitchFamily="34" charset="-120"/>
              </a:rPr>
              <a:t>finalized_at</a:t>
            </a:r>
            <a:endParaRPr lang="en-US" sz="1000" dirty="0"/>
          </a:p>
        </p:txBody>
      </p:sp>
      <p:sp>
        <p:nvSpPr>
          <p:cNvPr id="20" name="Shape 16"/>
          <p:cNvSpPr/>
          <p:nvPr/>
        </p:nvSpPr>
        <p:spPr>
          <a:xfrm>
            <a:off x="457200" y="3246120"/>
            <a:ext cx="2286000" cy="274320"/>
          </a:xfrm>
          <a:prstGeom prst="rect">
            <a:avLst/>
          </a:prstGeom>
          <a:solidFill>
            <a:srgbClr val="C2410C"/>
          </a:solidFill>
          <a:ln w="9525">
            <a:solidFill>
              <a:srgbClr val="C2410C"/>
            </a:solidFill>
            <a:prstDash val="solid"/>
          </a:ln>
        </p:spPr>
      </p:sp>
      <p:sp>
        <p:nvSpPr>
          <p:cNvPr id="21" name="Text 17"/>
          <p:cNvSpPr/>
          <p:nvPr/>
        </p:nvSpPr>
        <p:spPr>
          <a:xfrm>
            <a:off x="457200" y="3246120"/>
            <a:ext cx="2286000" cy="27432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users</a:t>
            </a:r>
            <a:endParaRPr lang="en-US" sz="1150" dirty="0"/>
          </a:p>
        </p:txBody>
      </p:sp>
      <p:sp>
        <p:nvSpPr>
          <p:cNvPr id="22" name="Shape 18"/>
          <p:cNvSpPr/>
          <p:nvPr/>
        </p:nvSpPr>
        <p:spPr>
          <a:xfrm>
            <a:off x="457200" y="3520440"/>
            <a:ext cx="2286000" cy="1207008"/>
          </a:xfrm>
          <a:prstGeom prst="rect">
            <a:avLst/>
          </a:prstGeom>
          <a:solidFill>
            <a:srgbClr val="FFFFFF"/>
          </a:solidFill>
          <a:ln w="9525">
            <a:solidFill>
              <a:srgbClr val="C2410C"/>
            </a:solidFill>
            <a:prstDash val="solid"/>
          </a:ln>
        </p:spPr>
      </p:sp>
      <p:sp>
        <p:nvSpPr>
          <p:cNvPr id="23" name="Text 19"/>
          <p:cNvSpPr/>
          <p:nvPr/>
        </p:nvSpPr>
        <p:spPr>
          <a:xfrm>
            <a:off x="548640" y="3575304"/>
            <a:ext cx="2103120" cy="1115568"/>
          </a:xfrm>
          <a:prstGeom prst="rect">
            <a:avLst/>
          </a:prstGeom>
          <a:noFill/>
          <a:ln/>
        </p:spPr>
        <p:txBody>
          <a:bodyPr wrap="square" lIns="0" tIns="0" rIns="0" bIns="0" rtlCol="0" anchor="t"/>
          <a:lstStyle/>
          <a:p>
            <a:pPr marL="0" indent="0">
              <a:buNone/>
            </a:pPr>
            <a:r>
              <a:rPr lang="en-US" sz="1000" b="1" dirty="0">
                <a:solidFill>
                  <a:srgbClr val="C2410C"/>
                </a:solidFill>
                <a:latin typeface="Calibri" pitchFamily="34" charset="0"/>
                <a:ea typeface="Calibri" pitchFamily="34" charset="-122"/>
                <a:cs typeface="Calibri" pitchFamily="34" charset="-120"/>
              </a:rPr>
              <a:t>PK </a:t>
            </a:r>
            <a:r>
              <a:rPr lang="en-US" sz="1000" dirty="0">
                <a:solidFill>
                  <a:srgbClr val="1E293B"/>
                </a:solidFill>
                <a:latin typeface="Calibri" pitchFamily="34" charset="0"/>
                <a:ea typeface="Calibri" pitchFamily="34" charset="-122"/>
                <a:cs typeface="Calibri" pitchFamily="34" charset="-120"/>
              </a:rPr>
              <a:t>id</a:t>
            </a:r>
            <a:endParaRPr lang="en-US" sz="1000" dirty="0"/>
          </a:p>
          <a:p>
            <a:pPr marL="0" indent="0">
              <a:buNone/>
            </a:pPr>
            <a:r>
              <a:rPr lang="en-US" sz="1000" dirty="0">
                <a:solidFill>
                  <a:srgbClr val="1E293B"/>
                </a:solidFill>
                <a:latin typeface="Calibri" pitchFamily="34" charset="0"/>
                <a:ea typeface="Calibri" pitchFamily="34" charset="-122"/>
                <a:cs typeface="Calibri" pitchFamily="34" charset="-120"/>
              </a:rPr>
              <a:t>name</a:t>
            </a:r>
            <a:endParaRPr lang="en-US" sz="1000" dirty="0"/>
          </a:p>
          <a:p>
            <a:pPr marL="0" indent="0">
              <a:buNone/>
            </a:pPr>
            <a:r>
              <a:rPr lang="en-US" sz="1000" dirty="0">
                <a:solidFill>
                  <a:srgbClr val="1E293B"/>
                </a:solidFill>
                <a:latin typeface="Calibri" pitchFamily="34" charset="0"/>
                <a:ea typeface="Calibri" pitchFamily="34" charset="-122"/>
                <a:cs typeface="Calibri" pitchFamily="34" charset="-120"/>
              </a:rPr>
              <a:t>email (UNIQUE)</a:t>
            </a:r>
            <a:endParaRPr lang="en-US" sz="1000" dirty="0"/>
          </a:p>
          <a:p>
            <a:pPr marL="0" indent="0">
              <a:buNone/>
            </a:pPr>
            <a:r>
              <a:rPr lang="en-US" sz="1000" dirty="0">
                <a:solidFill>
                  <a:srgbClr val="1E293B"/>
                </a:solidFill>
                <a:latin typeface="Calibri" pitchFamily="34" charset="0"/>
                <a:ea typeface="Calibri" pitchFamily="34" charset="-122"/>
                <a:cs typeface="Calibri" pitchFamily="34" charset="-120"/>
              </a:rPr>
              <a:t>password_hash</a:t>
            </a:r>
            <a:endParaRPr lang="en-US" sz="1000" dirty="0"/>
          </a:p>
          <a:p>
            <a:pPr marL="0" indent="0">
              <a:buNone/>
            </a:pPr>
            <a:r>
              <a:rPr lang="en-US" sz="1000" dirty="0">
                <a:solidFill>
                  <a:srgbClr val="1E293B"/>
                </a:solidFill>
                <a:latin typeface="Calibri" pitchFamily="34" charset="0"/>
                <a:ea typeface="Calibri" pitchFamily="34" charset="-122"/>
                <a:cs typeface="Calibri" pitchFamily="34" charset="-120"/>
              </a:rPr>
              <a:t>role (user | admin)</a:t>
            </a:r>
            <a:endParaRPr lang="en-US" sz="1000" dirty="0"/>
          </a:p>
          <a:p>
            <a:pPr marL="0" indent="0">
              <a:buNone/>
            </a:pPr>
            <a:r>
              <a:rPr lang="en-US" sz="1000" dirty="0">
                <a:solidFill>
                  <a:srgbClr val="1E293B"/>
                </a:solidFill>
                <a:latin typeface="Calibri" pitchFamily="34" charset="0"/>
                <a:ea typeface="Calibri" pitchFamily="34" charset="-122"/>
                <a:cs typeface="Calibri" pitchFamily="34" charset="-120"/>
              </a:rPr>
              <a:t>created_at</a:t>
            </a:r>
            <a:endParaRPr lang="en-US" sz="1000" dirty="0"/>
          </a:p>
        </p:txBody>
      </p:sp>
      <p:sp>
        <p:nvSpPr>
          <p:cNvPr id="24" name="Shape 20"/>
          <p:cNvSpPr/>
          <p:nvPr/>
        </p:nvSpPr>
        <p:spPr>
          <a:xfrm>
            <a:off x="3429000" y="3246120"/>
            <a:ext cx="2286000" cy="274320"/>
          </a:xfrm>
          <a:prstGeom prst="rect">
            <a:avLst/>
          </a:prstGeom>
          <a:solidFill>
            <a:srgbClr val="C2410C"/>
          </a:solidFill>
          <a:ln w="9525">
            <a:solidFill>
              <a:srgbClr val="C2410C"/>
            </a:solidFill>
            <a:prstDash val="solid"/>
          </a:ln>
        </p:spPr>
      </p:sp>
      <p:sp>
        <p:nvSpPr>
          <p:cNvPr id="25" name="Text 21"/>
          <p:cNvSpPr/>
          <p:nvPr/>
        </p:nvSpPr>
        <p:spPr>
          <a:xfrm>
            <a:off x="3429000" y="3246120"/>
            <a:ext cx="2286000" cy="27432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bids</a:t>
            </a:r>
            <a:endParaRPr lang="en-US" sz="1150" dirty="0"/>
          </a:p>
        </p:txBody>
      </p:sp>
      <p:sp>
        <p:nvSpPr>
          <p:cNvPr id="26" name="Shape 22"/>
          <p:cNvSpPr/>
          <p:nvPr/>
        </p:nvSpPr>
        <p:spPr>
          <a:xfrm>
            <a:off x="3429000" y="3520440"/>
            <a:ext cx="2286000" cy="1207008"/>
          </a:xfrm>
          <a:prstGeom prst="rect">
            <a:avLst/>
          </a:prstGeom>
          <a:solidFill>
            <a:srgbClr val="FFFFFF"/>
          </a:solidFill>
          <a:ln w="9525">
            <a:solidFill>
              <a:srgbClr val="C2410C"/>
            </a:solidFill>
            <a:prstDash val="solid"/>
          </a:ln>
        </p:spPr>
      </p:sp>
      <p:sp>
        <p:nvSpPr>
          <p:cNvPr id="27" name="Text 23"/>
          <p:cNvSpPr/>
          <p:nvPr/>
        </p:nvSpPr>
        <p:spPr>
          <a:xfrm>
            <a:off x="3520440" y="3575304"/>
            <a:ext cx="2103120" cy="1115568"/>
          </a:xfrm>
          <a:prstGeom prst="rect">
            <a:avLst/>
          </a:prstGeom>
          <a:noFill/>
          <a:ln/>
        </p:spPr>
        <p:txBody>
          <a:bodyPr wrap="square" lIns="0" tIns="0" rIns="0" bIns="0" rtlCol="0" anchor="t"/>
          <a:lstStyle/>
          <a:p>
            <a:pPr marL="0" indent="0">
              <a:buNone/>
            </a:pPr>
            <a:r>
              <a:rPr lang="en-US" sz="1000" b="1" dirty="0">
                <a:solidFill>
                  <a:srgbClr val="C2410C"/>
                </a:solidFill>
                <a:latin typeface="Calibri" pitchFamily="34" charset="0"/>
                <a:ea typeface="Calibri" pitchFamily="34" charset="-122"/>
                <a:cs typeface="Calibri" pitchFamily="34" charset="-120"/>
              </a:rPr>
              <a:t>PK </a:t>
            </a:r>
            <a:r>
              <a:rPr lang="en-US" sz="1000" dirty="0">
                <a:solidFill>
                  <a:srgbClr val="1E293B"/>
                </a:solidFill>
                <a:latin typeface="Calibri" pitchFamily="34" charset="0"/>
                <a:ea typeface="Calibri" pitchFamily="34" charset="-122"/>
                <a:cs typeface="Calibri" pitchFamily="34" charset="-120"/>
              </a:rPr>
              <a:t>id</a:t>
            </a:r>
            <a:endParaRPr lang="en-US" sz="1000" dirty="0"/>
          </a:p>
          <a:p>
            <a:pPr marL="0" indent="0">
              <a:buNone/>
            </a:pPr>
            <a:r>
              <a:rPr lang="en-US" sz="1000" b="1" dirty="0">
                <a:solidFill>
                  <a:srgbClr val="C2410C"/>
                </a:solidFill>
                <a:latin typeface="Calibri" pitchFamily="34" charset="0"/>
                <a:ea typeface="Calibri" pitchFamily="34" charset="-122"/>
                <a:cs typeface="Calibri" pitchFamily="34" charset="-120"/>
              </a:rPr>
              <a:t>FK </a:t>
            </a:r>
            <a:r>
              <a:rPr lang="en-US" sz="1000" dirty="0">
                <a:solidFill>
                  <a:srgbClr val="1E293B"/>
                </a:solidFill>
                <a:latin typeface="Calibri" pitchFamily="34" charset="0"/>
                <a:ea typeface="Calibri" pitchFamily="34" charset="-122"/>
                <a:cs typeface="Calibri" pitchFamily="34" charset="-120"/>
              </a:rPr>
              <a:t>auction_id</a:t>
            </a:r>
            <a:endParaRPr lang="en-US" sz="1000" dirty="0"/>
          </a:p>
          <a:p>
            <a:pPr marL="0" indent="0">
              <a:buNone/>
            </a:pPr>
            <a:r>
              <a:rPr lang="en-US" sz="1000" b="1" dirty="0">
                <a:solidFill>
                  <a:srgbClr val="C2410C"/>
                </a:solidFill>
                <a:latin typeface="Calibri" pitchFamily="34" charset="0"/>
                <a:ea typeface="Calibri" pitchFamily="34" charset="-122"/>
                <a:cs typeface="Calibri" pitchFamily="34" charset="-120"/>
              </a:rPr>
              <a:t>FK </a:t>
            </a:r>
            <a:r>
              <a:rPr lang="en-US" sz="1000" dirty="0">
                <a:solidFill>
                  <a:srgbClr val="1E293B"/>
                </a:solidFill>
                <a:latin typeface="Calibri" pitchFamily="34" charset="0"/>
                <a:ea typeface="Calibri" pitchFamily="34" charset="-122"/>
                <a:cs typeface="Calibri" pitchFamily="34" charset="-120"/>
              </a:rPr>
              <a:t>user_id</a:t>
            </a:r>
            <a:endParaRPr lang="en-US" sz="1000" dirty="0"/>
          </a:p>
          <a:p>
            <a:pPr marL="0" indent="0">
              <a:buNone/>
            </a:pPr>
            <a:r>
              <a:rPr lang="en-US" sz="1000" dirty="0">
                <a:solidFill>
                  <a:srgbClr val="1E293B"/>
                </a:solidFill>
                <a:latin typeface="Calibri" pitchFamily="34" charset="0"/>
                <a:ea typeface="Calibri" pitchFamily="34" charset="-122"/>
                <a:cs typeface="Calibri" pitchFamily="34" charset="-120"/>
              </a:rPr>
              <a:t>amount</a:t>
            </a:r>
            <a:endParaRPr lang="en-US" sz="1000" dirty="0"/>
          </a:p>
          <a:p>
            <a:pPr marL="0" indent="0">
              <a:buNone/>
            </a:pPr>
            <a:r>
              <a:rPr lang="en-US" sz="1000" dirty="0">
                <a:solidFill>
                  <a:srgbClr val="1E293B"/>
                </a:solidFill>
                <a:latin typeface="Calibri" pitchFamily="34" charset="0"/>
                <a:ea typeface="Calibri" pitchFamily="34" charset="-122"/>
                <a:cs typeface="Calibri" pitchFamily="34" charset="-120"/>
              </a:rPr>
              <a:t>created_at</a:t>
            </a:r>
            <a:endParaRPr lang="en-US" sz="1000" dirty="0"/>
          </a:p>
          <a:p>
            <a:pPr marL="0" indent="0">
              <a:buNone/>
            </a:pPr>
            <a:r>
              <a:rPr lang="en-US" sz="1000" b="1" dirty="0">
                <a:solidFill>
                  <a:srgbClr val="C2410C"/>
                </a:solidFill>
                <a:latin typeface="Calibri" pitchFamily="34" charset="0"/>
                <a:ea typeface="Calibri" pitchFamily="34" charset="-122"/>
                <a:cs typeface="Calibri" pitchFamily="34" charset="-120"/>
              </a:rPr>
              <a:t>IDX </a:t>
            </a:r>
            <a:r>
              <a:rPr lang="en-US" sz="1000" dirty="0">
                <a:solidFill>
                  <a:srgbClr val="1E293B"/>
                </a:solidFill>
                <a:latin typeface="Calibri" pitchFamily="34" charset="0"/>
                <a:ea typeface="Calibri" pitchFamily="34" charset="-122"/>
                <a:cs typeface="Calibri" pitchFamily="34" charset="-120"/>
              </a:rPr>
              <a:t>(auction_id, amount)</a:t>
            </a:r>
            <a:endParaRPr lang="en-US" sz="1000" dirty="0"/>
          </a:p>
        </p:txBody>
      </p:sp>
      <p:sp>
        <p:nvSpPr>
          <p:cNvPr id="28" name="Shape 24"/>
          <p:cNvSpPr/>
          <p:nvPr/>
        </p:nvSpPr>
        <p:spPr>
          <a:xfrm>
            <a:off x="2743200" y="1783080"/>
            <a:ext cx="685800" cy="0"/>
          </a:xfrm>
          <a:prstGeom prst="line">
            <a:avLst/>
          </a:prstGeom>
          <a:noFill/>
          <a:ln w="19050">
            <a:solidFill>
              <a:srgbClr val="C2410C"/>
            </a:solidFill>
            <a:prstDash val="solid"/>
          </a:ln>
        </p:spPr>
      </p:sp>
      <p:sp>
        <p:nvSpPr>
          <p:cNvPr id="29" name="Text 25"/>
          <p:cNvSpPr/>
          <p:nvPr/>
        </p:nvSpPr>
        <p:spPr>
          <a:xfrm>
            <a:off x="2743200" y="1572768"/>
            <a:ext cx="685800" cy="182880"/>
          </a:xfrm>
          <a:prstGeom prst="rect">
            <a:avLst/>
          </a:prstGeom>
          <a:noFill/>
          <a:ln/>
        </p:spPr>
        <p:txBody>
          <a:bodyPr wrap="square" lIns="0" tIns="0" rIns="0" bIns="0" rtlCol="0" anchor="ctr"/>
          <a:lstStyle/>
          <a:p>
            <a:pPr marL="0" indent="0" algn="ctr">
              <a:buNone/>
            </a:pPr>
            <a:r>
              <a:rPr lang="en-US" sz="950" b="1" dirty="0">
                <a:solidFill>
                  <a:srgbClr val="C2410C"/>
                </a:solidFill>
                <a:latin typeface="Calibri" pitchFamily="34" charset="0"/>
                <a:ea typeface="Calibri" pitchFamily="34" charset="-122"/>
                <a:cs typeface="Calibri" pitchFamily="34" charset="-120"/>
              </a:rPr>
              <a:t>1 : N</a:t>
            </a:r>
            <a:endParaRPr lang="en-US" sz="950" dirty="0"/>
          </a:p>
        </p:txBody>
      </p:sp>
      <p:sp>
        <p:nvSpPr>
          <p:cNvPr id="30" name="Shape 26"/>
          <p:cNvSpPr/>
          <p:nvPr/>
        </p:nvSpPr>
        <p:spPr>
          <a:xfrm>
            <a:off x="5715000" y="1783080"/>
            <a:ext cx="685800" cy="0"/>
          </a:xfrm>
          <a:prstGeom prst="line">
            <a:avLst/>
          </a:prstGeom>
          <a:noFill/>
          <a:ln w="19050">
            <a:solidFill>
              <a:srgbClr val="C2410C"/>
            </a:solidFill>
            <a:prstDash val="solid"/>
          </a:ln>
        </p:spPr>
      </p:sp>
      <p:sp>
        <p:nvSpPr>
          <p:cNvPr id="31" name="Text 27"/>
          <p:cNvSpPr/>
          <p:nvPr/>
        </p:nvSpPr>
        <p:spPr>
          <a:xfrm>
            <a:off x="5715000" y="1572768"/>
            <a:ext cx="685800" cy="182880"/>
          </a:xfrm>
          <a:prstGeom prst="rect">
            <a:avLst/>
          </a:prstGeom>
          <a:noFill/>
          <a:ln/>
        </p:spPr>
        <p:txBody>
          <a:bodyPr wrap="square" lIns="0" tIns="0" rIns="0" bIns="0" rtlCol="0" anchor="ctr"/>
          <a:lstStyle/>
          <a:p>
            <a:pPr marL="0" indent="0" algn="ctr">
              <a:buNone/>
            </a:pPr>
            <a:r>
              <a:rPr lang="en-US" sz="950" b="1" dirty="0">
                <a:solidFill>
                  <a:srgbClr val="C2410C"/>
                </a:solidFill>
                <a:latin typeface="Calibri" pitchFamily="34" charset="0"/>
                <a:ea typeface="Calibri" pitchFamily="34" charset="-122"/>
                <a:cs typeface="Calibri" pitchFamily="34" charset="-120"/>
              </a:rPr>
              <a:t>1 : 1</a:t>
            </a:r>
            <a:endParaRPr lang="en-US" sz="950" dirty="0"/>
          </a:p>
        </p:txBody>
      </p:sp>
      <p:sp>
        <p:nvSpPr>
          <p:cNvPr id="32" name="Shape 28"/>
          <p:cNvSpPr/>
          <p:nvPr/>
        </p:nvSpPr>
        <p:spPr>
          <a:xfrm>
            <a:off x="2715768" y="4023360"/>
            <a:ext cx="713232" cy="0"/>
          </a:xfrm>
          <a:prstGeom prst="line">
            <a:avLst/>
          </a:prstGeom>
          <a:noFill/>
          <a:ln w="19050">
            <a:solidFill>
              <a:srgbClr val="C2410C"/>
            </a:solidFill>
            <a:prstDash val="solid"/>
          </a:ln>
        </p:spPr>
      </p:sp>
      <p:sp>
        <p:nvSpPr>
          <p:cNvPr id="33" name="Text 29"/>
          <p:cNvSpPr/>
          <p:nvPr/>
        </p:nvSpPr>
        <p:spPr>
          <a:xfrm>
            <a:off x="2743200" y="3813048"/>
            <a:ext cx="685800" cy="182880"/>
          </a:xfrm>
          <a:prstGeom prst="rect">
            <a:avLst/>
          </a:prstGeom>
          <a:noFill/>
          <a:ln/>
        </p:spPr>
        <p:txBody>
          <a:bodyPr wrap="square" lIns="0" tIns="0" rIns="0" bIns="0" rtlCol="0" anchor="ctr"/>
          <a:lstStyle/>
          <a:p>
            <a:pPr marL="0" indent="0" algn="ctr">
              <a:buNone/>
            </a:pPr>
            <a:r>
              <a:rPr lang="en-US" sz="950" b="1" dirty="0">
                <a:solidFill>
                  <a:srgbClr val="C2410C"/>
                </a:solidFill>
                <a:latin typeface="Calibri" pitchFamily="34" charset="0"/>
                <a:ea typeface="Calibri" pitchFamily="34" charset="-122"/>
                <a:cs typeface="Calibri" pitchFamily="34" charset="-120"/>
              </a:rPr>
              <a:t>1 : N</a:t>
            </a:r>
            <a:endParaRPr lang="en-US" sz="950" dirty="0"/>
          </a:p>
        </p:txBody>
      </p:sp>
      <p:sp>
        <p:nvSpPr>
          <p:cNvPr id="34" name="Shape 30"/>
          <p:cNvSpPr/>
          <p:nvPr/>
        </p:nvSpPr>
        <p:spPr>
          <a:xfrm>
            <a:off x="4572000" y="2743200"/>
            <a:ext cx="0" cy="502920"/>
          </a:xfrm>
          <a:prstGeom prst="line">
            <a:avLst/>
          </a:prstGeom>
          <a:noFill/>
          <a:ln w="19050">
            <a:solidFill>
              <a:srgbClr val="C2410C"/>
            </a:solidFill>
            <a:prstDash val="solid"/>
          </a:ln>
        </p:spPr>
      </p:sp>
      <p:sp>
        <p:nvSpPr>
          <p:cNvPr id="35" name="Text 31"/>
          <p:cNvSpPr/>
          <p:nvPr/>
        </p:nvSpPr>
        <p:spPr>
          <a:xfrm>
            <a:off x="4636008" y="2907792"/>
            <a:ext cx="548640" cy="182880"/>
          </a:xfrm>
          <a:prstGeom prst="rect">
            <a:avLst/>
          </a:prstGeom>
          <a:noFill/>
          <a:ln/>
        </p:spPr>
        <p:txBody>
          <a:bodyPr wrap="square" lIns="0" tIns="0" rIns="0" bIns="0" rtlCol="0" anchor="ctr"/>
          <a:lstStyle/>
          <a:p>
            <a:pPr marL="0" indent="0" algn="ctr">
              <a:buNone/>
            </a:pPr>
            <a:r>
              <a:rPr lang="en-US" sz="950" b="1" dirty="0">
                <a:solidFill>
                  <a:srgbClr val="C2410C"/>
                </a:solidFill>
                <a:latin typeface="Calibri" pitchFamily="34" charset="0"/>
                <a:ea typeface="Calibri" pitchFamily="34" charset="-122"/>
                <a:cs typeface="Calibri" pitchFamily="34" charset="-120"/>
              </a:rPr>
              <a:t>1 : N</a:t>
            </a:r>
            <a:endParaRPr lang="en-US" sz="950" dirty="0"/>
          </a:p>
        </p:txBody>
      </p:sp>
      <p:sp>
        <p:nvSpPr>
          <p:cNvPr id="36" name="Shape 32"/>
          <p:cNvSpPr/>
          <p:nvPr/>
        </p:nvSpPr>
        <p:spPr>
          <a:xfrm>
            <a:off x="1600200" y="2651760"/>
            <a:ext cx="0" cy="594360"/>
          </a:xfrm>
          <a:prstGeom prst="line">
            <a:avLst/>
          </a:prstGeom>
          <a:noFill/>
          <a:ln w="19050">
            <a:solidFill>
              <a:srgbClr val="C2410C"/>
            </a:solidFill>
            <a:prstDash val="solid"/>
          </a:ln>
        </p:spPr>
      </p:sp>
      <p:sp>
        <p:nvSpPr>
          <p:cNvPr id="37" name="Text 33"/>
          <p:cNvSpPr/>
          <p:nvPr/>
        </p:nvSpPr>
        <p:spPr>
          <a:xfrm>
            <a:off x="1664208" y="2807208"/>
            <a:ext cx="548640" cy="182880"/>
          </a:xfrm>
          <a:prstGeom prst="rect">
            <a:avLst/>
          </a:prstGeom>
          <a:noFill/>
          <a:ln/>
        </p:spPr>
        <p:txBody>
          <a:bodyPr wrap="square" lIns="0" tIns="0" rIns="0" bIns="0" rtlCol="0" anchor="ctr"/>
          <a:lstStyle/>
          <a:p>
            <a:pPr marL="0" indent="0" algn="ctr">
              <a:buNone/>
            </a:pPr>
            <a:r>
              <a:rPr lang="en-US" sz="950" b="1" dirty="0">
                <a:solidFill>
                  <a:srgbClr val="C2410C"/>
                </a:solidFill>
                <a:latin typeface="Calibri" pitchFamily="34" charset="0"/>
                <a:ea typeface="Calibri" pitchFamily="34" charset="-122"/>
                <a:cs typeface="Calibri" pitchFamily="34" charset="-120"/>
              </a:rPr>
              <a:t>1 : N</a:t>
            </a:r>
            <a:endParaRPr lang="en-US" sz="950" dirty="0"/>
          </a:p>
        </p:txBody>
      </p:sp>
      <p:sp>
        <p:nvSpPr>
          <p:cNvPr id="38" name="Shape 34"/>
          <p:cNvSpPr/>
          <p:nvPr/>
        </p:nvSpPr>
        <p:spPr>
          <a:xfrm>
            <a:off x="6400800" y="3246120"/>
            <a:ext cx="2286000" cy="1463040"/>
          </a:xfrm>
          <a:prstGeom prst="roundRect">
            <a:avLst>
              <a:gd name="adj" fmla="val 5000"/>
            </a:avLst>
          </a:prstGeom>
          <a:solidFill>
            <a:srgbClr val="FFF7ED"/>
          </a:solidFill>
          <a:ln w="12700">
            <a:solidFill>
              <a:srgbClr val="FFF7ED"/>
            </a:solidFill>
            <a:prstDash val="solid"/>
          </a:ln>
        </p:spPr>
      </p:sp>
      <p:sp>
        <p:nvSpPr>
          <p:cNvPr id="39" name="Text 35"/>
          <p:cNvSpPr/>
          <p:nvPr/>
        </p:nvSpPr>
        <p:spPr>
          <a:xfrm>
            <a:off x="6510528" y="3319272"/>
            <a:ext cx="2084832" cy="1325880"/>
          </a:xfrm>
          <a:prstGeom prst="rect">
            <a:avLst/>
          </a:prstGeom>
          <a:noFill/>
          <a:ln/>
        </p:spPr>
        <p:txBody>
          <a:bodyPr wrap="square" lIns="0" tIns="0" rIns="0" bIns="0" rtlCol="0" anchor="t"/>
          <a:lstStyle/>
          <a:p>
            <a:pPr marL="0" indent="0">
              <a:spcAft>
                <a:spcPts val="300"/>
              </a:spcAft>
              <a:buNone/>
            </a:pPr>
            <a:r>
              <a:rPr lang="en-US" sz="1000" b="1" dirty="0">
                <a:solidFill>
                  <a:srgbClr val="C2410C"/>
                </a:solidFill>
                <a:latin typeface="Calibri" pitchFamily="34" charset="0"/>
                <a:ea typeface="Calibri" pitchFamily="34" charset="-122"/>
                <a:cs typeface="Calibri" pitchFamily="34" charset="-120"/>
              </a:rPr>
              <a:t>Also foreign keys</a:t>
            </a:r>
            <a:endParaRPr lang="en-US" sz="1000" dirty="0"/>
          </a:p>
          <a:p>
            <a:pPr marL="0" indent="0">
              <a:spcAft>
                <a:spcPts val="300"/>
              </a:spcAft>
              <a:buNone/>
            </a:pPr>
            <a:r>
              <a:rPr lang="en-US" sz="1000" dirty="0">
                <a:solidFill>
                  <a:srgbClr val="1E293B"/>
                </a:solidFill>
                <a:latin typeface="Calibri" pitchFamily="34" charset="0"/>
                <a:ea typeface="Calibri" pitchFamily="34" charset="-122"/>
                <a:cs typeface="Calibri" pitchFamily="34" charset="-120"/>
              </a:rPr>
              <a:t>auctions.current_highest_bidder_id → users</a:t>
            </a:r>
            <a:endParaRPr lang="en-US" sz="1000" dirty="0"/>
          </a:p>
          <a:p>
            <a:pPr marL="0" indent="0">
              <a:spcAft>
                <a:spcPts val="300"/>
              </a:spcAft>
              <a:buNone/>
            </a:pPr>
            <a:r>
              <a:rPr lang="en-US" sz="1000" dirty="0">
                <a:solidFill>
                  <a:srgbClr val="1E293B"/>
                </a:solidFill>
                <a:latin typeface="Calibri" pitchFamily="34" charset="0"/>
                <a:ea typeface="Calibri" pitchFamily="34" charset="-122"/>
                <a:cs typeface="Calibri" pitchFamily="34" charset="-120"/>
              </a:rPr>
              <a:t>auction_results.winner_id → users</a:t>
            </a:r>
            <a:endParaRPr lang="en-US" sz="1000" dirty="0"/>
          </a:p>
          <a:p>
            <a:pPr marL="0" indent="0">
              <a:spcAft>
                <a:spcPts val="300"/>
              </a:spcAft>
              <a:buNone/>
            </a:pPr>
            <a:r>
              <a:rPr lang="en-US" sz="1000" dirty="0">
                <a:solidFill>
                  <a:srgbClr val="1E293B"/>
                </a:solidFill>
                <a:latin typeface="Calibri" pitchFamily="34" charset="0"/>
                <a:ea typeface="Calibri" pitchFamily="34" charset="-122"/>
                <a:cs typeface="Calibri" pitchFamily="34" charset="-120"/>
              </a:rPr>
              <a:t>auction_results.winning_bid_id → bids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7406640" cy="502920"/>
          </a:xfrm>
          <a:prstGeom prst="rect">
            <a:avLst/>
          </a:prstGeom>
          <a:noFill/>
          <a:ln/>
        </p:spPr>
        <p:txBody>
          <a:bodyPr wrap="square" lIns="0" tIns="0" rIns="0" bIns="0" rtlCol="0" anchor="ctr"/>
          <a:lstStyle/>
          <a:p>
            <a:pPr marL="0" indent="0">
              <a:buNone/>
            </a:pPr>
            <a:r>
              <a:rPr lang="en-US" sz="2600" b="1" dirty="0">
                <a:solidFill>
                  <a:srgbClr val="0F2A4A"/>
                </a:solidFill>
                <a:latin typeface="Cambria" pitchFamily="34" charset="0"/>
                <a:ea typeface="Cambria" pitchFamily="34" charset="-122"/>
                <a:cs typeface="Cambria" pitchFamily="34" charset="-120"/>
              </a:rPr>
              <a:t>Concurrency Control in Code</a:t>
            </a:r>
            <a:endParaRPr lang="en-US" sz="2600" dirty="0"/>
          </a:p>
        </p:txBody>
      </p:sp>
      <p:sp>
        <p:nvSpPr>
          <p:cNvPr id="3" name="Text 1"/>
          <p:cNvSpPr/>
          <p:nvPr/>
        </p:nvSpPr>
        <p:spPr>
          <a:xfrm>
            <a:off x="457200" y="777240"/>
            <a:ext cx="7406640" cy="274320"/>
          </a:xfrm>
          <a:prstGeom prst="rect">
            <a:avLst/>
          </a:prstGeom>
          <a:noFill/>
          <a:ln/>
        </p:spPr>
        <p:txBody>
          <a:bodyPr wrap="square" lIns="0" tIns="0" rIns="0" bIns="0" rtlCol="0" anchor="ctr"/>
          <a:lstStyle/>
          <a:p>
            <a:pPr marL="0" indent="0">
              <a:buNone/>
            </a:pPr>
            <a:r>
              <a:rPr lang="en-US" sz="1250" dirty="0">
                <a:solidFill>
                  <a:srgbClr val="64748B"/>
                </a:solidFill>
                <a:latin typeface="Calibri" pitchFamily="34" charset="0"/>
                <a:ea typeface="Calibri" pitchFamily="34" charset="-122"/>
                <a:cs typeface="Calibri" pitchFamily="34" charset="-120"/>
              </a:rPr>
              <a:t>bidController.js: placeBidTransaction() (condensed)</a:t>
            </a:r>
            <a:endParaRPr lang="en-US" sz="1250" dirty="0"/>
          </a:p>
        </p:txBody>
      </p:sp>
      <p:pic>
        <p:nvPicPr>
          <p:cNvPr id="4" name="Image 0" descr="/home/claude/deck/logo.png"/>
          <p:cNvPicPr>
            <a:picLocks noChangeAspect="1"/>
          </p:cNvPicPr>
          <p:nvPr/>
        </p:nvPicPr>
        <p:blipFill>
          <a:blip r:embed="rId3"/>
          <a:stretch>
            <a:fillRect/>
          </a:stretch>
        </p:blipFill>
        <p:spPr>
          <a:xfrm>
            <a:off x="7955280" y="201168"/>
            <a:ext cx="822960" cy="390599"/>
          </a:xfrm>
          <a:prstGeom prst="rect">
            <a:avLst/>
          </a:prstGeom>
        </p:spPr>
      </p:pic>
      <p:sp>
        <p:nvSpPr>
          <p:cNvPr id="5" name="Text 2"/>
          <p:cNvSpPr/>
          <p:nvPr/>
        </p:nvSpPr>
        <p:spPr>
          <a:xfrm>
            <a:off x="457200" y="4828032"/>
            <a:ext cx="54864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Team 22  |  Final Review  |  DBDSE (25CS1302E)</a:t>
            </a:r>
            <a:endParaRPr lang="en-US" sz="900" dirty="0"/>
          </a:p>
        </p:txBody>
      </p:sp>
      <p:sp>
        <p:nvSpPr>
          <p:cNvPr id="6" name="Text 3"/>
          <p:cNvSpPr/>
          <p:nvPr/>
        </p:nvSpPr>
        <p:spPr>
          <a:xfrm>
            <a:off x="8229600" y="4828032"/>
            <a:ext cx="45720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
        <p:nvSpPr>
          <p:cNvPr id="8" name="Shape 4"/>
          <p:cNvSpPr/>
          <p:nvPr/>
        </p:nvSpPr>
        <p:spPr>
          <a:xfrm>
            <a:off x="457200" y="1234440"/>
            <a:ext cx="5212080" cy="3429000"/>
          </a:xfrm>
          <a:prstGeom prst="roundRect">
            <a:avLst>
              <a:gd name="adj" fmla="val 2133"/>
            </a:avLst>
          </a:prstGeom>
          <a:solidFill>
            <a:srgbClr val="0B1220"/>
          </a:solidFill>
          <a:ln w="12700">
            <a:solidFill>
              <a:srgbClr val="0B1220"/>
            </a:solidFill>
            <a:prstDash val="solid"/>
          </a:ln>
        </p:spPr>
      </p:sp>
      <p:sp>
        <p:nvSpPr>
          <p:cNvPr id="9" name="Text 5"/>
          <p:cNvSpPr/>
          <p:nvPr/>
        </p:nvSpPr>
        <p:spPr>
          <a:xfrm>
            <a:off x="640080" y="1371600"/>
            <a:ext cx="4892040" cy="3154680"/>
          </a:xfrm>
          <a:prstGeom prst="rect">
            <a:avLst/>
          </a:prstGeom>
          <a:noFill/>
          <a:ln/>
        </p:spPr>
        <p:txBody>
          <a:bodyPr wrap="square" lIns="0" tIns="0" rIns="0" bIns="0" rtlCol="0" anchor="t"/>
          <a:lstStyle/>
          <a:p>
            <a:pPr marL="0" indent="0">
              <a:spcAft>
                <a:spcPts val="600"/>
              </a:spcAft>
              <a:buNone/>
            </a:pPr>
            <a:r>
              <a:rPr lang="en-US" sz="1200" dirty="0">
                <a:solidFill>
                  <a:srgbClr val="E2E8F0"/>
                </a:solidFill>
                <a:latin typeface="Courier New" pitchFamily="34" charset="0"/>
                <a:ea typeface="Courier New" pitchFamily="34" charset="-122"/>
                <a:cs typeface="Courier New" pitchFamily="34" charset="-120"/>
              </a:rPr>
              <a:t>await conn.beginTransaction();</a:t>
            </a:r>
            <a:endParaRPr lang="en-US" sz="1200" dirty="0"/>
          </a:p>
          <a:p>
            <a:pPr marL="0" indent="0">
              <a:spcAft>
                <a:spcPts val="600"/>
              </a:spcAft>
              <a:buNone/>
            </a:pPr>
            <a:r>
              <a:rPr lang="en-US" sz="1200" dirty="0">
                <a:solidFill>
                  <a:srgbClr val="94A3B8"/>
                </a:solidFill>
                <a:latin typeface="Courier New" pitchFamily="34" charset="0"/>
                <a:ea typeface="Courier New" pitchFamily="34" charset="-122"/>
                <a:cs typeface="Courier New" pitchFamily="34" charset="-120"/>
              </a:rPr>
              <a:t>// 1. take the row lock</a:t>
            </a:r>
            <a:endParaRPr lang="en-US" sz="1200" dirty="0"/>
          </a:p>
          <a:p>
            <a:pPr marL="0" indent="0">
              <a:spcAft>
                <a:spcPts val="600"/>
              </a:spcAft>
              <a:buNone/>
            </a:pPr>
            <a:r>
              <a:rPr lang="en-US" sz="1200" dirty="0">
                <a:solidFill>
                  <a:srgbClr val="7DD3FC"/>
                </a:solidFill>
                <a:latin typeface="Courier New" pitchFamily="34" charset="0"/>
                <a:ea typeface="Courier New" pitchFamily="34" charset="-122"/>
                <a:cs typeface="Courier New" pitchFamily="34" charset="-120"/>
              </a:rPr>
              <a:t>SELECT </a:t>
            </a:r>
            <a:r>
              <a:rPr lang="en-US" sz="1200" dirty="0">
                <a:solidFill>
                  <a:srgbClr val="E2E8F0"/>
                </a:solidFill>
                <a:latin typeface="Courier New" pitchFamily="34" charset="0"/>
                <a:ea typeface="Courier New" pitchFamily="34" charset="-122"/>
                <a:cs typeface="Courier New" pitchFamily="34" charset="-120"/>
              </a:rPr>
              <a:t>current_highest_bid, status, end_time</a:t>
            </a:r>
            <a:endParaRPr lang="en-US" sz="1200" dirty="0"/>
          </a:p>
          <a:p>
            <a:pPr marL="0" indent="0">
              <a:spcAft>
                <a:spcPts val="600"/>
              </a:spcAft>
              <a:buNone/>
            </a:pPr>
            <a:r>
              <a:rPr lang="en-US" sz="1200" dirty="0">
                <a:solidFill>
                  <a:srgbClr val="E2E8F0"/>
                </a:solidFill>
                <a:latin typeface="Courier New" pitchFamily="34" charset="0"/>
                <a:ea typeface="Courier New" pitchFamily="34" charset="-122"/>
                <a:cs typeface="Courier New" pitchFamily="34" charset="-120"/>
              </a:rPr>
              <a:t>  FROM auctions WHERE id = ? </a:t>
            </a:r>
            <a:r>
              <a:rPr lang="en-US" sz="1200" dirty="0">
                <a:solidFill>
                  <a:srgbClr val="86EFAC"/>
                </a:solidFill>
                <a:latin typeface="Courier New" pitchFamily="34" charset="0"/>
                <a:ea typeface="Courier New" pitchFamily="34" charset="-122"/>
                <a:cs typeface="Courier New" pitchFamily="34" charset="-120"/>
              </a:rPr>
              <a:t>FOR UPDATE;</a:t>
            </a:r>
            <a:endParaRPr lang="en-US" sz="1200" dirty="0"/>
          </a:p>
          <a:p>
            <a:pPr marL="0" indent="0">
              <a:spcAft>
                <a:spcPts val="600"/>
              </a:spcAft>
              <a:buNone/>
            </a:pPr>
            <a:r>
              <a:rPr lang="en-US" sz="1200" dirty="0">
                <a:solidFill>
                  <a:srgbClr val="94A3B8"/>
                </a:solidFill>
                <a:latin typeface="Courier New" pitchFamily="34" charset="0"/>
                <a:ea typeface="Courier New" pitchFamily="34" charset="-122"/>
                <a:cs typeface="Courier New" pitchFamily="34" charset="-120"/>
              </a:rPr>
              <a:t>// 2. validate on the locked value</a:t>
            </a:r>
            <a:endParaRPr lang="en-US" sz="1200" dirty="0"/>
          </a:p>
          <a:p>
            <a:pPr marL="0" indent="0">
              <a:spcAft>
                <a:spcPts val="600"/>
              </a:spcAft>
              <a:buNone/>
            </a:pPr>
            <a:r>
              <a:rPr lang="en-US" sz="1200" dirty="0">
                <a:solidFill>
                  <a:srgbClr val="7DD3FC"/>
                </a:solidFill>
                <a:latin typeface="Courier New" pitchFamily="34" charset="0"/>
                <a:ea typeface="Courier New" pitchFamily="34" charset="-122"/>
                <a:cs typeface="Courier New" pitchFamily="34" charset="-120"/>
              </a:rPr>
              <a:t>if </a:t>
            </a:r>
            <a:r>
              <a:rPr lang="en-US" sz="1200" dirty="0">
                <a:solidFill>
                  <a:srgbClr val="E2E8F0"/>
                </a:solidFill>
                <a:latin typeface="Courier New" pitchFamily="34" charset="0"/>
                <a:ea typeface="Courier New" pitchFamily="34" charset="-122"/>
                <a:cs typeface="Courier New" pitchFamily="34" charset="-120"/>
              </a:rPr>
              <a:t>(status !== </a:t>
            </a:r>
            <a:r>
              <a:rPr lang="en-US" sz="1200" dirty="0">
                <a:solidFill>
                  <a:srgbClr val="86EFAC"/>
                </a:solidFill>
                <a:latin typeface="Courier New" pitchFamily="34" charset="0"/>
                <a:ea typeface="Courier New" pitchFamily="34" charset="-122"/>
                <a:cs typeface="Courier New" pitchFamily="34" charset="-120"/>
              </a:rPr>
              <a:t>'active'</a:t>
            </a:r>
            <a:r>
              <a:rPr lang="en-US" sz="1200" dirty="0">
                <a:solidFill>
                  <a:srgbClr val="E2E8F0"/>
                </a:solidFill>
                <a:latin typeface="Courier New" pitchFamily="34" charset="0"/>
                <a:ea typeface="Courier New" pitchFamily="34" charset="-122"/>
                <a:cs typeface="Courier New" pitchFamily="34" charset="-120"/>
              </a:rPr>
              <a:t>)   → 400</a:t>
            </a:r>
            <a:endParaRPr lang="en-US" sz="1200" dirty="0"/>
          </a:p>
          <a:p>
            <a:pPr marL="0" indent="0">
              <a:spcAft>
                <a:spcPts val="600"/>
              </a:spcAft>
              <a:buNone/>
            </a:pPr>
            <a:r>
              <a:rPr lang="en-US" sz="1200" dirty="0">
                <a:solidFill>
                  <a:srgbClr val="7DD3FC"/>
                </a:solidFill>
                <a:latin typeface="Courier New" pitchFamily="34" charset="0"/>
                <a:ea typeface="Courier New" pitchFamily="34" charset="-122"/>
                <a:cs typeface="Courier New" pitchFamily="34" charset="-120"/>
              </a:rPr>
              <a:t>if </a:t>
            </a:r>
            <a:r>
              <a:rPr lang="en-US" sz="1200" dirty="0">
                <a:solidFill>
                  <a:srgbClr val="E2E8F0"/>
                </a:solidFill>
                <a:latin typeface="Courier New" pitchFamily="34" charset="0"/>
                <a:ea typeface="Courier New" pitchFamily="34" charset="-122"/>
                <a:cs typeface="Courier New" pitchFamily="34" charset="-120"/>
              </a:rPr>
              <a:t>(now &gt; end_time)       → 400</a:t>
            </a:r>
            <a:endParaRPr lang="en-US" sz="1200" dirty="0"/>
          </a:p>
          <a:p>
            <a:pPr marL="0" indent="0">
              <a:spcAft>
                <a:spcPts val="600"/>
              </a:spcAft>
              <a:buNone/>
            </a:pPr>
            <a:r>
              <a:rPr lang="en-US" sz="1200" dirty="0">
                <a:solidFill>
                  <a:srgbClr val="7DD3FC"/>
                </a:solidFill>
                <a:latin typeface="Courier New" pitchFamily="34" charset="0"/>
                <a:ea typeface="Courier New" pitchFamily="34" charset="-122"/>
                <a:cs typeface="Courier New" pitchFamily="34" charset="-120"/>
              </a:rPr>
              <a:t>if </a:t>
            </a:r>
            <a:r>
              <a:rPr lang="en-US" sz="1200" dirty="0">
                <a:solidFill>
                  <a:srgbClr val="E2E8F0"/>
                </a:solidFill>
                <a:latin typeface="Courier New" pitchFamily="34" charset="0"/>
                <a:ea typeface="Courier New" pitchFamily="34" charset="-122"/>
                <a:cs typeface="Courier New" pitchFamily="34" charset="-120"/>
              </a:rPr>
              <a:t>(amount &lt;= highest)    → 409</a:t>
            </a:r>
            <a:endParaRPr lang="en-US" sz="1200" dirty="0"/>
          </a:p>
          <a:p>
            <a:pPr marL="0" indent="0">
              <a:spcAft>
                <a:spcPts val="600"/>
              </a:spcAft>
              <a:buNone/>
            </a:pPr>
            <a:r>
              <a:rPr lang="en-US" sz="1200" dirty="0">
                <a:solidFill>
                  <a:srgbClr val="94A3B8"/>
                </a:solidFill>
                <a:latin typeface="Courier New" pitchFamily="34" charset="0"/>
                <a:ea typeface="Courier New" pitchFamily="34" charset="-122"/>
                <a:cs typeface="Courier New" pitchFamily="34" charset="-120"/>
              </a:rPr>
              <a:t>// 3. write bid + history atomically</a:t>
            </a:r>
            <a:endParaRPr lang="en-US" sz="1200" dirty="0"/>
          </a:p>
          <a:p>
            <a:pPr marL="0" indent="0">
              <a:spcAft>
                <a:spcPts val="600"/>
              </a:spcAft>
              <a:buNone/>
            </a:pPr>
            <a:r>
              <a:rPr lang="en-US" sz="1200" dirty="0">
                <a:solidFill>
                  <a:srgbClr val="7DD3FC"/>
                </a:solidFill>
                <a:latin typeface="Courier New" pitchFamily="34" charset="0"/>
                <a:ea typeface="Courier New" pitchFamily="34" charset="-122"/>
                <a:cs typeface="Courier New" pitchFamily="34" charset="-120"/>
              </a:rPr>
              <a:t>UPDATE </a:t>
            </a:r>
            <a:r>
              <a:rPr lang="en-US" sz="1200" dirty="0">
                <a:solidFill>
                  <a:srgbClr val="E2E8F0"/>
                </a:solidFill>
                <a:latin typeface="Courier New" pitchFamily="34" charset="0"/>
                <a:ea typeface="Courier New" pitchFamily="34" charset="-122"/>
                <a:cs typeface="Courier New" pitchFamily="34" charset="-120"/>
              </a:rPr>
              <a:t>auctions SET current_highest_bid = ?, …;</a:t>
            </a:r>
            <a:endParaRPr lang="en-US" sz="1200" dirty="0"/>
          </a:p>
          <a:p>
            <a:pPr marL="0" indent="0">
              <a:spcAft>
                <a:spcPts val="600"/>
              </a:spcAft>
              <a:buNone/>
            </a:pPr>
            <a:r>
              <a:rPr lang="en-US" sz="1200" dirty="0">
                <a:solidFill>
                  <a:srgbClr val="7DD3FC"/>
                </a:solidFill>
                <a:latin typeface="Courier New" pitchFamily="34" charset="0"/>
                <a:ea typeface="Courier New" pitchFamily="34" charset="-122"/>
                <a:cs typeface="Courier New" pitchFamily="34" charset="-120"/>
              </a:rPr>
              <a:t>INSERT INTO </a:t>
            </a:r>
            <a:r>
              <a:rPr lang="en-US" sz="1200" dirty="0">
                <a:solidFill>
                  <a:srgbClr val="E2E8F0"/>
                </a:solidFill>
                <a:latin typeface="Courier New" pitchFamily="34" charset="0"/>
                <a:ea typeface="Courier New" pitchFamily="34" charset="-122"/>
                <a:cs typeface="Courier New" pitchFamily="34" charset="-120"/>
              </a:rPr>
              <a:t>bids (auction_id, user_id, amount) …;</a:t>
            </a:r>
            <a:endParaRPr lang="en-US" sz="1200" dirty="0"/>
          </a:p>
          <a:p>
            <a:pPr marL="0" indent="0">
              <a:spcAft>
                <a:spcPts val="600"/>
              </a:spcAft>
              <a:buNone/>
            </a:pPr>
            <a:r>
              <a:rPr lang="en-US" sz="1200" dirty="0">
                <a:solidFill>
                  <a:srgbClr val="E2E8F0"/>
                </a:solidFill>
                <a:latin typeface="Courier New" pitchFamily="34" charset="0"/>
                <a:ea typeface="Courier New" pitchFamily="34" charset="-122"/>
                <a:cs typeface="Courier New" pitchFamily="34" charset="-120"/>
              </a:rPr>
              <a:t>await conn.commit();  </a:t>
            </a:r>
            <a:r>
              <a:rPr lang="en-US" sz="1200" dirty="0">
                <a:solidFill>
                  <a:srgbClr val="94A3B8"/>
                </a:solidFill>
                <a:latin typeface="Courier New" pitchFamily="34" charset="0"/>
                <a:ea typeface="Courier New" pitchFamily="34" charset="-122"/>
                <a:cs typeface="Courier New" pitchFamily="34" charset="-120"/>
              </a:rPr>
              <a:t>// lock released</a:t>
            </a:r>
            <a:endParaRPr lang="en-US" sz="1200" dirty="0"/>
          </a:p>
        </p:txBody>
      </p:sp>
      <p:sp>
        <p:nvSpPr>
          <p:cNvPr id="10" name="Shape 6"/>
          <p:cNvSpPr/>
          <p:nvPr/>
        </p:nvSpPr>
        <p:spPr>
          <a:xfrm>
            <a:off x="5897880" y="1234440"/>
            <a:ext cx="2788920" cy="822960"/>
          </a:xfrm>
          <a:prstGeom prst="roundRect">
            <a:avLst>
              <a:gd name="adj" fmla="val 8889"/>
            </a:avLst>
          </a:prstGeom>
          <a:solidFill>
            <a:srgbClr val="F1F5F9"/>
          </a:solidFill>
          <a:ln w="12700">
            <a:solidFill>
              <a:srgbClr val="F1F5F9"/>
            </a:solidFill>
            <a:prstDash val="solid"/>
          </a:ln>
        </p:spPr>
      </p:sp>
      <p:sp>
        <p:nvSpPr>
          <p:cNvPr id="11" name="Shape 7"/>
          <p:cNvSpPr/>
          <p:nvPr/>
        </p:nvSpPr>
        <p:spPr>
          <a:xfrm>
            <a:off x="6016752" y="1362456"/>
            <a:ext cx="274320" cy="274320"/>
          </a:xfrm>
          <a:prstGeom prst="ellipse">
            <a:avLst/>
          </a:prstGeom>
          <a:solidFill>
            <a:srgbClr val="0B6FB8"/>
          </a:solidFill>
          <a:ln w="12700">
            <a:solidFill>
              <a:srgbClr val="0B6FB8"/>
            </a:solidFill>
            <a:prstDash val="solid"/>
          </a:ln>
        </p:spPr>
      </p:sp>
      <p:sp>
        <p:nvSpPr>
          <p:cNvPr id="12" name="Text 8"/>
          <p:cNvSpPr/>
          <p:nvPr/>
        </p:nvSpPr>
        <p:spPr>
          <a:xfrm>
            <a:off x="6016752" y="1362456"/>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3" name="Text 9"/>
          <p:cNvSpPr/>
          <p:nvPr/>
        </p:nvSpPr>
        <p:spPr>
          <a:xfrm>
            <a:off x="6400800" y="1307592"/>
            <a:ext cx="2194560" cy="256032"/>
          </a:xfrm>
          <a:prstGeom prst="rect">
            <a:avLst/>
          </a:prstGeom>
          <a:noFill/>
          <a:ln/>
        </p:spPr>
        <p:txBody>
          <a:bodyPr wrap="square" lIns="0" tIns="0" rIns="0" bIns="0" rtlCol="0" anchor="ctr"/>
          <a:lstStyle/>
          <a:p>
            <a:pPr marL="0" indent="0">
              <a:buNone/>
            </a:pPr>
            <a:r>
              <a:rPr lang="en-US" sz="1250" b="1" dirty="0">
                <a:solidFill>
                  <a:srgbClr val="0F2A4A"/>
                </a:solidFill>
                <a:latin typeface="Calibri" pitchFamily="34" charset="0"/>
                <a:ea typeface="Calibri" pitchFamily="34" charset="-122"/>
                <a:cs typeface="Calibri" pitchFamily="34" charset="-120"/>
              </a:rPr>
              <a:t>Lock</a:t>
            </a:r>
            <a:endParaRPr lang="en-US" sz="1250" dirty="0"/>
          </a:p>
        </p:txBody>
      </p:sp>
      <p:sp>
        <p:nvSpPr>
          <p:cNvPr id="14" name="Text 10"/>
          <p:cNvSpPr/>
          <p:nvPr/>
        </p:nvSpPr>
        <p:spPr>
          <a:xfrm>
            <a:off x="6400800" y="1581912"/>
            <a:ext cx="2194560" cy="457200"/>
          </a:xfrm>
          <a:prstGeom prst="rect">
            <a:avLst/>
          </a:prstGeom>
          <a:noFill/>
          <a:ln/>
        </p:spPr>
        <p:txBody>
          <a:bodyPr wrap="square" lIns="0" tIns="0" rIns="0" bIns="0" rtlCol="0" anchor="t"/>
          <a:lstStyle/>
          <a:p>
            <a:pPr marL="0" indent="0">
              <a:buNone/>
            </a:pPr>
            <a:r>
              <a:rPr lang="en-US" sz="1050" dirty="0">
                <a:solidFill>
                  <a:srgbClr val="1E293B"/>
                </a:solidFill>
                <a:latin typeface="Calibri" pitchFamily="34" charset="0"/>
                <a:ea typeface="Calibri" pitchFamily="34" charset="-122"/>
                <a:cs typeface="Calibri" pitchFamily="34" charset="-120"/>
              </a:rPr>
              <a:t>Other bidders on this auction block here until commit or rollback.</a:t>
            </a:r>
            <a:endParaRPr lang="en-US" sz="1050" dirty="0"/>
          </a:p>
        </p:txBody>
      </p:sp>
      <p:sp>
        <p:nvSpPr>
          <p:cNvPr id="15" name="Shape 11"/>
          <p:cNvSpPr/>
          <p:nvPr/>
        </p:nvSpPr>
        <p:spPr>
          <a:xfrm>
            <a:off x="5897880" y="2148840"/>
            <a:ext cx="2788920" cy="822960"/>
          </a:xfrm>
          <a:prstGeom prst="roundRect">
            <a:avLst>
              <a:gd name="adj" fmla="val 8889"/>
            </a:avLst>
          </a:prstGeom>
          <a:solidFill>
            <a:srgbClr val="F1F5F9"/>
          </a:solidFill>
          <a:ln w="12700">
            <a:solidFill>
              <a:srgbClr val="F1F5F9"/>
            </a:solidFill>
            <a:prstDash val="solid"/>
          </a:ln>
        </p:spPr>
      </p:sp>
      <p:sp>
        <p:nvSpPr>
          <p:cNvPr id="16" name="Shape 12"/>
          <p:cNvSpPr/>
          <p:nvPr/>
        </p:nvSpPr>
        <p:spPr>
          <a:xfrm>
            <a:off x="6016752" y="2276856"/>
            <a:ext cx="274320" cy="274320"/>
          </a:xfrm>
          <a:prstGeom prst="ellipse">
            <a:avLst/>
          </a:prstGeom>
          <a:solidFill>
            <a:srgbClr val="0B6FB8"/>
          </a:solidFill>
          <a:ln w="12700">
            <a:solidFill>
              <a:srgbClr val="0B6FB8"/>
            </a:solidFill>
            <a:prstDash val="solid"/>
          </a:ln>
        </p:spPr>
      </p:sp>
      <p:sp>
        <p:nvSpPr>
          <p:cNvPr id="17" name="Text 13"/>
          <p:cNvSpPr/>
          <p:nvPr/>
        </p:nvSpPr>
        <p:spPr>
          <a:xfrm>
            <a:off x="6016752" y="2276856"/>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8" name="Text 14"/>
          <p:cNvSpPr/>
          <p:nvPr/>
        </p:nvSpPr>
        <p:spPr>
          <a:xfrm>
            <a:off x="6400800" y="2221992"/>
            <a:ext cx="2194560" cy="256032"/>
          </a:xfrm>
          <a:prstGeom prst="rect">
            <a:avLst/>
          </a:prstGeom>
          <a:noFill/>
          <a:ln/>
        </p:spPr>
        <p:txBody>
          <a:bodyPr wrap="square" lIns="0" tIns="0" rIns="0" bIns="0" rtlCol="0" anchor="ctr"/>
          <a:lstStyle/>
          <a:p>
            <a:pPr marL="0" indent="0">
              <a:buNone/>
            </a:pPr>
            <a:r>
              <a:rPr lang="en-US" sz="1250" b="1" dirty="0">
                <a:solidFill>
                  <a:srgbClr val="0F2A4A"/>
                </a:solidFill>
                <a:latin typeface="Calibri" pitchFamily="34" charset="0"/>
                <a:ea typeface="Calibri" pitchFamily="34" charset="-122"/>
                <a:cs typeface="Calibri" pitchFamily="34" charset="-120"/>
              </a:rPr>
              <a:t>Validate</a:t>
            </a:r>
            <a:endParaRPr lang="en-US" sz="1250" dirty="0"/>
          </a:p>
        </p:txBody>
      </p:sp>
      <p:sp>
        <p:nvSpPr>
          <p:cNvPr id="19" name="Text 15"/>
          <p:cNvSpPr/>
          <p:nvPr/>
        </p:nvSpPr>
        <p:spPr>
          <a:xfrm>
            <a:off x="6400800" y="2496312"/>
            <a:ext cx="2194560" cy="457200"/>
          </a:xfrm>
          <a:prstGeom prst="rect">
            <a:avLst/>
          </a:prstGeom>
          <a:noFill/>
          <a:ln/>
        </p:spPr>
        <p:txBody>
          <a:bodyPr wrap="square" lIns="0" tIns="0" rIns="0" bIns="0" rtlCol="0" anchor="t"/>
          <a:lstStyle/>
          <a:p>
            <a:pPr marL="0" indent="0">
              <a:buNone/>
            </a:pPr>
            <a:r>
              <a:rPr lang="en-US" sz="1050" dirty="0">
                <a:solidFill>
                  <a:srgbClr val="1E293B"/>
                </a:solidFill>
                <a:latin typeface="Calibri" pitchFamily="34" charset="0"/>
                <a:ea typeface="Calibri" pitchFamily="34" charset="-122"/>
                <a:cs typeface="Calibri" pitchFamily="34" charset="-120"/>
              </a:rPr>
              <a:t>The check uses the fresh, locked value, never a stale read.</a:t>
            </a:r>
            <a:endParaRPr lang="en-US" sz="1050" dirty="0"/>
          </a:p>
        </p:txBody>
      </p:sp>
      <p:sp>
        <p:nvSpPr>
          <p:cNvPr id="20" name="Shape 16"/>
          <p:cNvSpPr/>
          <p:nvPr/>
        </p:nvSpPr>
        <p:spPr>
          <a:xfrm>
            <a:off x="5897880" y="3063240"/>
            <a:ext cx="2788920" cy="822960"/>
          </a:xfrm>
          <a:prstGeom prst="roundRect">
            <a:avLst>
              <a:gd name="adj" fmla="val 8889"/>
            </a:avLst>
          </a:prstGeom>
          <a:solidFill>
            <a:srgbClr val="F1F5F9"/>
          </a:solidFill>
          <a:ln w="12700">
            <a:solidFill>
              <a:srgbClr val="F1F5F9"/>
            </a:solidFill>
            <a:prstDash val="solid"/>
          </a:ln>
        </p:spPr>
      </p:sp>
      <p:sp>
        <p:nvSpPr>
          <p:cNvPr id="21" name="Shape 17"/>
          <p:cNvSpPr/>
          <p:nvPr/>
        </p:nvSpPr>
        <p:spPr>
          <a:xfrm>
            <a:off x="6016752" y="3191256"/>
            <a:ext cx="274320" cy="274320"/>
          </a:xfrm>
          <a:prstGeom prst="ellipse">
            <a:avLst/>
          </a:prstGeom>
          <a:solidFill>
            <a:srgbClr val="0B6FB8"/>
          </a:solidFill>
          <a:ln w="12700">
            <a:solidFill>
              <a:srgbClr val="0B6FB8"/>
            </a:solidFill>
            <a:prstDash val="solid"/>
          </a:ln>
        </p:spPr>
      </p:sp>
      <p:sp>
        <p:nvSpPr>
          <p:cNvPr id="22" name="Text 18"/>
          <p:cNvSpPr/>
          <p:nvPr/>
        </p:nvSpPr>
        <p:spPr>
          <a:xfrm>
            <a:off x="6016752" y="3191256"/>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3" name="Text 19"/>
          <p:cNvSpPr/>
          <p:nvPr/>
        </p:nvSpPr>
        <p:spPr>
          <a:xfrm>
            <a:off x="6400800" y="3136392"/>
            <a:ext cx="2194560" cy="256032"/>
          </a:xfrm>
          <a:prstGeom prst="rect">
            <a:avLst/>
          </a:prstGeom>
          <a:noFill/>
          <a:ln/>
        </p:spPr>
        <p:txBody>
          <a:bodyPr wrap="square" lIns="0" tIns="0" rIns="0" bIns="0" rtlCol="0" anchor="ctr"/>
          <a:lstStyle/>
          <a:p>
            <a:pPr marL="0" indent="0">
              <a:buNone/>
            </a:pPr>
            <a:r>
              <a:rPr lang="en-US" sz="1250" b="1" dirty="0">
                <a:solidFill>
                  <a:srgbClr val="0F2A4A"/>
                </a:solidFill>
                <a:latin typeface="Calibri" pitchFamily="34" charset="0"/>
                <a:ea typeface="Calibri" pitchFamily="34" charset="-122"/>
                <a:cs typeface="Calibri" pitchFamily="34" charset="-120"/>
              </a:rPr>
              <a:t>Write and commit</a:t>
            </a:r>
            <a:endParaRPr lang="en-US" sz="1250" dirty="0"/>
          </a:p>
        </p:txBody>
      </p:sp>
      <p:sp>
        <p:nvSpPr>
          <p:cNvPr id="24" name="Text 20"/>
          <p:cNvSpPr/>
          <p:nvPr/>
        </p:nvSpPr>
        <p:spPr>
          <a:xfrm>
            <a:off x="6400800" y="3410712"/>
            <a:ext cx="2194560" cy="457200"/>
          </a:xfrm>
          <a:prstGeom prst="rect">
            <a:avLst/>
          </a:prstGeom>
          <a:noFill/>
          <a:ln/>
        </p:spPr>
        <p:txBody>
          <a:bodyPr wrap="square" lIns="0" tIns="0" rIns="0" bIns="0" rtlCol="0" anchor="t"/>
          <a:lstStyle/>
          <a:p>
            <a:pPr marL="0" indent="0">
              <a:buNone/>
            </a:pPr>
            <a:r>
              <a:rPr lang="en-US" sz="1050" dirty="0">
                <a:solidFill>
                  <a:srgbClr val="1E293B"/>
                </a:solidFill>
                <a:latin typeface="Calibri" pitchFamily="34" charset="0"/>
                <a:ea typeface="Calibri" pitchFamily="34" charset="-122"/>
                <a:cs typeface="Calibri" pitchFamily="34" charset="-120"/>
              </a:rPr>
              <a:t>Highest bid and history row change together or not at all.</a:t>
            </a:r>
            <a:endParaRPr lang="en-US" sz="1050" dirty="0"/>
          </a:p>
        </p:txBody>
      </p:sp>
      <p:sp>
        <p:nvSpPr>
          <p:cNvPr id="25" name="Shape 21"/>
          <p:cNvSpPr/>
          <p:nvPr/>
        </p:nvSpPr>
        <p:spPr>
          <a:xfrm>
            <a:off x="5897880" y="3977640"/>
            <a:ext cx="2788920" cy="685800"/>
          </a:xfrm>
          <a:prstGeom prst="roundRect">
            <a:avLst>
              <a:gd name="adj" fmla="val 10667"/>
            </a:avLst>
          </a:prstGeom>
          <a:solidFill>
            <a:srgbClr val="E0F2FE"/>
          </a:solidFill>
          <a:ln w="12700">
            <a:solidFill>
              <a:srgbClr val="E0F2FE"/>
            </a:solidFill>
            <a:prstDash val="solid"/>
          </a:ln>
        </p:spPr>
      </p:sp>
      <p:sp>
        <p:nvSpPr>
          <p:cNvPr id="26" name="Text 22"/>
          <p:cNvSpPr/>
          <p:nvPr/>
        </p:nvSpPr>
        <p:spPr>
          <a:xfrm>
            <a:off x="6016752" y="4005072"/>
            <a:ext cx="2560320" cy="64008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Deadlock (error 1213): retry up to 3 times, back-off 50·n + random(100) ms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7406640" cy="502920"/>
          </a:xfrm>
          <a:prstGeom prst="rect">
            <a:avLst/>
          </a:prstGeom>
          <a:noFill/>
          <a:ln/>
        </p:spPr>
        <p:txBody>
          <a:bodyPr wrap="square" lIns="0" tIns="0" rIns="0" bIns="0" rtlCol="0" anchor="ctr"/>
          <a:lstStyle/>
          <a:p>
            <a:pPr marL="0" indent="0">
              <a:buNone/>
            </a:pPr>
            <a:r>
              <a:rPr lang="en-US" sz="2600" b="1" dirty="0">
                <a:solidFill>
                  <a:srgbClr val="0F2A4A"/>
                </a:solidFill>
                <a:latin typeface="Cambria" pitchFamily="34" charset="0"/>
                <a:ea typeface="Cambria" pitchFamily="34" charset="-122"/>
                <a:cs typeface="Cambria" pitchFamily="34" charset="-120"/>
              </a:rPr>
              <a:t>Bidder Experience</a:t>
            </a:r>
            <a:endParaRPr lang="en-US" sz="2600" dirty="0"/>
          </a:p>
        </p:txBody>
      </p:sp>
      <p:sp>
        <p:nvSpPr>
          <p:cNvPr id="3" name="Text 1"/>
          <p:cNvSpPr/>
          <p:nvPr/>
        </p:nvSpPr>
        <p:spPr>
          <a:xfrm>
            <a:off x="457200" y="777240"/>
            <a:ext cx="7406640" cy="274320"/>
          </a:xfrm>
          <a:prstGeom prst="rect">
            <a:avLst/>
          </a:prstGeom>
          <a:noFill/>
          <a:ln/>
        </p:spPr>
        <p:txBody>
          <a:bodyPr wrap="square" lIns="0" tIns="0" rIns="0" bIns="0" rtlCol="0" anchor="ctr"/>
          <a:lstStyle/>
          <a:p>
            <a:pPr marL="0" indent="0">
              <a:buNone/>
            </a:pPr>
            <a:r>
              <a:rPr lang="en-US" sz="1250" dirty="0">
                <a:solidFill>
                  <a:srgbClr val="64748B"/>
                </a:solidFill>
                <a:latin typeface="Calibri" pitchFamily="34" charset="0"/>
                <a:ea typeface="Calibri" pitchFamily="34" charset="-122"/>
                <a:cs typeface="Calibri" pitchFamily="34" charset="-120"/>
              </a:rPr>
              <a:t>Browse live auctions, open one, and place a bid</a:t>
            </a:r>
            <a:endParaRPr lang="en-US" sz="1250" dirty="0"/>
          </a:p>
        </p:txBody>
      </p:sp>
      <p:pic>
        <p:nvPicPr>
          <p:cNvPr id="4" name="Image 0" descr="/home/claude/deck/logo.png"/>
          <p:cNvPicPr>
            <a:picLocks noChangeAspect="1"/>
          </p:cNvPicPr>
          <p:nvPr/>
        </p:nvPicPr>
        <p:blipFill>
          <a:blip r:embed="rId3"/>
          <a:stretch>
            <a:fillRect/>
          </a:stretch>
        </p:blipFill>
        <p:spPr>
          <a:xfrm>
            <a:off x="7955280" y="201168"/>
            <a:ext cx="822960" cy="390599"/>
          </a:xfrm>
          <a:prstGeom prst="rect">
            <a:avLst/>
          </a:prstGeom>
        </p:spPr>
      </p:pic>
      <p:sp>
        <p:nvSpPr>
          <p:cNvPr id="5" name="Text 2"/>
          <p:cNvSpPr/>
          <p:nvPr/>
        </p:nvSpPr>
        <p:spPr>
          <a:xfrm>
            <a:off x="457200" y="4828032"/>
            <a:ext cx="54864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Team 22  |  Final Review  |  DBDSE (25CS1302E)</a:t>
            </a:r>
            <a:endParaRPr lang="en-US" sz="900" dirty="0"/>
          </a:p>
        </p:txBody>
      </p:sp>
      <p:sp>
        <p:nvSpPr>
          <p:cNvPr id="6" name="Text 3"/>
          <p:cNvSpPr/>
          <p:nvPr/>
        </p:nvSpPr>
        <p:spPr>
          <a:xfrm>
            <a:off x="8229600" y="4828032"/>
            <a:ext cx="45720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sp>
        <p:nvSpPr>
          <p:cNvPr id="8" name="Text 4"/>
          <p:cNvSpPr/>
          <p:nvPr/>
        </p:nvSpPr>
        <p:spPr>
          <a:xfrm>
            <a:off x="457200" y="1188720"/>
            <a:ext cx="3931920" cy="256032"/>
          </a:xfrm>
          <a:prstGeom prst="rect">
            <a:avLst/>
          </a:prstGeom>
          <a:noFill/>
          <a:ln/>
        </p:spPr>
        <p:txBody>
          <a:bodyPr wrap="square" lIns="0" tIns="0" rIns="0" bIns="0" rtlCol="0" anchor="ctr"/>
          <a:lstStyle/>
          <a:p>
            <a:pPr marL="0" indent="0">
              <a:buNone/>
            </a:pPr>
            <a:r>
              <a:rPr lang="en-US" sz="1200" b="1" dirty="0">
                <a:solidFill>
                  <a:srgbClr val="0B6FB8"/>
                </a:solidFill>
                <a:latin typeface="Calibri" pitchFamily="34" charset="0"/>
                <a:ea typeface="Calibri" pitchFamily="34" charset="-122"/>
                <a:cs typeface="Calibri" pitchFamily="34" charset="-120"/>
              </a:rPr>
              <a:t>Auction list</a:t>
            </a:r>
            <a:endParaRPr lang="en-US" sz="1200" dirty="0"/>
          </a:p>
        </p:txBody>
      </p:sp>
      <p:sp>
        <p:nvSpPr>
          <p:cNvPr id="9" name="Text 5"/>
          <p:cNvSpPr/>
          <p:nvPr/>
        </p:nvSpPr>
        <p:spPr>
          <a:xfrm>
            <a:off x="4754880" y="1188720"/>
            <a:ext cx="3931920" cy="256032"/>
          </a:xfrm>
          <a:prstGeom prst="rect">
            <a:avLst/>
          </a:prstGeom>
          <a:noFill/>
          <a:ln/>
        </p:spPr>
        <p:txBody>
          <a:bodyPr wrap="square" lIns="0" tIns="0" rIns="0" bIns="0" rtlCol="0" anchor="ctr"/>
          <a:lstStyle/>
          <a:p>
            <a:pPr marL="0" indent="0">
              <a:buNone/>
            </a:pPr>
            <a:r>
              <a:rPr lang="en-US" sz="1200" b="1" dirty="0">
                <a:solidFill>
                  <a:srgbClr val="0B6FB8"/>
                </a:solidFill>
                <a:latin typeface="Calibri" pitchFamily="34" charset="0"/>
                <a:ea typeface="Calibri" pitchFamily="34" charset="-122"/>
                <a:cs typeface="Calibri" pitchFamily="34" charset="-120"/>
              </a:rPr>
              <a:t>Auction detail with bid form and history</a:t>
            </a:r>
            <a:endParaRPr lang="en-US" sz="1200" dirty="0"/>
          </a:p>
        </p:txBody>
      </p:sp>
      <p:pic>
        <p:nvPicPr>
          <p:cNvPr id="10" name="Image 1" descr="/home/claude/shots/t_list_c.png"/>
          <p:cNvPicPr>
            <a:picLocks noChangeAspect="1"/>
          </p:cNvPicPr>
          <p:nvPr/>
        </p:nvPicPr>
        <p:blipFill>
          <a:blip r:embed="rId4"/>
          <a:srcRect/>
          <a:stretch/>
        </p:blipFill>
        <p:spPr>
          <a:xfrm>
            <a:off x="457200" y="1481328"/>
            <a:ext cx="3931920" cy="2844744"/>
          </a:xfrm>
          <a:prstGeom prst="rect">
            <a:avLst/>
          </a:prstGeom>
        </p:spPr>
      </p:pic>
      <p:pic>
        <p:nvPicPr>
          <p:cNvPr id="11" name="Image 2" descr="/home/claude/shots/t_detail_c.png"/>
          <p:cNvPicPr>
            <a:picLocks noChangeAspect="1"/>
          </p:cNvPicPr>
          <p:nvPr/>
        </p:nvPicPr>
        <p:blipFill>
          <a:blip r:embed="rId5"/>
          <a:stretch>
            <a:fillRect/>
          </a:stretch>
        </p:blipFill>
        <p:spPr>
          <a:xfrm>
            <a:off x="4754880" y="1481328"/>
            <a:ext cx="3931920" cy="2453518"/>
          </a:xfrm>
          <a:prstGeom prst="rect">
            <a:avLst/>
          </a:prstGeom>
        </p:spPr>
      </p:pic>
      <p:sp>
        <p:nvSpPr>
          <p:cNvPr id="12" name="Shape 6"/>
          <p:cNvSpPr/>
          <p:nvPr/>
        </p:nvSpPr>
        <p:spPr>
          <a:xfrm>
            <a:off x="457200" y="1481328"/>
            <a:ext cx="3931920" cy="2844744"/>
          </a:xfrm>
          <a:prstGeom prst="rect">
            <a:avLst/>
          </a:prstGeom>
          <a:solidFill>
            <a:srgbClr val="FFFFFF">
              <a:alpha val="0"/>
            </a:srgbClr>
          </a:solidFill>
          <a:ln w="12700">
            <a:solidFill>
              <a:srgbClr val="D5DEE9"/>
            </a:solidFill>
            <a:prstDash val="solid"/>
          </a:ln>
        </p:spPr>
      </p:sp>
      <p:sp>
        <p:nvSpPr>
          <p:cNvPr id="13" name="Shape 7"/>
          <p:cNvSpPr/>
          <p:nvPr/>
        </p:nvSpPr>
        <p:spPr>
          <a:xfrm>
            <a:off x="4754880" y="1481328"/>
            <a:ext cx="3931920" cy="2453518"/>
          </a:xfrm>
          <a:prstGeom prst="rect">
            <a:avLst/>
          </a:prstGeom>
          <a:solidFill>
            <a:srgbClr val="FFFFFF">
              <a:alpha val="0"/>
            </a:srgbClr>
          </a:solidFill>
          <a:ln w="12700">
            <a:solidFill>
              <a:srgbClr val="D5DEE9"/>
            </a:solidFill>
            <a:prstDash val="solid"/>
          </a:ln>
        </p:spPr>
      </p:sp>
      <p:sp>
        <p:nvSpPr>
          <p:cNvPr id="14" name="Text 8"/>
          <p:cNvSpPr/>
          <p:nvPr/>
        </p:nvSpPr>
        <p:spPr>
          <a:xfrm>
            <a:off x="4754880" y="4117726"/>
            <a:ext cx="3931920" cy="548640"/>
          </a:xfrm>
          <a:prstGeom prst="rect">
            <a:avLst/>
          </a:prstGeom>
          <a:noFill/>
          <a:ln/>
        </p:spPr>
        <p:txBody>
          <a:bodyPr wrap="square" lIns="0" tIns="0" rIns="0" bIns="0" rtlCol="0" anchor="t"/>
          <a:lstStyle/>
          <a:p>
            <a:pPr marL="0" indent="0">
              <a:buNone/>
            </a:pPr>
            <a:r>
              <a:rPr lang="en-US" sz="1150" i="1" dirty="0">
                <a:solidFill>
                  <a:srgbClr val="64748B"/>
                </a:solidFill>
                <a:latin typeface="Calibri" pitchFamily="34" charset="0"/>
                <a:ea typeface="Calibri" pitchFamily="34" charset="-122"/>
                <a:cs typeface="Calibri" pitchFamily="34" charset="-120"/>
              </a:rPr>
              <a:t>Register / login (JWT)  →  browse  →  bid  →  see the new highest bid instantly</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7406640" cy="502920"/>
          </a:xfrm>
          <a:prstGeom prst="rect">
            <a:avLst/>
          </a:prstGeom>
          <a:noFill/>
          <a:ln/>
        </p:spPr>
        <p:txBody>
          <a:bodyPr wrap="square" lIns="0" tIns="0" rIns="0" bIns="0" rtlCol="0" anchor="ctr"/>
          <a:lstStyle/>
          <a:p>
            <a:pPr marL="0" indent="0">
              <a:buNone/>
            </a:pPr>
            <a:r>
              <a:rPr lang="en-US" sz="2600" b="1" dirty="0">
                <a:solidFill>
                  <a:srgbClr val="0F2A4A"/>
                </a:solidFill>
                <a:latin typeface="Cambria" pitchFamily="34" charset="0"/>
                <a:ea typeface="Cambria" pitchFamily="34" charset="-122"/>
                <a:cs typeface="Cambria" pitchFamily="34" charset="-120"/>
              </a:rPr>
              <a:t>Real-Time Updates and Admin</a:t>
            </a:r>
            <a:endParaRPr lang="en-US" sz="2600" dirty="0"/>
          </a:p>
        </p:txBody>
      </p:sp>
      <p:sp>
        <p:nvSpPr>
          <p:cNvPr id="3" name="Text 1"/>
          <p:cNvSpPr/>
          <p:nvPr/>
        </p:nvSpPr>
        <p:spPr>
          <a:xfrm>
            <a:off x="457200" y="777240"/>
            <a:ext cx="7406640" cy="274320"/>
          </a:xfrm>
          <a:prstGeom prst="rect">
            <a:avLst/>
          </a:prstGeom>
          <a:noFill/>
          <a:ln/>
        </p:spPr>
        <p:txBody>
          <a:bodyPr wrap="square" lIns="0" tIns="0" rIns="0" bIns="0" rtlCol="0" anchor="ctr"/>
          <a:lstStyle/>
          <a:p>
            <a:pPr marL="0" indent="0">
              <a:buNone/>
            </a:pPr>
            <a:r>
              <a:rPr lang="en-US" sz="1250" dirty="0">
                <a:solidFill>
                  <a:srgbClr val="64748B"/>
                </a:solidFill>
                <a:latin typeface="Calibri" pitchFamily="34" charset="0"/>
                <a:ea typeface="Calibri" pitchFamily="34" charset="-122"/>
                <a:cs typeface="Calibri" pitchFamily="34" charset="-120"/>
              </a:rPr>
              <a:t>Another user bids and the open page updates without a reload</a:t>
            </a:r>
            <a:endParaRPr lang="en-US" sz="1250" dirty="0"/>
          </a:p>
        </p:txBody>
      </p:sp>
      <p:pic>
        <p:nvPicPr>
          <p:cNvPr id="4" name="Image 0" descr="/home/claude/deck/logo.png"/>
          <p:cNvPicPr>
            <a:picLocks noChangeAspect="1"/>
          </p:cNvPicPr>
          <p:nvPr/>
        </p:nvPicPr>
        <p:blipFill>
          <a:blip r:embed="rId3"/>
          <a:stretch>
            <a:fillRect/>
          </a:stretch>
        </p:blipFill>
        <p:spPr>
          <a:xfrm>
            <a:off x="7955280" y="201168"/>
            <a:ext cx="822960" cy="390599"/>
          </a:xfrm>
          <a:prstGeom prst="rect">
            <a:avLst/>
          </a:prstGeom>
        </p:spPr>
      </p:pic>
      <p:sp>
        <p:nvSpPr>
          <p:cNvPr id="5" name="Text 2"/>
          <p:cNvSpPr/>
          <p:nvPr/>
        </p:nvSpPr>
        <p:spPr>
          <a:xfrm>
            <a:off x="457200" y="4828032"/>
            <a:ext cx="54864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Team 22  |  Final Review  |  DBDSE (25CS1302E)</a:t>
            </a:r>
            <a:endParaRPr lang="en-US" sz="900" dirty="0"/>
          </a:p>
        </p:txBody>
      </p:sp>
      <p:sp>
        <p:nvSpPr>
          <p:cNvPr id="6" name="Text 3"/>
          <p:cNvSpPr/>
          <p:nvPr/>
        </p:nvSpPr>
        <p:spPr>
          <a:xfrm>
            <a:off x="8229600" y="4828032"/>
            <a:ext cx="45720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sp>
        <p:nvSpPr>
          <p:cNvPr id="8" name="Text 4"/>
          <p:cNvSpPr/>
          <p:nvPr/>
        </p:nvSpPr>
        <p:spPr>
          <a:xfrm>
            <a:off x="457200" y="1188720"/>
            <a:ext cx="4023360" cy="237744"/>
          </a:xfrm>
          <a:prstGeom prst="rect">
            <a:avLst/>
          </a:prstGeom>
          <a:noFill/>
          <a:ln/>
        </p:spPr>
        <p:txBody>
          <a:bodyPr wrap="square" lIns="0" tIns="0" rIns="0" bIns="0" rtlCol="0" anchor="ctr"/>
          <a:lstStyle/>
          <a:p>
            <a:pPr marL="0" indent="0">
              <a:buNone/>
            </a:pPr>
            <a:r>
              <a:rPr lang="en-US" sz="1200" b="1" dirty="0">
                <a:solidFill>
                  <a:srgbClr val="0B6FB8"/>
                </a:solidFill>
                <a:latin typeface="Calibri" pitchFamily="34" charset="0"/>
                <a:ea typeface="Calibri" pitchFamily="34" charset="-122"/>
                <a:cs typeface="Calibri" pitchFamily="34" charset="-120"/>
              </a:rPr>
              <a:t>Before: ₹2400.00</a:t>
            </a:r>
            <a:endParaRPr lang="en-US" sz="1200" dirty="0"/>
          </a:p>
        </p:txBody>
      </p:sp>
      <p:pic>
        <p:nvPicPr>
          <p:cNvPr id="9" name="Image 1" descr="/home/claude/shots/live_before_t.png"/>
          <p:cNvPicPr>
            <a:picLocks noChangeAspect="1"/>
          </p:cNvPicPr>
          <p:nvPr/>
        </p:nvPicPr>
        <p:blipFill>
          <a:blip r:embed="rId4"/>
          <a:stretch>
            <a:fillRect/>
          </a:stretch>
        </p:blipFill>
        <p:spPr>
          <a:xfrm>
            <a:off x="457200" y="1463040"/>
            <a:ext cx="4023360" cy="1287475"/>
          </a:xfrm>
          <a:prstGeom prst="rect">
            <a:avLst/>
          </a:prstGeom>
        </p:spPr>
      </p:pic>
      <p:sp>
        <p:nvSpPr>
          <p:cNvPr id="10" name="Shape 5"/>
          <p:cNvSpPr/>
          <p:nvPr/>
        </p:nvSpPr>
        <p:spPr>
          <a:xfrm>
            <a:off x="457200" y="1463040"/>
            <a:ext cx="4023360" cy="1287475"/>
          </a:xfrm>
          <a:prstGeom prst="rect">
            <a:avLst/>
          </a:prstGeom>
          <a:solidFill>
            <a:srgbClr val="FFFFFF">
              <a:alpha val="0"/>
            </a:srgbClr>
          </a:solidFill>
          <a:ln w="12700">
            <a:solidFill>
              <a:srgbClr val="D5DEE9"/>
            </a:solidFill>
            <a:prstDash val="solid"/>
          </a:ln>
        </p:spPr>
      </p:sp>
      <p:sp>
        <p:nvSpPr>
          <p:cNvPr id="11" name="Text 6"/>
          <p:cNvSpPr/>
          <p:nvPr/>
        </p:nvSpPr>
        <p:spPr>
          <a:xfrm>
            <a:off x="457200" y="2887675"/>
            <a:ext cx="4023360" cy="237744"/>
          </a:xfrm>
          <a:prstGeom prst="rect">
            <a:avLst/>
          </a:prstGeom>
          <a:noFill/>
          <a:ln/>
        </p:spPr>
        <p:txBody>
          <a:bodyPr wrap="square" lIns="0" tIns="0" rIns="0" bIns="0" rtlCol="0" anchor="ctr"/>
          <a:lstStyle/>
          <a:p>
            <a:pPr marL="0" indent="0">
              <a:buNone/>
            </a:pPr>
            <a:r>
              <a:rPr lang="en-US" sz="1200" b="1" dirty="0">
                <a:solidFill>
                  <a:srgbClr val="15803D"/>
                </a:solidFill>
                <a:latin typeface="Calibri" pitchFamily="34" charset="0"/>
                <a:ea typeface="Calibri" pitchFamily="34" charset="-122"/>
                <a:cs typeface="Calibri" pitchFamily="34" charset="-120"/>
              </a:rPr>
              <a:t>After another user bids: ₹2650.00</a:t>
            </a:r>
            <a:endParaRPr lang="en-US" sz="1200" dirty="0"/>
          </a:p>
        </p:txBody>
      </p:sp>
      <p:pic>
        <p:nvPicPr>
          <p:cNvPr id="12" name="Image 2" descr="/home/claude/shots/live_after_t.png"/>
          <p:cNvPicPr>
            <a:picLocks noChangeAspect="1"/>
          </p:cNvPicPr>
          <p:nvPr/>
        </p:nvPicPr>
        <p:blipFill>
          <a:blip r:embed="rId5"/>
          <a:stretch>
            <a:fillRect/>
          </a:stretch>
        </p:blipFill>
        <p:spPr>
          <a:xfrm>
            <a:off x="457200" y="3161995"/>
            <a:ext cx="4023360" cy="1287475"/>
          </a:xfrm>
          <a:prstGeom prst="rect">
            <a:avLst/>
          </a:prstGeom>
        </p:spPr>
      </p:pic>
      <p:sp>
        <p:nvSpPr>
          <p:cNvPr id="13" name="Shape 7"/>
          <p:cNvSpPr/>
          <p:nvPr/>
        </p:nvSpPr>
        <p:spPr>
          <a:xfrm>
            <a:off x="457200" y="3161995"/>
            <a:ext cx="4023360" cy="1287475"/>
          </a:xfrm>
          <a:prstGeom prst="rect">
            <a:avLst/>
          </a:prstGeom>
          <a:solidFill>
            <a:srgbClr val="FFFFFF">
              <a:alpha val="0"/>
            </a:srgbClr>
          </a:solidFill>
          <a:ln w="12700">
            <a:solidFill>
              <a:srgbClr val="D5DEE9"/>
            </a:solidFill>
            <a:prstDash val="solid"/>
          </a:ln>
        </p:spPr>
      </p:sp>
      <p:sp>
        <p:nvSpPr>
          <p:cNvPr id="14" name="Text 8"/>
          <p:cNvSpPr/>
          <p:nvPr/>
        </p:nvSpPr>
        <p:spPr>
          <a:xfrm>
            <a:off x="4663440" y="1188720"/>
            <a:ext cx="4023360" cy="237744"/>
          </a:xfrm>
          <a:prstGeom prst="rect">
            <a:avLst/>
          </a:prstGeom>
          <a:noFill/>
          <a:ln/>
        </p:spPr>
        <p:txBody>
          <a:bodyPr wrap="square" lIns="0" tIns="0" rIns="0" bIns="0" rtlCol="0" anchor="ctr"/>
          <a:lstStyle/>
          <a:p>
            <a:pPr marL="0" indent="0">
              <a:buNone/>
            </a:pPr>
            <a:r>
              <a:rPr lang="en-US" sz="1200" b="1" dirty="0">
                <a:solidFill>
                  <a:srgbClr val="0B6FB8"/>
                </a:solidFill>
                <a:latin typeface="Calibri" pitchFamily="34" charset="0"/>
                <a:ea typeface="Calibri" pitchFamily="34" charset="-122"/>
                <a:cs typeface="Calibri" pitchFamily="34" charset="-120"/>
              </a:rPr>
              <a:t>Admin dashboard</a:t>
            </a:r>
            <a:endParaRPr lang="en-US" sz="1200" dirty="0"/>
          </a:p>
        </p:txBody>
      </p:sp>
      <p:pic>
        <p:nvPicPr>
          <p:cNvPr id="15" name="Image 3" descr="/home/claude/shots/t_admin_c.png"/>
          <p:cNvPicPr>
            <a:picLocks noChangeAspect="1"/>
          </p:cNvPicPr>
          <p:nvPr/>
        </p:nvPicPr>
        <p:blipFill>
          <a:blip r:embed="rId6"/>
          <a:stretch>
            <a:fillRect/>
          </a:stretch>
        </p:blipFill>
        <p:spPr>
          <a:xfrm>
            <a:off x="4663440" y="1463040"/>
            <a:ext cx="4023360" cy="3053730"/>
          </a:xfrm>
          <a:prstGeom prst="rect">
            <a:avLst/>
          </a:prstGeom>
        </p:spPr>
      </p:pic>
      <p:sp>
        <p:nvSpPr>
          <p:cNvPr id="16" name="Shape 9"/>
          <p:cNvSpPr/>
          <p:nvPr/>
        </p:nvSpPr>
        <p:spPr>
          <a:xfrm>
            <a:off x="4663440" y="1463040"/>
            <a:ext cx="4023360" cy="3053730"/>
          </a:xfrm>
          <a:prstGeom prst="rect">
            <a:avLst/>
          </a:prstGeom>
          <a:solidFill>
            <a:srgbClr val="FFFFFF">
              <a:alpha val="0"/>
            </a:srgbClr>
          </a:solidFill>
          <a:ln w="12700">
            <a:solidFill>
              <a:srgbClr val="D5DEE9"/>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7406640" cy="502920"/>
          </a:xfrm>
          <a:prstGeom prst="rect">
            <a:avLst/>
          </a:prstGeom>
          <a:noFill/>
          <a:ln/>
        </p:spPr>
        <p:txBody>
          <a:bodyPr wrap="square" lIns="0" tIns="0" rIns="0" bIns="0" rtlCol="0" anchor="ctr"/>
          <a:lstStyle/>
          <a:p>
            <a:pPr marL="0" indent="0">
              <a:buNone/>
            </a:pPr>
            <a:r>
              <a:rPr lang="en-US" sz="2600" b="1" dirty="0">
                <a:solidFill>
                  <a:srgbClr val="0F2A4A"/>
                </a:solidFill>
                <a:latin typeface="Cambria" pitchFamily="34" charset="0"/>
                <a:ea typeface="Cambria" pitchFamily="34" charset="-122"/>
                <a:cs typeface="Cambria" pitchFamily="34" charset="-120"/>
              </a:rPr>
              <a:t>Naive SELECT then UPDATE vs Row Locking</a:t>
            </a:r>
            <a:endParaRPr lang="en-US" sz="2600" dirty="0"/>
          </a:p>
        </p:txBody>
      </p:sp>
      <p:sp>
        <p:nvSpPr>
          <p:cNvPr id="3" name="Text 1"/>
          <p:cNvSpPr/>
          <p:nvPr/>
        </p:nvSpPr>
        <p:spPr>
          <a:xfrm>
            <a:off x="457200" y="777240"/>
            <a:ext cx="7406640" cy="274320"/>
          </a:xfrm>
          <a:prstGeom prst="rect">
            <a:avLst/>
          </a:prstGeom>
          <a:noFill/>
          <a:ln/>
        </p:spPr>
        <p:txBody>
          <a:bodyPr wrap="square" lIns="0" tIns="0" rIns="0" bIns="0" rtlCol="0" anchor="ctr"/>
          <a:lstStyle/>
          <a:p>
            <a:pPr marL="0" indent="0">
              <a:buNone/>
            </a:pPr>
            <a:r>
              <a:rPr lang="en-US" sz="1250" dirty="0">
                <a:solidFill>
                  <a:srgbClr val="64748B"/>
                </a:solidFill>
                <a:latin typeface="Calibri" pitchFamily="34" charset="0"/>
                <a:ea typeface="Calibri" pitchFamily="34" charset="-122"/>
                <a:cs typeface="Calibri" pitchFamily="34" charset="-120"/>
              </a:rPr>
              <a:t>20 simultaneous bidders, 10 rounds, true highest bid = ₹2050</a:t>
            </a:r>
            <a:endParaRPr lang="en-US" sz="1250" dirty="0"/>
          </a:p>
        </p:txBody>
      </p:sp>
      <p:pic>
        <p:nvPicPr>
          <p:cNvPr id="4" name="Image 0" descr="/home/claude/deck/logo.png"/>
          <p:cNvPicPr>
            <a:picLocks noChangeAspect="1"/>
          </p:cNvPicPr>
          <p:nvPr/>
        </p:nvPicPr>
        <p:blipFill>
          <a:blip r:embed="rId3"/>
          <a:stretch>
            <a:fillRect/>
          </a:stretch>
        </p:blipFill>
        <p:spPr>
          <a:xfrm>
            <a:off x="7955280" y="201168"/>
            <a:ext cx="822960" cy="390599"/>
          </a:xfrm>
          <a:prstGeom prst="rect">
            <a:avLst/>
          </a:prstGeom>
        </p:spPr>
      </p:pic>
      <p:sp>
        <p:nvSpPr>
          <p:cNvPr id="5" name="Text 2"/>
          <p:cNvSpPr/>
          <p:nvPr/>
        </p:nvSpPr>
        <p:spPr>
          <a:xfrm>
            <a:off x="457200" y="4828032"/>
            <a:ext cx="54864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Team 22  |  Final Review  |  DBDSE (25CS1302E)</a:t>
            </a:r>
            <a:endParaRPr lang="en-US" sz="900" dirty="0"/>
          </a:p>
        </p:txBody>
      </p:sp>
      <p:sp>
        <p:nvSpPr>
          <p:cNvPr id="6" name="Text 3"/>
          <p:cNvSpPr/>
          <p:nvPr/>
        </p:nvSpPr>
        <p:spPr>
          <a:xfrm>
            <a:off x="8229600" y="4828032"/>
            <a:ext cx="45720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graphicFrame>
        <p:nvGraphicFramePr>
          <p:cNvPr id="8" name="Chart 0"/>
          <p:cNvGraphicFramePr/>
          <p:nvPr/>
        </p:nvGraphicFramePr>
        <p:xfrm>
          <a:off x="365760" y="1188720"/>
          <a:ext cx="5669280" cy="3520440"/>
        </p:xfrm>
        <a:graphic>
          <a:graphicData uri="http://schemas.openxmlformats.org/drawingml/2006/chart">
            <c:chart xmlns:c="http://schemas.openxmlformats.org/drawingml/2006/chart" xmlns:r="http://schemas.openxmlformats.org/officeDocument/2006/relationships" r:id="rId4"/>
          </a:graphicData>
        </a:graphic>
      </p:graphicFrame>
      <p:sp>
        <p:nvSpPr>
          <p:cNvPr id="9" name="Shape 4"/>
          <p:cNvSpPr/>
          <p:nvPr/>
        </p:nvSpPr>
        <p:spPr>
          <a:xfrm>
            <a:off x="6309360" y="1234440"/>
            <a:ext cx="2377440" cy="1600200"/>
          </a:xfrm>
          <a:prstGeom prst="roundRect">
            <a:avLst>
              <a:gd name="adj" fmla="val 4571"/>
            </a:avLst>
          </a:prstGeom>
          <a:solidFill>
            <a:srgbClr val="FEF2F2"/>
          </a:solidFill>
          <a:ln w="12700">
            <a:solidFill>
              <a:srgbClr val="FEF2F2"/>
            </a:solidFill>
            <a:prstDash val="solid"/>
          </a:ln>
        </p:spPr>
      </p:sp>
      <p:sp>
        <p:nvSpPr>
          <p:cNvPr id="10" name="Text 5"/>
          <p:cNvSpPr/>
          <p:nvPr/>
        </p:nvSpPr>
        <p:spPr>
          <a:xfrm>
            <a:off x="6309360" y="1280160"/>
            <a:ext cx="2377440" cy="731520"/>
          </a:xfrm>
          <a:prstGeom prst="rect">
            <a:avLst/>
          </a:prstGeom>
          <a:noFill/>
          <a:ln/>
        </p:spPr>
        <p:txBody>
          <a:bodyPr wrap="square" lIns="0" tIns="0" rIns="0" bIns="0" rtlCol="0" anchor="ctr"/>
          <a:lstStyle/>
          <a:p>
            <a:pPr marL="0" indent="0" algn="ctr">
              <a:buNone/>
            </a:pPr>
            <a:r>
              <a:rPr lang="en-US" sz="3800" b="1" dirty="0">
                <a:solidFill>
                  <a:srgbClr val="B3122B"/>
                </a:solidFill>
                <a:latin typeface="Cambria" pitchFamily="34" charset="0"/>
                <a:ea typeface="Cambria" pitchFamily="34" charset="-122"/>
                <a:cs typeface="Cambria" pitchFamily="34" charset="-120"/>
              </a:rPr>
              <a:t>8 / 10</a:t>
            </a:r>
            <a:endParaRPr lang="en-US" sz="3800" dirty="0"/>
          </a:p>
        </p:txBody>
      </p:sp>
      <p:sp>
        <p:nvSpPr>
          <p:cNvPr id="11" name="Text 6"/>
          <p:cNvSpPr/>
          <p:nvPr/>
        </p:nvSpPr>
        <p:spPr>
          <a:xfrm>
            <a:off x="6400800" y="2057400"/>
            <a:ext cx="2194560" cy="731520"/>
          </a:xfrm>
          <a:prstGeom prst="rect">
            <a:avLst/>
          </a:prstGeom>
          <a:noFill/>
          <a:ln/>
        </p:spPr>
        <p:txBody>
          <a:bodyPr wrap="square" lIns="0" tIns="0" rIns="0" bIns="0" rtlCol="0" anchor="t"/>
          <a:lstStyle/>
          <a:p>
            <a:pPr marL="0" indent="0" algn="ctr">
              <a:buNone/>
            </a:pPr>
            <a:r>
              <a:rPr lang="en-US" sz="1100" dirty="0">
                <a:solidFill>
                  <a:srgbClr val="1E293B"/>
                </a:solidFill>
                <a:latin typeface="Calibri" pitchFamily="34" charset="0"/>
                <a:ea typeface="Calibri" pitchFamily="34" charset="-122"/>
                <a:cs typeface="Calibri" pitchFamily="34" charset="-120"/>
              </a:rPr>
              <a:t>rounds with a wrong highest bid (plain SELECT then UPDATE)</a:t>
            </a:r>
            <a:endParaRPr lang="en-US" sz="1100" dirty="0"/>
          </a:p>
        </p:txBody>
      </p:sp>
      <p:sp>
        <p:nvSpPr>
          <p:cNvPr id="12" name="Shape 7"/>
          <p:cNvSpPr/>
          <p:nvPr/>
        </p:nvSpPr>
        <p:spPr>
          <a:xfrm>
            <a:off x="6309360" y="3017520"/>
            <a:ext cx="2377440" cy="1691640"/>
          </a:xfrm>
          <a:prstGeom prst="roundRect">
            <a:avLst>
              <a:gd name="adj" fmla="val 4324"/>
            </a:avLst>
          </a:prstGeom>
          <a:solidFill>
            <a:srgbClr val="F0FDF4"/>
          </a:solidFill>
          <a:ln w="12700">
            <a:solidFill>
              <a:srgbClr val="F0FDF4"/>
            </a:solidFill>
            <a:prstDash val="solid"/>
          </a:ln>
        </p:spPr>
      </p:sp>
      <p:sp>
        <p:nvSpPr>
          <p:cNvPr id="13" name="Text 8"/>
          <p:cNvSpPr/>
          <p:nvPr/>
        </p:nvSpPr>
        <p:spPr>
          <a:xfrm>
            <a:off x="6309360" y="3063240"/>
            <a:ext cx="2377440" cy="731520"/>
          </a:xfrm>
          <a:prstGeom prst="rect">
            <a:avLst/>
          </a:prstGeom>
          <a:noFill/>
          <a:ln/>
        </p:spPr>
        <p:txBody>
          <a:bodyPr wrap="square" lIns="0" tIns="0" rIns="0" bIns="0" rtlCol="0" anchor="ctr"/>
          <a:lstStyle/>
          <a:p>
            <a:pPr marL="0" indent="0" algn="ctr">
              <a:buNone/>
            </a:pPr>
            <a:r>
              <a:rPr lang="en-US" sz="3800" b="1" dirty="0">
                <a:solidFill>
                  <a:srgbClr val="15803D"/>
                </a:solidFill>
                <a:latin typeface="Cambria" pitchFamily="34" charset="0"/>
                <a:ea typeface="Cambria" pitchFamily="34" charset="-122"/>
                <a:cs typeface="Cambria" pitchFamily="34" charset="-120"/>
              </a:rPr>
              <a:t>10 / 10</a:t>
            </a:r>
            <a:endParaRPr lang="en-US" sz="3800" dirty="0"/>
          </a:p>
        </p:txBody>
      </p:sp>
      <p:sp>
        <p:nvSpPr>
          <p:cNvPr id="14" name="Text 9"/>
          <p:cNvSpPr/>
          <p:nvPr/>
        </p:nvSpPr>
        <p:spPr>
          <a:xfrm>
            <a:off x="6400800" y="3840480"/>
            <a:ext cx="2194560" cy="777240"/>
          </a:xfrm>
          <a:prstGeom prst="rect">
            <a:avLst/>
          </a:prstGeom>
          <a:noFill/>
          <a:ln/>
        </p:spPr>
        <p:txBody>
          <a:bodyPr wrap="square" lIns="0" tIns="0" rIns="0" bIns="0" rtlCol="0" anchor="t"/>
          <a:lstStyle/>
          <a:p>
            <a:pPr marL="0" indent="0" algn="ctr">
              <a:buNone/>
            </a:pPr>
            <a:r>
              <a:rPr lang="en-US" sz="1100" dirty="0">
                <a:solidFill>
                  <a:srgbClr val="1E293B"/>
                </a:solidFill>
                <a:latin typeface="Calibri" pitchFamily="34" charset="0"/>
                <a:ea typeface="Calibri" pitchFamily="34" charset="-122"/>
                <a:cs typeface="Calibri" pitchFamily="34" charset="-120"/>
              </a:rPr>
              <a:t>rounds correct with SELECT … FOR UPDATE; bid history strictly increasing</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7406640" cy="502920"/>
          </a:xfrm>
          <a:prstGeom prst="rect">
            <a:avLst/>
          </a:prstGeom>
          <a:noFill/>
          <a:ln/>
        </p:spPr>
        <p:txBody>
          <a:bodyPr wrap="square" lIns="0" tIns="0" rIns="0" bIns="0" rtlCol="0" anchor="ctr"/>
          <a:lstStyle/>
          <a:p>
            <a:pPr marL="0" indent="0">
              <a:buNone/>
            </a:pPr>
            <a:r>
              <a:rPr lang="en-US" sz="2600" b="1" dirty="0">
                <a:solidFill>
                  <a:srgbClr val="0F2A4A"/>
                </a:solidFill>
                <a:latin typeface="Cambria" pitchFamily="34" charset="0"/>
                <a:ea typeface="Cambria" pitchFamily="34" charset="-122"/>
                <a:cs typeface="Cambria" pitchFamily="34" charset="-120"/>
              </a:rPr>
              <a:t>Test Cases and Results</a:t>
            </a:r>
            <a:endParaRPr lang="en-US" sz="2600" dirty="0"/>
          </a:p>
        </p:txBody>
      </p:sp>
      <p:sp>
        <p:nvSpPr>
          <p:cNvPr id="3" name="Text 1"/>
          <p:cNvSpPr/>
          <p:nvPr/>
        </p:nvSpPr>
        <p:spPr>
          <a:xfrm>
            <a:off x="457200" y="777240"/>
            <a:ext cx="7406640" cy="274320"/>
          </a:xfrm>
          <a:prstGeom prst="rect">
            <a:avLst/>
          </a:prstGeom>
          <a:noFill/>
          <a:ln/>
        </p:spPr>
        <p:txBody>
          <a:bodyPr wrap="square" lIns="0" tIns="0" rIns="0" bIns="0" rtlCol="0" anchor="ctr"/>
          <a:lstStyle/>
          <a:p>
            <a:pPr marL="0" indent="0">
              <a:buNone/>
            </a:pPr>
            <a:r>
              <a:rPr lang="en-US" sz="1250" dirty="0">
                <a:solidFill>
                  <a:srgbClr val="64748B"/>
                </a:solidFill>
                <a:latin typeface="Calibri" pitchFamily="34" charset="0"/>
                <a:ea typeface="Calibri" pitchFamily="34" charset="-122"/>
                <a:cs typeface="Calibri" pitchFamily="34" charset="-120"/>
              </a:rPr>
              <a:t>Every scenario below was executed against the running application</a:t>
            </a:r>
            <a:endParaRPr lang="en-US" sz="1250" dirty="0"/>
          </a:p>
        </p:txBody>
      </p:sp>
      <p:pic>
        <p:nvPicPr>
          <p:cNvPr id="4" name="Image 0" descr="/home/claude/deck/logo.png"/>
          <p:cNvPicPr>
            <a:picLocks noChangeAspect="1"/>
          </p:cNvPicPr>
          <p:nvPr/>
        </p:nvPicPr>
        <p:blipFill>
          <a:blip r:embed="rId3"/>
          <a:stretch>
            <a:fillRect/>
          </a:stretch>
        </p:blipFill>
        <p:spPr>
          <a:xfrm>
            <a:off x="7955280" y="201168"/>
            <a:ext cx="822960" cy="390599"/>
          </a:xfrm>
          <a:prstGeom prst="rect">
            <a:avLst/>
          </a:prstGeom>
        </p:spPr>
      </p:pic>
      <p:sp>
        <p:nvSpPr>
          <p:cNvPr id="5" name="Text 2"/>
          <p:cNvSpPr/>
          <p:nvPr/>
        </p:nvSpPr>
        <p:spPr>
          <a:xfrm>
            <a:off x="457200" y="4828032"/>
            <a:ext cx="54864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Team 22  |  Final Review  |  DBDSE (25CS1302E)</a:t>
            </a:r>
            <a:endParaRPr lang="en-US" sz="900" dirty="0"/>
          </a:p>
        </p:txBody>
      </p:sp>
      <p:sp>
        <p:nvSpPr>
          <p:cNvPr id="6" name="Text 3"/>
          <p:cNvSpPr/>
          <p:nvPr/>
        </p:nvSpPr>
        <p:spPr>
          <a:xfrm>
            <a:off x="8229600" y="4828032"/>
            <a:ext cx="45720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657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329184">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0B6FB8"/>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Scenario</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0B6FB8"/>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Expected</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0B6FB8"/>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Result</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0B6FB8"/>
                    </a:solidFill>
                  </a:tcPr>
                </a:tc>
                <a:extLst>
                  <a:ext uri="{0D108BD9-81ED-4DB2-BD59-A6C34878D82A}">
                    <a16:rowId xmlns:a16="http://schemas.microsoft.com/office/drawing/2014/main" val="10000"/>
                  </a:ext>
                </a:extLst>
              </a:tr>
              <a:tr h="329184">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4 simultaneous bids (₹600–750), different users</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Highest = ₹750; all bids logged</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5803D"/>
                          </a:solidFill>
                          <a:latin typeface="Calibri" pitchFamily="34" charset="0"/>
                          <a:ea typeface="Calibri" pitchFamily="34" charset="-122"/>
                          <a:cs typeface="Calibri" pitchFamily="34" charset="-120"/>
                        </a:rPr>
                        <a:t>PASS  ₹750, 4 history rows</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4 users bid the same ₹21,000 at once</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Exactly one accepted</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5803D"/>
                          </a:solidFill>
                          <a:latin typeface="Calibri" pitchFamily="34" charset="0"/>
                          <a:ea typeface="Calibri" pitchFamily="34" charset="-122"/>
                          <a:cs typeface="Calibri" pitchFamily="34" charset="-120"/>
                        </a:rPr>
                        <a:t>PASS  1 accepted, 3 × 409</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20 simultaneous bids, 10 rounds</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Final = ₹2050; history strictly increasing</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5803D"/>
                          </a:solidFill>
                          <a:latin typeface="Calibri" pitchFamily="34" charset="0"/>
                          <a:ea typeface="Calibri" pitchFamily="34" charset="-122"/>
                          <a:cs typeface="Calibri" pitchFamily="34" charset="-120"/>
                        </a:rPr>
                        <a:t>PASS  10 / 10 rounds</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Bid not above the current highest</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Rejected with 409</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5803D"/>
                          </a:solidFill>
                          <a:latin typeface="Calibri" pitchFamily="34" charset="0"/>
                          <a:ea typeface="Calibri" pitchFamily="34" charset="-122"/>
                          <a:cs typeface="Calibri" pitchFamily="34" charset="-120"/>
                        </a:rPr>
                        <a:t>PASS  409</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Bid on a closed auction</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Rejected with 400</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5803D"/>
                          </a:solidFill>
                          <a:latin typeface="Calibri" pitchFamily="34" charset="0"/>
                          <a:ea typeface="Calibri" pitchFamily="34" charset="-122"/>
                          <a:cs typeface="Calibri" pitchFamily="34" charset="-120"/>
                        </a:rPr>
                        <a:t>PASS  400 not active</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extLst>
                  <a:ext uri="{0D108BD9-81ED-4DB2-BD59-A6C34878D82A}">
                    <a16:rowId xmlns:a16="http://schemas.microsoft.com/office/drawing/2014/main" val="10005"/>
                  </a:ext>
                </a:extLst>
              </a:tr>
              <a:tr h="329184">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Bid without logging in</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Rejected with 401</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5803D"/>
                          </a:solidFill>
                          <a:latin typeface="Calibri" pitchFamily="34" charset="0"/>
                          <a:ea typeface="Calibri" pitchFamily="34" charset="-122"/>
                          <a:cs typeface="Calibri" pitchFamily="34" charset="-120"/>
                        </a:rPr>
                        <a:t>PASS  401</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extLst>
                  <a:ext uri="{0D108BD9-81ED-4DB2-BD59-A6C34878D82A}">
                    <a16:rowId xmlns:a16="http://schemas.microsoft.com/office/drawing/2014/main" val="10006"/>
                  </a:ext>
                </a:extLst>
              </a:tr>
              <a:tr h="329184">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Non-admin opens admin API</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Rejected with 403</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5803D"/>
                          </a:solidFill>
                          <a:latin typeface="Calibri" pitchFamily="34" charset="0"/>
                          <a:ea typeface="Calibri" pitchFamily="34" charset="-122"/>
                          <a:cs typeface="Calibri" pitchFamily="34" charset="-120"/>
                        </a:rPr>
                        <a:t>PASS  403</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extLst>
                  <a:ext uri="{0D108BD9-81ED-4DB2-BD59-A6C34878D82A}">
                    <a16:rowId xmlns:a16="http://schemas.microsoft.com/office/drawing/2014/main" val="10007"/>
                  </a:ext>
                </a:extLst>
              </a:tr>
              <a:tr h="329184">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Auction passes its end time</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Closed; winner stored in auction_results</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5803D"/>
                          </a:solidFill>
                          <a:latin typeface="Calibri" pitchFamily="34" charset="0"/>
                          <a:ea typeface="Calibri" pitchFamily="34" charset="-122"/>
                          <a:cs typeface="Calibri" pitchFamily="34" charset="-120"/>
                        </a:rPr>
                        <a:t>PASS  winner recorded</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extLst>
                  <a:ext uri="{0D108BD9-81ED-4DB2-BD59-A6C34878D82A}">
                    <a16:rowId xmlns:a16="http://schemas.microsoft.com/office/drawing/2014/main" val="10008"/>
                  </a:ext>
                </a:extLst>
              </a:tr>
              <a:tr h="329184">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Another user bids on an open page</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E293B"/>
                          </a:solidFill>
                          <a:latin typeface="Calibri" pitchFamily="34" charset="0"/>
                          <a:ea typeface="Calibri" pitchFamily="34" charset="-122"/>
                          <a:cs typeface="Calibri" pitchFamily="34" charset="-120"/>
                        </a:rPr>
                        <a:t>Page updates without reload</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050" dirty="0">
                          <a:solidFill>
                            <a:srgbClr val="15803D"/>
                          </a:solidFill>
                          <a:latin typeface="Calibri" pitchFamily="34" charset="0"/>
                          <a:ea typeface="Calibri" pitchFamily="34" charset="-122"/>
                          <a:cs typeface="Calibri" pitchFamily="34" charset="-120"/>
                        </a:rPr>
                        <a:t>PASS  ₹2400 → ₹2650</a:t>
                      </a:r>
                      <a:endParaRPr lang="en-US" sz="1050" dirty="0">
                        <a:latin typeface="Calibri" charset="0"/>
                        <a:ea typeface="Calibri" charset="0"/>
                        <a:cs typeface="Calibri" charset="0"/>
                      </a:endParaRPr>
                    </a:p>
                  </a:txBody>
                  <a:tcPr marL="73152" marR="73152" marT="27432" marB="27432"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9" name="Text 4"/>
          <p:cNvSpPr/>
          <p:nvPr/>
        </p:nvSpPr>
        <p:spPr>
          <a:xfrm>
            <a:off x="457200" y="4572000"/>
            <a:ext cx="8229600" cy="201168"/>
          </a:xfrm>
          <a:prstGeom prst="rect">
            <a:avLst/>
          </a:prstGeom>
          <a:noFill/>
          <a:ln/>
        </p:spPr>
        <p:txBody>
          <a:bodyPr wrap="square" lIns="0" tIns="0" rIns="0" bIns="0"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Environment: Node.js 22, MariaDB 10.11 (InnoDB), React + Vite.</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7406640" cy="502920"/>
          </a:xfrm>
          <a:prstGeom prst="rect">
            <a:avLst/>
          </a:prstGeom>
          <a:noFill/>
          <a:ln/>
        </p:spPr>
        <p:txBody>
          <a:bodyPr wrap="square" lIns="0" tIns="0" rIns="0" bIns="0" rtlCol="0" anchor="ctr"/>
          <a:lstStyle/>
          <a:p>
            <a:pPr marL="0" indent="0">
              <a:buNone/>
            </a:pPr>
            <a:r>
              <a:rPr lang="en-US" sz="2600" b="1" dirty="0">
                <a:solidFill>
                  <a:srgbClr val="0F2A4A"/>
                </a:solidFill>
                <a:latin typeface="Cambria" pitchFamily="34" charset="0"/>
                <a:ea typeface="Cambria" pitchFamily="34" charset="-122"/>
                <a:cs typeface="Cambria" pitchFamily="34" charset="-120"/>
              </a:rPr>
              <a:t>Existing vs Proposed System</a:t>
            </a:r>
            <a:endParaRPr lang="en-US" sz="2600" dirty="0"/>
          </a:p>
        </p:txBody>
      </p:sp>
      <p:sp>
        <p:nvSpPr>
          <p:cNvPr id="3" name="Text 1"/>
          <p:cNvSpPr/>
          <p:nvPr/>
        </p:nvSpPr>
        <p:spPr>
          <a:xfrm>
            <a:off x="457200" y="777240"/>
            <a:ext cx="7406640" cy="274320"/>
          </a:xfrm>
          <a:prstGeom prst="rect">
            <a:avLst/>
          </a:prstGeom>
          <a:noFill/>
          <a:ln/>
        </p:spPr>
        <p:txBody>
          <a:bodyPr wrap="square" lIns="0" tIns="0" rIns="0" bIns="0" rtlCol="0" anchor="ctr"/>
          <a:lstStyle/>
          <a:p>
            <a:pPr marL="0" indent="0">
              <a:buNone/>
            </a:pPr>
            <a:r>
              <a:rPr lang="en-US" sz="1250" dirty="0">
                <a:solidFill>
                  <a:srgbClr val="64748B"/>
                </a:solidFill>
                <a:latin typeface="Calibri" pitchFamily="34" charset="0"/>
                <a:ea typeface="Calibri" pitchFamily="34" charset="-122"/>
                <a:cs typeface="Calibri" pitchFamily="34" charset="-120"/>
              </a:rPr>
              <a:t>What we added over typical auction systems</a:t>
            </a:r>
            <a:endParaRPr lang="en-US" sz="1250" dirty="0"/>
          </a:p>
        </p:txBody>
      </p:sp>
      <p:pic>
        <p:nvPicPr>
          <p:cNvPr id="4" name="Image 0" descr="/home/claude/deck/logo.png"/>
          <p:cNvPicPr>
            <a:picLocks noChangeAspect="1"/>
          </p:cNvPicPr>
          <p:nvPr/>
        </p:nvPicPr>
        <p:blipFill>
          <a:blip r:embed="rId3"/>
          <a:stretch>
            <a:fillRect/>
          </a:stretch>
        </p:blipFill>
        <p:spPr>
          <a:xfrm>
            <a:off x="7955280" y="201168"/>
            <a:ext cx="822960" cy="390599"/>
          </a:xfrm>
          <a:prstGeom prst="rect">
            <a:avLst/>
          </a:prstGeom>
        </p:spPr>
      </p:pic>
      <p:sp>
        <p:nvSpPr>
          <p:cNvPr id="5" name="Text 2"/>
          <p:cNvSpPr/>
          <p:nvPr/>
        </p:nvSpPr>
        <p:spPr>
          <a:xfrm>
            <a:off x="457200" y="4828032"/>
            <a:ext cx="54864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Team 22  |  Final Review  |  DBDSE (25CS1302E)</a:t>
            </a:r>
            <a:endParaRPr lang="en-US" sz="900" dirty="0"/>
          </a:p>
        </p:txBody>
      </p:sp>
      <p:sp>
        <p:nvSpPr>
          <p:cNvPr id="6" name="Text 3"/>
          <p:cNvSpPr/>
          <p:nvPr/>
        </p:nvSpPr>
        <p:spPr>
          <a:xfrm>
            <a:off x="8229600" y="4828032"/>
            <a:ext cx="45720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Feature</a:t>
                      </a:r>
                      <a:endParaRPr lang="en-US" sz="1200" dirty="0">
                        <a:latin typeface="Calibri" charset="0"/>
                        <a:ea typeface="Calibri" charset="0"/>
                        <a:cs typeface="Calibri" charset="0"/>
                      </a:endParaRPr>
                    </a:p>
                  </a:txBody>
                  <a:tcPr marT="36576" marB="36576"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0B6FB8"/>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Existing systems</a:t>
                      </a:r>
                      <a:endParaRPr lang="en-US" sz="1200" dirty="0">
                        <a:latin typeface="Calibri" charset="0"/>
                        <a:ea typeface="Calibri" charset="0"/>
                        <a:cs typeface="Calibri" charset="0"/>
                      </a:endParaRPr>
                    </a:p>
                  </a:txBody>
                  <a:tcPr marT="36576" marB="36576"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0B6FB8"/>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Proposed system</a:t>
                      </a:r>
                      <a:endParaRPr lang="en-US" sz="1200" dirty="0">
                        <a:latin typeface="Calibri" charset="0"/>
                        <a:ea typeface="Calibri" charset="0"/>
                        <a:cs typeface="Calibri" charset="0"/>
                      </a:endParaRPr>
                    </a:p>
                  </a:txBody>
                  <a:tcPr marT="36576" marB="36576"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0B6FB8"/>
                    </a:solidFill>
                  </a:tcPr>
                </a:tc>
                <a:extLst>
                  <a:ext uri="{0D108BD9-81ED-4DB2-BD59-A6C34878D82A}">
                    <a16:rowId xmlns:a16="http://schemas.microsoft.com/office/drawing/2014/main" val="10000"/>
                  </a:ext>
                </a:extLst>
              </a:tr>
              <a:tr h="566928">
                <a:tc>
                  <a:txBody>
                    <a:bodyPr/>
                    <a:lstStyle/>
                    <a:p>
                      <a:pPr marL="0" indent="0">
                        <a:buNone/>
                      </a:pPr>
                      <a:r>
                        <a:rPr lang="en-US" sz="1200" b="1" dirty="0">
                          <a:solidFill>
                            <a:srgbClr val="0F2A4A"/>
                          </a:solidFill>
                          <a:latin typeface="Calibri" pitchFamily="34" charset="0"/>
                          <a:ea typeface="Calibri" pitchFamily="34" charset="-122"/>
                          <a:cs typeface="Calibri" pitchFamily="34" charset="-120"/>
                        </a:rPr>
                        <a:t>Core features</a:t>
                      </a:r>
                      <a:endParaRPr lang="en-US" sz="1200" dirty="0">
                        <a:latin typeface="Calibri" charset="0"/>
                        <a:ea typeface="Calibri" charset="0"/>
                        <a:cs typeface="Calibri" charset="0"/>
                      </a:endParaRPr>
                    </a:p>
                  </a:txBody>
                  <a:tcPr marT="36576" marB="36576"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200" dirty="0">
                          <a:solidFill>
                            <a:srgbClr val="1E293B"/>
                          </a:solidFill>
                          <a:latin typeface="Calibri" pitchFamily="34" charset="0"/>
                          <a:ea typeface="Calibri" pitchFamily="34" charset="-122"/>
                          <a:cs typeface="Calibri" pitchFamily="34" charset="-120"/>
                        </a:rPr>
                        <a:t>Listing, bidding, timers and winner selection</a:t>
                      </a:r>
                      <a:endParaRPr lang="en-US" sz="1200" dirty="0">
                        <a:latin typeface="Calibri" charset="0"/>
                        <a:ea typeface="Calibri" charset="0"/>
                        <a:cs typeface="Calibri" charset="0"/>
                      </a:endParaRPr>
                    </a:p>
                  </a:txBody>
                  <a:tcPr marT="36576" marB="36576"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200" dirty="0">
                          <a:solidFill>
                            <a:srgbClr val="1E293B"/>
                          </a:solidFill>
                          <a:latin typeface="Calibri" pitchFamily="34" charset="0"/>
                          <a:ea typeface="Calibri" pitchFamily="34" charset="-122"/>
                          <a:cs typeface="Calibri" pitchFamily="34" charset="-120"/>
                        </a:rPr>
                        <a:t>Same features, plus live bid push through Socket.IO</a:t>
                      </a:r>
                      <a:endParaRPr lang="en-US" sz="1200" dirty="0">
                        <a:latin typeface="Calibri" charset="0"/>
                        <a:ea typeface="Calibri" charset="0"/>
                        <a:cs typeface="Calibri" charset="0"/>
                      </a:endParaRPr>
                    </a:p>
                  </a:txBody>
                  <a:tcPr marT="36576" marB="36576"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200" b="1" dirty="0">
                          <a:solidFill>
                            <a:srgbClr val="0F2A4A"/>
                          </a:solidFill>
                          <a:latin typeface="Calibri" pitchFamily="34" charset="0"/>
                          <a:ea typeface="Calibri" pitchFamily="34" charset="-122"/>
                          <a:cs typeface="Calibri" pitchFamily="34" charset="-120"/>
                        </a:rPr>
                        <a:t>Bid handling</a:t>
                      </a:r>
                      <a:endParaRPr lang="en-US" sz="1200" dirty="0">
                        <a:latin typeface="Calibri" charset="0"/>
                        <a:ea typeface="Calibri" charset="0"/>
                        <a:cs typeface="Calibri" charset="0"/>
                      </a:endParaRPr>
                    </a:p>
                  </a:txBody>
                  <a:tcPr marT="36576" marB="36576"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200" dirty="0">
                          <a:solidFill>
                            <a:srgbClr val="1E293B"/>
                          </a:solidFill>
                          <a:latin typeface="Calibri" pitchFamily="34" charset="0"/>
                          <a:ea typeface="Calibri" pitchFamily="34" charset="-122"/>
                          <a:cs typeface="Calibri" pitchFamily="34" charset="-120"/>
                        </a:rPr>
                        <a:t>Basic systems: plain SELECT then UPDATE</a:t>
                      </a:r>
                      <a:endParaRPr lang="en-US" sz="1200" dirty="0">
                        <a:latin typeface="Calibri" charset="0"/>
                        <a:ea typeface="Calibri" charset="0"/>
                        <a:cs typeface="Calibri" charset="0"/>
                      </a:endParaRPr>
                    </a:p>
                  </a:txBody>
                  <a:tcPr marT="36576" marB="36576"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200" dirty="0">
                          <a:solidFill>
                            <a:srgbClr val="1E293B"/>
                          </a:solidFill>
                          <a:latin typeface="Calibri" pitchFamily="34" charset="0"/>
                          <a:ea typeface="Calibri" pitchFamily="34" charset="-122"/>
                          <a:cs typeface="Calibri" pitchFamily="34" charset="-120"/>
                        </a:rPr>
                        <a:t>One transaction with SELECT … FOR UPDATE</a:t>
                      </a:r>
                      <a:endParaRPr lang="en-US" sz="1200" dirty="0">
                        <a:latin typeface="Calibri" charset="0"/>
                        <a:ea typeface="Calibri" charset="0"/>
                        <a:cs typeface="Calibri" charset="0"/>
                      </a:endParaRPr>
                    </a:p>
                  </a:txBody>
                  <a:tcPr marT="36576" marB="36576"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200" b="1" dirty="0">
                          <a:solidFill>
                            <a:srgbClr val="0F2A4A"/>
                          </a:solidFill>
                          <a:latin typeface="Calibri" pitchFamily="34" charset="0"/>
                          <a:ea typeface="Calibri" pitchFamily="34" charset="-122"/>
                          <a:cs typeface="Calibri" pitchFamily="34" charset="-120"/>
                        </a:rPr>
                        <a:t>Concurrency</a:t>
                      </a:r>
                      <a:endParaRPr lang="en-US" sz="1200" dirty="0">
                        <a:latin typeface="Calibri" charset="0"/>
                        <a:ea typeface="Calibri" charset="0"/>
                        <a:cs typeface="Calibri" charset="0"/>
                      </a:endParaRPr>
                    </a:p>
                  </a:txBody>
                  <a:tcPr marT="36576" marB="36576"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200" dirty="0">
                          <a:solidFill>
                            <a:srgbClr val="1E293B"/>
                          </a:solidFill>
                          <a:latin typeface="Calibri" pitchFamily="34" charset="0"/>
                          <a:ea typeface="Calibri" pitchFamily="34" charset="-122"/>
                          <a:cs typeface="Calibri" pitchFamily="34" charset="-120"/>
                        </a:rPr>
                        <a:t>Race conditions; a lower bid can overwrite a higher one</a:t>
                      </a:r>
                      <a:endParaRPr lang="en-US" sz="1200" dirty="0">
                        <a:latin typeface="Calibri" charset="0"/>
                        <a:ea typeface="Calibri" charset="0"/>
                        <a:cs typeface="Calibri" charset="0"/>
                      </a:endParaRPr>
                    </a:p>
                  </a:txBody>
                  <a:tcPr marT="36576" marB="36576"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200" dirty="0">
                          <a:solidFill>
                            <a:srgbClr val="1E293B"/>
                          </a:solidFill>
                          <a:latin typeface="Calibri" pitchFamily="34" charset="0"/>
                          <a:ea typeface="Calibri" pitchFamily="34" charset="-122"/>
                          <a:cs typeface="Calibri" pitchFamily="34" charset="-120"/>
                        </a:rPr>
                        <a:t>Row lock, REPEATABLE READ and deadlock retry</a:t>
                      </a:r>
                      <a:endParaRPr lang="en-US" sz="1200" dirty="0">
                        <a:latin typeface="Calibri" charset="0"/>
                        <a:ea typeface="Calibri" charset="0"/>
                        <a:cs typeface="Calibri" charset="0"/>
                      </a:endParaRPr>
                    </a:p>
                  </a:txBody>
                  <a:tcPr marT="36576" marB="36576"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200" b="1" dirty="0">
                          <a:solidFill>
                            <a:srgbClr val="0F2A4A"/>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T="36576" marB="36576"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200" dirty="0">
                          <a:solidFill>
                            <a:srgbClr val="1E293B"/>
                          </a:solidFill>
                          <a:latin typeface="Calibri" pitchFamily="34" charset="0"/>
                          <a:ea typeface="Calibri" pitchFamily="34" charset="-122"/>
                          <a:cs typeface="Calibri" pitchFamily="34" charset="-120"/>
                        </a:rPr>
                        <a:t>Commercial platforms are proprietary; design not documented</a:t>
                      </a:r>
                      <a:endParaRPr lang="en-US" sz="1200" dirty="0">
                        <a:latin typeface="Calibri" charset="0"/>
                        <a:ea typeface="Calibri" charset="0"/>
                        <a:cs typeface="Calibri" charset="0"/>
                      </a:endParaRPr>
                    </a:p>
                  </a:txBody>
                  <a:tcPr marT="36576" marB="36576"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200" dirty="0">
                          <a:solidFill>
                            <a:srgbClr val="1E293B"/>
                          </a:solidFill>
                          <a:latin typeface="Calibri" pitchFamily="34" charset="0"/>
                          <a:ea typeface="Calibri" pitchFamily="34" charset="-122"/>
                          <a:cs typeface="Calibri" pitchFamily="34" charset="-120"/>
                        </a:rPr>
                        <a:t>Open, documented schema and bid logic for study</a:t>
                      </a:r>
                      <a:endParaRPr lang="en-US" sz="1200" dirty="0">
                        <a:latin typeface="Calibri" charset="0"/>
                        <a:ea typeface="Calibri" charset="0"/>
                        <a:cs typeface="Calibri" charset="0"/>
                      </a:endParaRPr>
                    </a:p>
                  </a:txBody>
                  <a:tcPr marT="36576" marB="36576"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extLst>
                  <a:ext uri="{0D108BD9-81ED-4DB2-BD59-A6C34878D82A}">
                    <a16:rowId xmlns:a16="http://schemas.microsoft.com/office/drawing/2014/main" val="10004"/>
                  </a:ext>
                </a:extLst>
              </a:tr>
              <a:tr h="566928">
                <a:tc>
                  <a:txBody>
                    <a:bodyPr/>
                    <a:lstStyle/>
                    <a:p>
                      <a:pPr marL="0" indent="0">
                        <a:buNone/>
                      </a:pPr>
                      <a:r>
                        <a:rPr lang="en-US" sz="1200" b="1" dirty="0">
                          <a:solidFill>
                            <a:srgbClr val="0F2A4A"/>
                          </a:solidFill>
                          <a:latin typeface="Calibri" pitchFamily="34" charset="0"/>
                          <a:ea typeface="Calibri" pitchFamily="34" charset="-122"/>
                          <a:cs typeface="Calibri" pitchFamily="34" charset="-120"/>
                        </a:rPr>
                        <a:t>Limitation / gap</a:t>
                      </a:r>
                      <a:endParaRPr lang="en-US" sz="1200" dirty="0">
                        <a:latin typeface="Calibri" charset="0"/>
                        <a:ea typeface="Calibri" charset="0"/>
                        <a:cs typeface="Calibri" charset="0"/>
                      </a:endParaRPr>
                    </a:p>
                  </a:txBody>
                  <a:tcPr marT="36576" marB="36576"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200" dirty="0">
                          <a:solidFill>
                            <a:srgbClr val="1E293B"/>
                          </a:solidFill>
                          <a:latin typeface="Calibri" pitchFamily="34" charset="0"/>
                          <a:ea typeface="Calibri" pitchFamily="34" charset="-122"/>
                          <a:cs typeface="Calibri" pitchFamily="34" charset="-120"/>
                        </a:rPr>
                        <a:t>Mini-projects skip transaction handling and rarely test it</a:t>
                      </a:r>
                      <a:endParaRPr lang="en-US" sz="1200" dirty="0">
                        <a:latin typeface="Calibri" charset="0"/>
                        <a:ea typeface="Calibri" charset="0"/>
                        <a:cs typeface="Calibri" charset="0"/>
                      </a:endParaRPr>
                    </a:p>
                  </a:txBody>
                  <a:tcPr marT="36576" marB="36576"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marL="0" indent="0">
                        <a:buNone/>
                      </a:pPr>
                      <a:r>
                        <a:rPr lang="en-US" sz="1200" dirty="0">
                          <a:solidFill>
                            <a:srgbClr val="1E293B"/>
                          </a:solidFill>
                          <a:latin typeface="Calibri" pitchFamily="34" charset="0"/>
                          <a:ea typeface="Calibri" pitchFamily="34" charset="-122"/>
                          <a:cs typeface="Calibri" pitchFamily="34" charset="-120"/>
                        </a:rPr>
                        <a:t>Verified with simulated concurrent bids (10 / 10 rounds)</a:t>
                      </a:r>
                      <a:endParaRPr lang="en-US" sz="1200" dirty="0">
                        <a:latin typeface="Calibri" charset="0"/>
                        <a:ea typeface="Calibri" charset="0"/>
                        <a:cs typeface="Calibri" charset="0"/>
                      </a:endParaRPr>
                    </a:p>
                  </a:txBody>
                  <a:tcPr marT="36576" marB="36576" anchor="ctr">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7406640" cy="502920"/>
          </a:xfrm>
          <a:prstGeom prst="rect">
            <a:avLst/>
          </a:prstGeom>
          <a:noFill/>
          <a:ln/>
        </p:spPr>
        <p:txBody>
          <a:bodyPr wrap="square" lIns="0" tIns="0" rIns="0" bIns="0" rtlCol="0" anchor="ctr"/>
          <a:lstStyle/>
          <a:p>
            <a:pPr marL="0" indent="0">
              <a:buNone/>
            </a:pPr>
            <a:r>
              <a:rPr lang="en-US" sz="2600" b="1" dirty="0">
                <a:solidFill>
                  <a:srgbClr val="0F2A4A"/>
                </a:solidFill>
                <a:latin typeface="Cambria" pitchFamily="34" charset="0"/>
                <a:ea typeface="Cambria" pitchFamily="34" charset="-122"/>
                <a:cs typeface="Cambria" pitchFamily="34" charset="-120"/>
              </a:rPr>
              <a:t>Technology Stack</a:t>
            </a:r>
            <a:endParaRPr lang="en-US" sz="2600" dirty="0"/>
          </a:p>
        </p:txBody>
      </p:sp>
      <p:sp>
        <p:nvSpPr>
          <p:cNvPr id="3" name="Text 1"/>
          <p:cNvSpPr/>
          <p:nvPr/>
        </p:nvSpPr>
        <p:spPr>
          <a:xfrm>
            <a:off x="457200" y="777240"/>
            <a:ext cx="7406640" cy="274320"/>
          </a:xfrm>
          <a:prstGeom prst="rect">
            <a:avLst/>
          </a:prstGeom>
          <a:noFill/>
          <a:ln/>
        </p:spPr>
        <p:txBody>
          <a:bodyPr wrap="square" lIns="0" tIns="0" rIns="0" bIns="0" rtlCol="0" anchor="ctr"/>
          <a:lstStyle/>
          <a:p>
            <a:pPr marL="0" indent="0">
              <a:buNone/>
            </a:pPr>
            <a:r>
              <a:rPr lang="en-US" sz="1250" dirty="0">
                <a:solidFill>
                  <a:srgbClr val="64748B"/>
                </a:solidFill>
                <a:latin typeface="Calibri" pitchFamily="34" charset="0"/>
                <a:ea typeface="Calibri" pitchFamily="34" charset="-122"/>
                <a:cs typeface="Calibri" pitchFamily="34" charset="-120"/>
              </a:rPr>
              <a:t>Open-source tools, no licence cost</a:t>
            </a:r>
            <a:endParaRPr lang="en-US" sz="1250" dirty="0"/>
          </a:p>
        </p:txBody>
      </p:sp>
      <p:pic>
        <p:nvPicPr>
          <p:cNvPr id="4" name="Image 0" descr="/home/claude/deck/logo.png"/>
          <p:cNvPicPr>
            <a:picLocks noChangeAspect="1"/>
          </p:cNvPicPr>
          <p:nvPr/>
        </p:nvPicPr>
        <p:blipFill>
          <a:blip r:embed="rId3"/>
          <a:stretch>
            <a:fillRect/>
          </a:stretch>
        </p:blipFill>
        <p:spPr>
          <a:xfrm>
            <a:off x="7955280" y="201168"/>
            <a:ext cx="822960" cy="390599"/>
          </a:xfrm>
          <a:prstGeom prst="rect">
            <a:avLst/>
          </a:prstGeom>
        </p:spPr>
      </p:pic>
      <p:sp>
        <p:nvSpPr>
          <p:cNvPr id="5" name="Text 2"/>
          <p:cNvSpPr/>
          <p:nvPr/>
        </p:nvSpPr>
        <p:spPr>
          <a:xfrm>
            <a:off x="457200" y="4828032"/>
            <a:ext cx="54864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Team 22  |  Final Review  |  DBDSE (25CS1302E)</a:t>
            </a:r>
            <a:endParaRPr lang="en-US" sz="900" dirty="0"/>
          </a:p>
        </p:txBody>
      </p:sp>
      <p:sp>
        <p:nvSpPr>
          <p:cNvPr id="6" name="Text 3"/>
          <p:cNvSpPr/>
          <p:nvPr/>
        </p:nvSpPr>
        <p:spPr>
          <a:xfrm>
            <a:off x="8229600" y="4828032"/>
            <a:ext cx="45720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12</a:t>
            </a:r>
            <a:endParaRPr lang="en-US" sz="900" dirty="0"/>
          </a:p>
        </p:txBody>
      </p:sp>
      <p:sp>
        <p:nvSpPr>
          <p:cNvPr id="8" name="Shape 4"/>
          <p:cNvSpPr/>
          <p:nvPr/>
        </p:nvSpPr>
        <p:spPr>
          <a:xfrm>
            <a:off x="457200" y="1280160"/>
            <a:ext cx="2651760" cy="1600200"/>
          </a:xfrm>
          <a:prstGeom prst="roundRect">
            <a:avLst>
              <a:gd name="adj" fmla="val 4571"/>
            </a:avLst>
          </a:prstGeom>
          <a:solidFill>
            <a:srgbClr val="F1F5F9"/>
          </a:solidFill>
          <a:ln w="12700">
            <a:solidFill>
              <a:srgbClr val="F1F5F9"/>
            </a:solidFill>
            <a:prstDash val="solid"/>
          </a:ln>
        </p:spPr>
      </p:sp>
      <p:sp>
        <p:nvSpPr>
          <p:cNvPr id="9" name="Shape 5"/>
          <p:cNvSpPr/>
          <p:nvPr/>
        </p:nvSpPr>
        <p:spPr>
          <a:xfrm>
            <a:off x="621792" y="1444752"/>
            <a:ext cx="502920" cy="502920"/>
          </a:xfrm>
          <a:prstGeom prst="ellipse">
            <a:avLst/>
          </a:prstGeom>
          <a:solidFill>
            <a:srgbClr val="0B6FB8"/>
          </a:solidFill>
          <a:ln w="12700">
            <a:solidFill>
              <a:srgbClr val="0B6FB8"/>
            </a:solidFill>
            <a:prstDash val="solid"/>
          </a:ln>
        </p:spPr>
      </p:sp>
      <p:pic>
        <p:nvPicPr>
          <p:cNvPr id="10" name="Image 1" descr="preencoded.png"/>
          <p:cNvPicPr>
            <a:picLocks noChangeAspect="1"/>
          </p:cNvPicPr>
          <p:nvPr/>
        </p:nvPicPr>
        <p:blipFill>
          <a:blip r:embed="rId4"/>
          <a:stretch>
            <a:fillRect/>
          </a:stretch>
        </p:blipFill>
        <p:spPr>
          <a:xfrm>
            <a:off x="731520" y="1554480"/>
            <a:ext cx="283464" cy="283464"/>
          </a:xfrm>
          <a:prstGeom prst="rect">
            <a:avLst/>
          </a:prstGeom>
        </p:spPr>
      </p:pic>
      <p:sp>
        <p:nvSpPr>
          <p:cNvPr id="11" name="Text 6"/>
          <p:cNvSpPr/>
          <p:nvPr/>
        </p:nvSpPr>
        <p:spPr>
          <a:xfrm>
            <a:off x="1261872" y="1444752"/>
            <a:ext cx="1737360" cy="502920"/>
          </a:xfrm>
          <a:prstGeom prst="rect">
            <a:avLst/>
          </a:prstGeom>
          <a:noFill/>
          <a:ln/>
        </p:spPr>
        <p:txBody>
          <a:bodyPr wrap="square" lIns="0" tIns="0" rIns="0" bIns="0" rtlCol="0" anchor="ctr"/>
          <a:lstStyle/>
          <a:p>
            <a:pPr marL="0" indent="0">
              <a:buNone/>
            </a:pPr>
            <a:r>
              <a:rPr lang="en-US" sz="1400" b="1" dirty="0">
                <a:solidFill>
                  <a:srgbClr val="0F2A4A"/>
                </a:solidFill>
                <a:latin typeface="Calibri" pitchFamily="34" charset="0"/>
                <a:ea typeface="Calibri" pitchFamily="34" charset="-122"/>
                <a:cs typeface="Calibri" pitchFamily="34" charset="-120"/>
              </a:rPr>
              <a:t>Front-End</a:t>
            </a:r>
            <a:endParaRPr lang="en-US" sz="1400" dirty="0"/>
          </a:p>
        </p:txBody>
      </p:sp>
      <p:sp>
        <p:nvSpPr>
          <p:cNvPr id="12" name="Text 7"/>
          <p:cNvSpPr/>
          <p:nvPr/>
        </p:nvSpPr>
        <p:spPr>
          <a:xfrm>
            <a:off x="640080" y="2084832"/>
            <a:ext cx="2331720" cy="731520"/>
          </a:xfrm>
          <a:prstGeom prst="rect">
            <a:avLst/>
          </a:prstGeom>
          <a:noFill/>
          <a:ln/>
        </p:spPr>
        <p:txBody>
          <a:bodyPr wrap="square" lIns="0" tIns="0" rIns="0" bIns="0" rtlCol="0" anchor="t"/>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React.js (Vite)</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HTML, CSS, JavaScript</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Axios · React Router</a:t>
            </a:r>
            <a:endParaRPr lang="en-US" sz="1100" dirty="0"/>
          </a:p>
        </p:txBody>
      </p:sp>
      <p:sp>
        <p:nvSpPr>
          <p:cNvPr id="13" name="Shape 8"/>
          <p:cNvSpPr/>
          <p:nvPr/>
        </p:nvSpPr>
        <p:spPr>
          <a:xfrm>
            <a:off x="3246120" y="1280160"/>
            <a:ext cx="2651760" cy="1600200"/>
          </a:xfrm>
          <a:prstGeom prst="roundRect">
            <a:avLst>
              <a:gd name="adj" fmla="val 4571"/>
            </a:avLst>
          </a:prstGeom>
          <a:solidFill>
            <a:srgbClr val="F1F5F9"/>
          </a:solidFill>
          <a:ln w="12700">
            <a:solidFill>
              <a:srgbClr val="F1F5F9"/>
            </a:solidFill>
            <a:prstDash val="solid"/>
          </a:ln>
        </p:spPr>
      </p:sp>
      <p:sp>
        <p:nvSpPr>
          <p:cNvPr id="14" name="Shape 9"/>
          <p:cNvSpPr/>
          <p:nvPr/>
        </p:nvSpPr>
        <p:spPr>
          <a:xfrm>
            <a:off x="3410712" y="1444752"/>
            <a:ext cx="502920" cy="502920"/>
          </a:xfrm>
          <a:prstGeom prst="ellipse">
            <a:avLst/>
          </a:prstGeom>
          <a:solidFill>
            <a:srgbClr val="0B6FB8"/>
          </a:solidFill>
          <a:ln w="12700">
            <a:solidFill>
              <a:srgbClr val="0B6FB8"/>
            </a:solidFill>
            <a:prstDash val="solid"/>
          </a:ln>
        </p:spPr>
      </p:sp>
      <p:pic>
        <p:nvPicPr>
          <p:cNvPr id="15" name="Image 2" descr="preencoded.png"/>
          <p:cNvPicPr>
            <a:picLocks noChangeAspect="1"/>
          </p:cNvPicPr>
          <p:nvPr/>
        </p:nvPicPr>
        <p:blipFill>
          <a:blip r:embed="rId5"/>
          <a:stretch>
            <a:fillRect/>
          </a:stretch>
        </p:blipFill>
        <p:spPr>
          <a:xfrm>
            <a:off x="3520440" y="1554480"/>
            <a:ext cx="283464" cy="283464"/>
          </a:xfrm>
          <a:prstGeom prst="rect">
            <a:avLst/>
          </a:prstGeom>
        </p:spPr>
      </p:pic>
      <p:sp>
        <p:nvSpPr>
          <p:cNvPr id="16" name="Text 10"/>
          <p:cNvSpPr/>
          <p:nvPr/>
        </p:nvSpPr>
        <p:spPr>
          <a:xfrm>
            <a:off x="4050792" y="1444752"/>
            <a:ext cx="1737360" cy="502920"/>
          </a:xfrm>
          <a:prstGeom prst="rect">
            <a:avLst/>
          </a:prstGeom>
          <a:noFill/>
          <a:ln/>
        </p:spPr>
        <p:txBody>
          <a:bodyPr wrap="square" lIns="0" tIns="0" rIns="0" bIns="0" rtlCol="0" anchor="ctr"/>
          <a:lstStyle/>
          <a:p>
            <a:pPr marL="0" indent="0">
              <a:buNone/>
            </a:pPr>
            <a:r>
              <a:rPr lang="en-US" sz="1400" b="1" dirty="0">
                <a:solidFill>
                  <a:srgbClr val="0F2A4A"/>
                </a:solidFill>
                <a:latin typeface="Calibri" pitchFamily="34" charset="0"/>
                <a:ea typeface="Calibri" pitchFamily="34" charset="-122"/>
                <a:cs typeface="Calibri" pitchFamily="34" charset="-120"/>
              </a:rPr>
              <a:t>Back-End</a:t>
            </a:r>
            <a:endParaRPr lang="en-US" sz="1400" dirty="0"/>
          </a:p>
        </p:txBody>
      </p:sp>
      <p:sp>
        <p:nvSpPr>
          <p:cNvPr id="17" name="Text 11"/>
          <p:cNvSpPr/>
          <p:nvPr/>
        </p:nvSpPr>
        <p:spPr>
          <a:xfrm>
            <a:off x="3429000" y="2084832"/>
            <a:ext cx="2331720" cy="731520"/>
          </a:xfrm>
          <a:prstGeom prst="rect">
            <a:avLst/>
          </a:prstGeom>
          <a:noFill/>
          <a:ln/>
        </p:spPr>
        <p:txBody>
          <a:bodyPr wrap="square" lIns="0" tIns="0" rIns="0" bIns="0" rtlCol="0" anchor="t"/>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Node.js + Express.js</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JWT auth · bcrypt</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node-cron</a:t>
            </a:r>
            <a:endParaRPr lang="en-US" sz="1100" dirty="0"/>
          </a:p>
        </p:txBody>
      </p:sp>
      <p:sp>
        <p:nvSpPr>
          <p:cNvPr id="18" name="Shape 12"/>
          <p:cNvSpPr/>
          <p:nvPr/>
        </p:nvSpPr>
        <p:spPr>
          <a:xfrm>
            <a:off x="6035040" y="1280160"/>
            <a:ext cx="2651760" cy="1600200"/>
          </a:xfrm>
          <a:prstGeom prst="roundRect">
            <a:avLst>
              <a:gd name="adj" fmla="val 4571"/>
            </a:avLst>
          </a:prstGeom>
          <a:solidFill>
            <a:srgbClr val="F1F5F9"/>
          </a:solidFill>
          <a:ln w="12700">
            <a:solidFill>
              <a:srgbClr val="F1F5F9"/>
            </a:solidFill>
            <a:prstDash val="solid"/>
          </a:ln>
        </p:spPr>
      </p:sp>
      <p:sp>
        <p:nvSpPr>
          <p:cNvPr id="19" name="Shape 13"/>
          <p:cNvSpPr/>
          <p:nvPr/>
        </p:nvSpPr>
        <p:spPr>
          <a:xfrm>
            <a:off x="6199632" y="1444752"/>
            <a:ext cx="502920" cy="502920"/>
          </a:xfrm>
          <a:prstGeom prst="ellipse">
            <a:avLst/>
          </a:prstGeom>
          <a:solidFill>
            <a:srgbClr val="0B6FB8"/>
          </a:solidFill>
          <a:ln w="12700">
            <a:solidFill>
              <a:srgbClr val="0B6FB8"/>
            </a:solidFill>
            <a:prstDash val="solid"/>
          </a:ln>
        </p:spPr>
      </p:sp>
      <p:pic>
        <p:nvPicPr>
          <p:cNvPr id="20" name="Image 3" descr="preencoded.png"/>
          <p:cNvPicPr>
            <a:picLocks noChangeAspect="1"/>
          </p:cNvPicPr>
          <p:nvPr/>
        </p:nvPicPr>
        <p:blipFill>
          <a:blip r:embed="rId6"/>
          <a:stretch>
            <a:fillRect/>
          </a:stretch>
        </p:blipFill>
        <p:spPr>
          <a:xfrm>
            <a:off x="6309360" y="1554480"/>
            <a:ext cx="283464" cy="283464"/>
          </a:xfrm>
          <a:prstGeom prst="rect">
            <a:avLst/>
          </a:prstGeom>
        </p:spPr>
      </p:pic>
      <p:sp>
        <p:nvSpPr>
          <p:cNvPr id="21" name="Text 14"/>
          <p:cNvSpPr/>
          <p:nvPr/>
        </p:nvSpPr>
        <p:spPr>
          <a:xfrm>
            <a:off x="6839712" y="1444752"/>
            <a:ext cx="1737360" cy="502920"/>
          </a:xfrm>
          <a:prstGeom prst="rect">
            <a:avLst/>
          </a:prstGeom>
          <a:noFill/>
          <a:ln/>
        </p:spPr>
        <p:txBody>
          <a:bodyPr wrap="square" lIns="0" tIns="0" rIns="0" bIns="0" rtlCol="0" anchor="ctr"/>
          <a:lstStyle/>
          <a:p>
            <a:pPr marL="0" indent="0">
              <a:buNone/>
            </a:pPr>
            <a:r>
              <a:rPr lang="en-US" sz="1400" b="1" dirty="0">
                <a:solidFill>
                  <a:srgbClr val="0F2A4A"/>
                </a:solidFill>
                <a:latin typeface="Calibri" pitchFamily="34" charset="0"/>
                <a:ea typeface="Calibri" pitchFamily="34" charset="-122"/>
                <a:cs typeface="Calibri" pitchFamily="34" charset="-120"/>
              </a:rPr>
              <a:t>Database</a:t>
            </a:r>
            <a:endParaRPr lang="en-US" sz="1400" dirty="0"/>
          </a:p>
        </p:txBody>
      </p:sp>
      <p:sp>
        <p:nvSpPr>
          <p:cNvPr id="22" name="Text 15"/>
          <p:cNvSpPr/>
          <p:nvPr/>
        </p:nvSpPr>
        <p:spPr>
          <a:xfrm>
            <a:off x="6217920" y="2084832"/>
            <a:ext cx="2331720" cy="731520"/>
          </a:xfrm>
          <a:prstGeom prst="rect">
            <a:avLst/>
          </a:prstGeom>
          <a:noFill/>
          <a:ln/>
        </p:spPr>
        <p:txBody>
          <a:bodyPr wrap="square" lIns="0" tIns="0" rIns="0" bIns="0" rtlCol="0" anchor="t"/>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MySQL 8.0 (InnoDB)</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Transactions, row locks</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MySQL Workbench</a:t>
            </a:r>
            <a:endParaRPr lang="en-US" sz="1100" dirty="0"/>
          </a:p>
        </p:txBody>
      </p:sp>
      <p:sp>
        <p:nvSpPr>
          <p:cNvPr id="23" name="Shape 16"/>
          <p:cNvSpPr/>
          <p:nvPr/>
        </p:nvSpPr>
        <p:spPr>
          <a:xfrm>
            <a:off x="457200" y="3017520"/>
            <a:ext cx="2651760" cy="1600200"/>
          </a:xfrm>
          <a:prstGeom prst="roundRect">
            <a:avLst>
              <a:gd name="adj" fmla="val 4571"/>
            </a:avLst>
          </a:prstGeom>
          <a:solidFill>
            <a:srgbClr val="F1F5F9"/>
          </a:solidFill>
          <a:ln w="12700">
            <a:solidFill>
              <a:srgbClr val="F1F5F9"/>
            </a:solidFill>
            <a:prstDash val="solid"/>
          </a:ln>
        </p:spPr>
      </p:sp>
      <p:sp>
        <p:nvSpPr>
          <p:cNvPr id="24" name="Shape 17"/>
          <p:cNvSpPr/>
          <p:nvPr/>
        </p:nvSpPr>
        <p:spPr>
          <a:xfrm>
            <a:off x="621792" y="3182112"/>
            <a:ext cx="502920" cy="502920"/>
          </a:xfrm>
          <a:prstGeom prst="ellipse">
            <a:avLst/>
          </a:prstGeom>
          <a:solidFill>
            <a:srgbClr val="0B6FB8"/>
          </a:solidFill>
          <a:ln w="12700">
            <a:solidFill>
              <a:srgbClr val="0B6FB8"/>
            </a:solidFill>
            <a:prstDash val="solid"/>
          </a:ln>
        </p:spPr>
      </p:sp>
      <p:pic>
        <p:nvPicPr>
          <p:cNvPr id="25" name="Image 4" descr="preencoded.png"/>
          <p:cNvPicPr>
            <a:picLocks noChangeAspect="1"/>
          </p:cNvPicPr>
          <p:nvPr/>
        </p:nvPicPr>
        <p:blipFill>
          <a:blip r:embed="rId7"/>
          <a:stretch>
            <a:fillRect/>
          </a:stretch>
        </p:blipFill>
        <p:spPr>
          <a:xfrm>
            <a:off x="731520" y="3291840"/>
            <a:ext cx="283464" cy="283464"/>
          </a:xfrm>
          <a:prstGeom prst="rect">
            <a:avLst/>
          </a:prstGeom>
        </p:spPr>
      </p:pic>
      <p:sp>
        <p:nvSpPr>
          <p:cNvPr id="26" name="Text 18"/>
          <p:cNvSpPr/>
          <p:nvPr/>
        </p:nvSpPr>
        <p:spPr>
          <a:xfrm>
            <a:off x="1261872" y="3182112"/>
            <a:ext cx="1737360" cy="502920"/>
          </a:xfrm>
          <a:prstGeom prst="rect">
            <a:avLst/>
          </a:prstGeom>
          <a:noFill/>
          <a:ln/>
        </p:spPr>
        <p:txBody>
          <a:bodyPr wrap="square" lIns="0" tIns="0" rIns="0" bIns="0" rtlCol="0" anchor="ctr"/>
          <a:lstStyle/>
          <a:p>
            <a:pPr marL="0" indent="0">
              <a:buNone/>
            </a:pPr>
            <a:r>
              <a:rPr lang="en-US" sz="1400" b="1" dirty="0">
                <a:solidFill>
                  <a:srgbClr val="0F2A4A"/>
                </a:solidFill>
                <a:latin typeface="Calibri" pitchFamily="34" charset="0"/>
                <a:ea typeface="Calibri" pitchFamily="34" charset="-122"/>
                <a:cs typeface="Calibri" pitchFamily="34" charset="-120"/>
              </a:rPr>
              <a:t>Real-Time</a:t>
            </a:r>
            <a:endParaRPr lang="en-US" sz="1400" dirty="0"/>
          </a:p>
        </p:txBody>
      </p:sp>
      <p:sp>
        <p:nvSpPr>
          <p:cNvPr id="27" name="Text 19"/>
          <p:cNvSpPr/>
          <p:nvPr/>
        </p:nvSpPr>
        <p:spPr>
          <a:xfrm>
            <a:off x="640080" y="3822192"/>
            <a:ext cx="2331720" cy="731520"/>
          </a:xfrm>
          <a:prstGeom prst="rect">
            <a:avLst/>
          </a:prstGeom>
          <a:noFill/>
          <a:ln/>
        </p:spPr>
        <p:txBody>
          <a:bodyPr wrap="square" lIns="0" tIns="0" rIns="0" bIns="0" rtlCol="0" anchor="t"/>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Socket.IO server + client</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One room per auction</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bid_update, auction_closed</a:t>
            </a:r>
            <a:endParaRPr lang="en-US" sz="1100" dirty="0"/>
          </a:p>
        </p:txBody>
      </p:sp>
      <p:sp>
        <p:nvSpPr>
          <p:cNvPr id="28" name="Shape 20"/>
          <p:cNvSpPr/>
          <p:nvPr/>
        </p:nvSpPr>
        <p:spPr>
          <a:xfrm>
            <a:off x="3246120" y="3017520"/>
            <a:ext cx="2651760" cy="1600200"/>
          </a:xfrm>
          <a:prstGeom prst="roundRect">
            <a:avLst>
              <a:gd name="adj" fmla="val 4571"/>
            </a:avLst>
          </a:prstGeom>
          <a:solidFill>
            <a:srgbClr val="F1F5F9"/>
          </a:solidFill>
          <a:ln w="12700">
            <a:solidFill>
              <a:srgbClr val="F1F5F9"/>
            </a:solidFill>
            <a:prstDash val="solid"/>
          </a:ln>
        </p:spPr>
      </p:sp>
      <p:sp>
        <p:nvSpPr>
          <p:cNvPr id="29" name="Shape 21"/>
          <p:cNvSpPr/>
          <p:nvPr/>
        </p:nvSpPr>
        <p:spPr>
          <a:xfrm>
            <a:off x="3410712" y="3182112"/>
            <a:ext cx="502920" cy="502920"/>
          </a:xfrm>
          <a:prstGeom prst="ellipse">
            <a:avLst/>
          </a:prstGeom>
          <a:solidFill>
            <a:srgbClr val="0B6FB8"/>
          </a:solidFill>
          <a:ln w="12700">
            <a:solidFill>
              <a:srgbClr val="0B6FB8"/>
            </a:solidFill>
            <a:prstDash val="solid"/>
          </a:ln>
        </p:spPr>
      </p:sp>
      <p:pic>
        <p:nvPicPr>
          <p:cNvPr id="30" name="Image 5" descr="preencoded.png"/>
          <p:cNvPicPr>
            <a:picLocks noChangeAspect="1"/>
          </p:cNvPicPr>
          <p:nvPr/>
        </p:nvPicPr>
        <p:blipFill>
          <a:blip r:embed="rId8"/>
          <a:stretch>
            <a:fillRect/>
          </a:stretch>
        </p:blipFill>
        <p:spPr>
          <a:xfrm>
            <a:off x="3520440" y="3291840"/>
            <a:ext cx="283464" cy="283464"/>
          </a:xfrm>
          <a:prstGeom prst="rect">
            <a:avLst/>
          </a:prstGeom>
        </p:spPr>
      </p:pic>
      <p:sp>
        <p:nvSpPr>
          <p:cNvPr id="31" name="Text 22"/>
          <p:cNvSpPr/>
          <p:nvPr/>
        </p:nvSpPr>
        <p:spPr>
          <a:xfrm>
            <a:off x="4050792" y="3182112"/>
            <a:ext cx="1737360" cy="502920"/>
          </a:xfrm>
          <a:prstGeom prst="rect">
            <a:avLst/>
          </a:prstGeom>
          <a:noFill/>
          <a:ln/>
        </p:spPr>
        <p:txBody>
          <a:bodyPr wrap="square" lIns="0" tIns="0" rIns="0" bIns="0" rtlCol="0" anchor="ctr"/>
          <a:lstStyle/>
          <a:p>
            <a:pPr marL="0" indent="0">
              <a:buNone/>
            </a:pPr>
            <a:r>
              <a:rPr lang="en-US" sz="1400" b="1" dirty="0">
                <a:solidFill>
                  <a:srgbClr val="0F2A4A"/>
                </a:solidFill>
                <a:latin typeface="Calibri" pitchFamily="34" charset="0"/>
                <a:ea typeface="Calibri" pitchFamily="34" charset="-122"/>
                <a:cs typeface="Calibri" pitchFamily="34" charset="-120"/>
              </a:rPr>
              <a:t>Tools</a:t>
            </a:r>
            <a:endParaRPr lang="en-US" sz="1400" dirty="0"/>
          </a:p>
        </p:txBody>
      </p:sp>
      <p:sp>
        <p:nvSpPr>
          <p:cNvPr id="32" name="Text 23"/>
          <p:cNvSpPr/>
          <p:nvPr/>
        </p:nvSpPr>
        <p:spPr>
          <a:xfrm>
            <a:off x="3429000" y="3822192"/>
            <a:ext cx="2331720" cy="731520"/>
          </a:xfrm>
          <a:prstGeom prst="rect">
            <a:avLst/>
          </a:prstGeom>
          <a:noFill/>
          <a:ln/>
        </p:spPr>
        <p:txBody>
          <a:bodyPr wrap="square" lIns="0" tIns="0" rIns="0" bIns="0" rtlCol="0" anchor="t"/>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Visual Studio Code</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Git and GitHub</a:t>
            </a:r>
            <a:endParaRPr lang="en-US" sz="1100" dirty="0"/>
          </a:p>
        </p:txBody>
      </p:sp>
      <p:sp>
        <p:nvSpPr>
          <p:cNvPr id="33" name="Shape 24"/>
          <p:cNvSpPr/>
          <p:nvPr/>
        </p:nvSpPr>
        <p:spPr>
          <a:xfrm>
            <a:off x="6035040" y="3017520"/>
            <a:ext cx="2651760" cy="1600200"/>
          </a:xfrm>
          <a:prstGeom prst="roundRect">
            <a:avLst>
              <a:gd name="adj" fmla="val 4571"/>
            </a:avLst>
          </a:prstGeom>
          <a:solidFill>
            <a:srgbClr val="F1F5F9"/>
          </a:solidFill>
          <a:ln w="12700">
            <a:solidFill>
              <a:srgbClr val="F1F5F9"/>
            </a:solidFill>
            <a:prstDash val="solid"/>
          </a:ln>
        </p:spPr>
      </p:sp>
      <p:sp>
        <p:nvSpPr>
          <p:cNvPr id="34" name="Shape 25"/>
          <p:cNvSpPr/>
          <p:nvPr/>
        </p:nvSpPr>
        <p:spPr>
          <a:xfrm>
            <a:off x="6199632" y="3182112"/>
            <a:ext cx="502920" cy="502920"/>
          </a:xfrm>
          <a:prstGeom prst="ellipse">
            <a:avLst/>
          </a:prstGeom>
          <a:solidFill>
            <a:srgbClr val="0B6FB8"/>
          </a:solidFill>
          <a:ln w="12700">
            <a:solidFill>
              <a:srgbClr val="0B6FB8"/>
            </a:solidFill>
            <a:prstDash val="solid"/>
          </a:ln>
        </p:spPr>
      </p:sp>
      <p:pic>
        <p:nvPicPr>
          <p:cNvPr id="35" name="Image 6" descr="preencoded.png"/>
          <p:cNvPicPr>
            <a:picLocks noChangeAspect="1"/>
          </p:cNvPicPr>
          <p:nvPr/>
        </p:nvPicPr>
        <p:blipFill>
          <a:blip r:embed="rId9"/>
          <a:stretch>
            <a:fillRect/>
          </a:stretch>
        </p:blipFill>
        <p:spPr>
          <a:xfrm>
            <a:off x="6309360" y="3291840"/>
            <a:ext cx="283464" cy="283464"/>
          </a:xfrm>
          <a:prstGeom prst="rect">
            <a:avLst/>
          </a:prstGeom>
        </p:spPr>
      </p:pic>
      <p:sp>
        <p:nvSpPr>
          <p:cNvPr id="36" name="Text 26"/>
          <p:cNvSpPr/>
          <p:nvPr/>
        </p:nvSpPr>
        <p:spPr>
          <a:xfrm>
            <a:off x="6839712" y="3182112"/>
            <a:ext cx="1737360" cy="502920"/>
          </a:xfrm>
          <a:prstGeom prst="rect">
            <a:avLst/>
          </a:prstGeom>
          <a:noFill/>
          <a:ln/>
        </p:spPr>
        <p:txBody>
          <a:bodyPr wrap="square" lIns="0" tIns="0" rIns="0" bIns="0" rtlCol="0" anchor="ctr"/>
          <a:lstStyle/>
          <a:p>
            <a:pPr marL="0" indent="0">
              <a:buNone/>
            </a:pPr>
            <a:r>
              <a:rPr lang="en-US" sz="1400" b="1" dirty="0">
                <a:solidFill>
                  <a:srgbClr val="0F2A4A"/>
                </a:solidFill>
                <a:latin typeface="Calibri" pitchFamily="34" charset="0"/>
                <a:ea typeface="Calibri" pitchFamily="34" charset="-122"/>
                <a:cs typeface="Calibri" pitchFamily="34" charset="-120"/>
              </a:rPr>
              <a:t>Environment</a:t>
            </a:r>
            <a:endParaRPr lang="en-US" sz="1400" dirty="0"/>
          </a:p>
        </p:txBody>
      </p:sp>
      <p:sp>
        <p:nvSpPr>
          <p:cNvPr id="37" name="Text 27"/>
          <p:cNvSpPr/>
          <p:nvPr/>
        </p:nvSpPr>
        <p:spPr>
          <a:xfrm>
            <a:off x="6217920" y="3822192"/>
            <a:ext cx="2331720" cy="731520"/>
          </a:xfrm>
          <a:prstGeom prst="rect">
            <a:avLst/>
          </a:prstGeom>
          <a:noFill/>
          <a:ln/>
        </p:spPr>
        <p:txBody>
          <a:bodyPr wrap="square" lIns="0" tIns="0" rIns="0" bIns="0" rtlCol="0" anchor="t"/>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Windows 10/11 or Linux</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Chrome / Edge</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7406640" cy="502920"/>
          </a:xfrm>
          <a:prstGeom prst="rect">
            <a:avLst/>
          </a:prstGeom>
          <a:noFill/>
          <a:ln/>
        </p:spPr>
        <p:txBody>
          <a:bodyPr wrap="square" lIns="0" tIns="0" rIns="0" bIns="0" rtlCol="0" anchor="ctr"/>
          <a:lstStyle/>
          <a:p>
            <a:pPr marL="0" indent="0">
              <a:buNone/>
            </a:pPr>
            <a:r>
              <a:rPr lang="en-US" sz="2600" b="1" dirty="0">
                <a:solidFill>
                  <a:srgbClr val="0F2A4A"/>
                </a:solidFill>
                <a:latin typeface="Cambria" pitchFamily="34" charset="0"/>
                <a:ea typeface="Cambria" pitchFamily="34" charset="-122"/>
                <a:cs typeface="Cambria" pitchFamily="34" charset="-120"/>
              </a:rPr>
              <a:t>Conclusion and Future Scope</a:t>
            </a:r>
            <a:endParaRPr lang="en-US" sz="2600" dirty="0"/>
          </a:p>
        </p:txBody>
      </p:sp>
      <p:pic>
        <p:nvPicPr>
          <p:cNvPr id="3" name="Image 0" descr="/home/claude/deck/logo.png"/>
          <p:cNvPicPr>
            <a:picLocks noChangeAspect="1"/>
          </p:cNvPicPr>
          <p:nvPr/>
        </p:nvPicPr>
        <p:blipFill>
          <a:blip r:embed="rId3"/>
          <a:stretch>
            <a:fillRect/>
          </a:stretch>
        </p:blipFill>
        <p:spPr>
          <a:xfrm>
            <a:off x="7955280" y="201168"/>
            <a:ext cx="822960" cy="390599"/>
          </a:xfrm>
          <a:prstGeom prst="rect">
            <a:avLst/>
          </a:prstGeom>
        </p:spPr>
      </p:pic>
      <p:sp>
        <p:nvSpPr>
          <p:cNvPr id="4" name="Text 1"/>
          <p:cNvSpPr/>
          <p:nvPr/>
        </p:nvSpPr>
        <p:spPr>
          <a:xfrm>
            <a:off x="457200" y="4828032"/>
            <a:ext cx="54864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Team 22  |  Final Review  |  DBDSE (25CS1302E)</a:t>
            </a:r>
            <a:endParaRPr lang="en-US" sz="900" dirty="0"/>
          </a:p>
        </p:txBody>
      </p:sp>
      <p:sp>
        <p:nvSpPr>
          <p:cNvPr id="5" name="Text 2"/>
          <p:cNvSpPr/>
          <p:nvPr/>
        </p:nvSpPr>
        <p:spPr>
          <a:xfrm>
            <a:off x="8229600" y="4828032"/>
            <a:ext cx="45720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13</a:t>
            </a:r>
            <a:endParaRPr lang="en-US" sz="900" dirty="0"/>
          </a:p>
        </p:txBody>
      </p:sp>
      <p:sp>
        <p:nvSpPr>
          <p:cNvPr id="7" name="Shape 3"/>
          <p:cNvSpPr/>
          <p:nvPr/>
        </p:nvSpPr>
        <p:spPr>
          <a:xfrm>
            <a:off x="457200" y="1097280"/>
            <a:ext cx="4023360" cy="3611880"/>
          </a:xfrm>
          <a:prstGeom prst="roundRect">
            <a:avLst>
              <a:gd name="adj" fmla="val 2025"/>
            </a:avLst>
          </a:prstGeom>
          <a:solidFill>
            <a:srgbClr val="F1F5F9"/>
          </a:solidFill>
          <a:ln w="12700">
            <a:solidFill>
              <a:srgbClr val="F1F5F9"/>
            </a:solidFill>
            <a:prstDash val="solid"/>
          </a:ln>
        </p:spPr>
      </p:sp>
      <p:sp>
        <p:nvSpPr>
          <p:cNvPr id="8" name="Shape 4"/>
          <p:cNvSpPr/>
          <p:nvPr/>
        </p:nvSpPr>
        <p:spPr>
          <a:xfrm>
            <a:off x="4663440" y="1097280"/>
            <a:ext cx="4023360" cy="3611880"/>
          </a:xfrm>
          <a:prstGeom prst="roundRect">
            <a:avLst>
              <a:gd name="adj" fmla="val 2025"/>
            </a:avLst>
          </a:prstGeom>
          <a:solidFill>
            <a:srgbClr val="E0F2FE"/>
          </a:solidFill>
          <a:ln w="12700">
            <a:solidFill>
              <a:srgbClr val="E0F2FE"/>
            </a:solidFill>
            <a:prstDash val="solid"/>
          </a:ln>
        </p:spPr>
      </p:sp>
      <p:sp>
        <p:nvSpPr>
          <p:cNvPr id="9" name="Text 5"/>
          <p:cNvSpPr/>
          <p:nvPr/>
        </p:nvSpPr>
        <p:spPr>
          <a:xfrm>
            <a:off x="640080" y="1207008"/>
            <a:ext cx="3657600" cy="320040"/>
          </a:xfrm>
          <a:prstGeom prst="rect">
            <a:avLst/>
          </a:prstGeom>
          <a:noFill/>
          <a:ln/>
        </p:spPr>
        <p:txBody>
          <a:bodyPr wrap="square" lIns="0" tIns="0" rIns="0" bIns="0" rtlCol="0" anchor="ctr"/>
          <a:lstStyle/>
          <a:p>
            <a:pPr marL="0" indent="0">
              <a:buNone/>
            </a:pPr>
            <a:r>
              <a:rPr lang="en-US" sz="1700" b="1" dirty="0">
                <a:solidFill>
                  <a:srgbClr val="0F2A4A"/>
                </a:solidFill>
                <a:latin typeface="Cambria" pitchFamily="34" charset="0"/>
                <a:ea typeface="Cambria" pitchFamily="34" charset="-122"/>
                <a:cs typeface="Cambria" pitchFamily="34" charset="-120"/>
              </a:rPr>
              <a:t>Conclusion</a:t>
            </a:r>
            <a:endParaRPr lang="en-US" sz="1700" dirty="0"/>
          </a:p>
        </p:txBody>
      </p:sp>
      <p:sp>
        <p:nvSpPr>
          <p:cNvPr id="10" name="Text 6"/>
          <p:cNvSpPr/>
          <p:nvPr/>
        </p:nvSpPr>
        <p:spPr>
          <a:xfrm>
            <a:off x="640080" y="1627632"/>
            <a:ext cx="3657600" cy="2971800"/>
          </a:xfrm>
          <a:prstGeom prst="rect">
            <a:avLst/>
          </a:prstGeom>
          <a:noFill/>
          <a:ln/>
        </p:spPr>
        <p:txBody>
          <a:bodyPr wrap="square" lIns="0" tIns="0" rIns="0" bIns="0" rtlCol="0" anchor="t"/>
          <a:lstStyle/>
          <a:p>
            <a:pPr marL="342900" indent="-342900">
              <a:spcAft>
                <a:spcPts val="1200"/>
              </a:spcAft>
              <a:buSzPct val="100000"/>
              <a:buChar char="•"/>
            </a:pPr>
            <a:r>
              <a:rPr lang="en-US" sz="1400" dirty="0">
                <a:solidFill>
                  <a:srgbClr val="1E293B"/>
                </a:solidFill>
                <a:latin typeface="Calibri" pitchFamily="34" charset="0"/>
                <a:ea typeface="Calibri" pitchFamily="34" charset="-122"/>
                <a:cs typeface="Calibri" pitchFamily="34" charset="-120"/>
              </a:rPr>
              <a:t>A working auction platform: register, browse, bid, and automatic winner selection.</a:t>
            </a:r>
            <a:endParaRPr lang="en-US" sz="1400" dirty="0"/>
          </a:p>
          <a:p>
            <a:pPr marL="342900" indent="-342900">
              <a:spcAft>
                <a:spcPts val="1200"/>
              </a:spcAft>
              <a:buSzPct val="100000"/>
              <a:buChar char="•"/>
            </a:pPr>
            <a:r>
              <a:rPr lang="en-US" sz="1400" dirty="0">
                <a:solidFill>
                  <a:srgbClr val="1E293B"/>
                </a:solidFill>
                <a:latin typeface="Calibri" pitchFamily="34" charset="0"/>
                <a:ea typeface="Calibri" pitchFamily="34" charset="-122"/>
                <a:cs typeface="Calibri" pitchFamily="34" charset="-120"/>
              </a:rPr>
              <a:t>Row-level locking in one transaction keeps simultaneous bids correct: 10 / 10 rounds, against 2 / 10 for plain SELECT then UPDATE.</a:t>
            </a:r>
            <a:endParaRPr lang="en-US" sz="1400" dirty="0"/>
          </a:p>
          <a:p>
            <a:pPr marL="342900" indent="-342900">
              <a:spcAft>
                <a:spcPts val="1200"/>
              </a:spcAft>
              <a:buSzPct val="100000"/>
              <a:buChar char="•"/>
            </a:pPr>
            <a:r>
              <a:rPr lang="en-US" sz="1400" dirty="0">
                <a:solidFill>
                  <a:srgbClr val="1E293B"/>
                </a:solidFill>
                <a:latin typeface="Calibri" pitchFamily="34" charset="0"/>
                <a:ea typeface="Calibri" pitchFamily="34" charset="-122"/>
                <a:cs typeface="Calibri" pitchFamily="34" charset="-120"/>
              </a:rPr>
              <a:t>Every open page sees new bids instantly through Socket.IO.</a:t>
            </a:r>
            <a:endParaRPr lang="en-US" sz="1400" dirty="0"/>
          </a:p>
          <a:p>
            <a:pPr marL="342900" indent="-342900">
              <a:spcAft>
                <a:spcPts val="1200"/>
              </a:spcAft>
              <a:buSzPct val="100000"/>
              <a:buChar char="•"/>
            </a:pPr>
            <a:r>
              <a:rPr lang="en-US" sz="1400" dirty="0">
                <a:solidFill>
                  <a:srgbClr val="1E293B"/>
                </a:solidFill>
                <a:latin typeface="Calibri" pitchFamily="34" charset="0"/>
                <a:ea typeface="Calibri" pitchFamily="34" charset="-122"/>
                <a:cs typeface="Calibri" pitchFamily="34" charset="-120"/>
              </a:rPr>
              <a:t>Demonstrates core DBMS concepts: schema design, integrity constraints, transactions, isolation and locking.</a:t>
            </a:r>
            <a:endParaRPr lang="en-US" sz="1400" dirty="0"/>
          </a:p>
        </p:txBody>
      </p:sp>
      <p:sp>
        <p:nvSpPr>
          <p:cNvPr id="11" name="Text 7"/>
          <p:cNvSpPr/>
          <p:nvPr/>
        </p:nvSpPr>
        <p:spPr>
          <a:xfrm>
            <a:off x="4846320" y="1207008"/>
            <a:ext cx="3657600" cy="320040"/>
          </a:xfrm>
          <a:prstGeom prst="rect">
            <a:avLst/>
          </a:prstGeom>
          <a:noFill/>
          <a:ln/>
        </p:spPr>
        <p:txBody>
          <a:bodyPr wrap="square" lIns="0" tIns="0" rIns="0" bIns="0" rtlCol="0" anchor="ctr"/>
          <a:lstStyle/>
          <a:p>
            <a:pPr marL="0" indent="0">
              <a:buNone/>
            </a:pPr>
            <a:r>
              <a:rPr lang="en-US" sz="1700" b="1" dirty="0">
                <a:solidFill>
                  <a:srgbClr val="0F2A4A"/>
                </a:solidFill>
                <a:latin typeface="Cambria" pitchFamily="34" charset="0"/>
                <a:ea typeface="Cambria" pitchFamily="34" charset="-122"/>
                <a:cs typeface="Cambria" pitchFamily="34" charset="-120"/>
              </a:rPr>
              <a:t>Future Scope</a:t>
            </a:r>
            <a:endParaRPr lang="en-US" sz="1700" dirty="0"/>
          </a:p>
        </p:txBody>
      </p:sp>
      <p:sp>
        <p:nvSpPr>
          <p:cNvPr id="12" name="Text 8"/>
          <p:cNvSpPr/>
          <p:nvPr/>
        </p:nvSpPr>
        <p:spPr>
          <a:xfrm>
            <a:off x="4846320" y="1627632"/>
            <a:ext cx="3657600" cy="2971800"/>
          </a:xfrm>
          <a:prstGeom prst="rect">
            <a:avLst/>
          </a:prstGeom>
          <a:noFill/>
          <a:ln/>
        </p:spPr>
        <p:txBody>
          <a:bodyPr wrap="square" lIns="0" tIns="0" rIns="0" bIns="0" rtlCol="0" anchor="t"/>
          <a:lstStyle/>
          <a:p>
            <a:pPr marL="342900" indent="-342900">
              <a:spcAft>
                <a:spcPts val="1200"/>
              </a:spcAft>
              <a:buSzPct val="100000"/>
              <a:buChar char="•"/>
            </a:pPr>
            <a:r>
              <a:rPr lang="en-US" sz="1400" dirty="0">
                <a:solidFill>
                  <a:srgbClr val="1E293B"/>
                </a:solidFill>
                <a:latin typeface="Calibri" pitchFamily="34" charset="0"/>
                <a:ea typeface="Calibri" pitchFamily="34" charset="-122"/>
                <a:cs typeface="Calibri" pitchFamily="34" charset="-120"/>
              </a:rPr>
              <a:t>Online payment gateway integration</a:t>
            </a:r>
            <a:endParaRPr lang="en-US" sz="1400" dirty="0"/>
          </a:p>
          <a:p>
            <a:pPr marL="342900" indent="-342900">
              <a:spcAft>
                <a:spcPts val="1200"/>
              </a:spcAft>
              <a:buSzPct val="100000"/>
              <a:buChar char="•"/>
            </a:pPr>
            <a:r>
              <a:rPr lang="en-US" sz="1400" dirty="0">
                <a:solidFill>
                  <a:srgbClr val="1E293B"/>
                </a:solidFill>
                <a:latin typeface="Calibri" pitchFamily="34" charset="0"/>
                <a:ea typeface="Calibri" pitchFamily="34" charset="-122"/>
                <a:cs typeface="Calibri" pitchFamily="34" charset="-120"/>
              </a:rPr>
              <a:t>Mobile application</a:t>
            </a:r>
            <a:endParaRPr lang="en-US" sz="1400" dirty="0"/>
          </a:p>
          <a:p>
            <a:pPr marL="342900" indent="-342900">
              <a:spcAft>
                <a:spcPts val="1200"/>
              </a:spcAft>
              <a:buSzPct val="100000"/>
              <a:buChar char="•"/>
            </a:pPr>
            <a:r>
              <a:rPr lang="en-US" sz="1400" dirty="0">
                <a:solidFill>
                  <a:srgbClr val="1E293B"/>
                </a:solidFill>
                <a:latin typeface="Calibri" pitchFamily="34" charset="0"/>
                <a:ea typeface="Calibri" pitchFamily="34" charset="-122"/>
                <a:cs typeface="Calibri" pitchFamily="34" charset="-120"/>
              </a:rPr>
              <a:t>AI price prediction and bid recommendations</a:t>
            </a:r>
            <a:endParaRPr lang="en-US" sz="1400" dirty="0"/>
          </a:p>
          <a:p>
            <a:pPr marL="342900" indent="-342900">
              <a:spcAft>
                <a:spcPts val="1200"/>
              </a:spcAft>
              <a:buSzPct val="100000"/>
              <a:buChar char="•"/>
            </a:pPr>
            <a:r>
              <a:rPr lang="en-US" sz="1400" dirty="0">
                <a:solidFill>
                  <a:srgbClr val="1E293B"/>
                </a:solidFill>
                <a:latin typeface="Calibri" pitchFamily="34" charset="0"/>
                <a:ea typeface="Calibri" pitchFamily="34" charset="-122"/>
                <a:cs typeface="Calibri" pitchFamily="34" charset="-120"/>
              </a:rPr>
              <a:t>Email / SMS / push notifications</a:t>
            </a:r>
            <a:endParaRPr lang="en-US" sz="1400" dirty="0"/>
          </a:p>
          <a:p>
            <a:pPr marL="342900" indent="-342900">
              <a:spcAft>
                <a:spcPts val="1200"/>
              </a:spcAft>
              <a:buSzPct val="100000"/>
              <a:buChar char="•"/>
            </a:pPr>
            <a:r>
              <a:rPr lang="en-US" sz="1400" dirty="0">
                <a:solidFill>
                  <a:srgbClr val="1E293B"/>
                </a:solidFill>
                <a:latin typeface="Calibri" pitchFamily="34" charset="0"/>
                <a:ea typeface="Calibri" pitchFamily="34" charset="-122"/>
                <a:cs typeface="Calibri" pitchFamily="34" charset="-120"/>
              </a:rPr>
              <a:t>Fraud detection and stronger security</a:t>
            </a:r>
            <a:endParaRPr lang="en-US" sz="1400" dirty="0"/>
          </a:p>
          <a:p>
            <a:pPr marL="342900" indent="-342900">
              <a:spcAft>
                <a:spcPts val="1200"/>
              </a:spcAft>
              <a:buSzPct val="100000"/>
              <a:buChar char="•"/>
            </a:pPr>
            <a:r>
              <a:rPr lang="en-US" sz="1400" dirty="0">
                <a:solidFill>
                  <a:srgbClr val="1E293B"/>
                </a:solidFill>
                <a:latin typeface="Calibri" pitchFamily="34" charset="0"/>
                <a:ea typeface="Calibri" pitchFamily="34" charset="-122"/>
                <a:cs typeface="Calibri" pitchFamily="34" charset="-120"/>
              </a:rPr>
              <a:t>Edit and delete screens for products and auctions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2A4A"/>
        </a:solidFill>
        <a:effectLst/>
      </p:bgPr>
    </p:bg>
    <p:spTree>
      <p:nvGrpSpPr>
        <p:cNvPr id="1" name=""/>
        <p:cNvGrpSpPr/>
        <p:nvPr/>
      </p:nvGrpSpPr>
      <p:grpSpPr>
        <a:xfrm>
          <a:off x="0" y="0"/>
          <a:ext cx="0" cy="0"/>
          <a:chOff x="0" y="0"/>
          <a:chExt cx="0" cy="0"/>
        </a:xfrm>
      </p:grpSpPr>
      <p:sp>
        <p:nvSpPr>
          <p:cNvPr id="2" name="Shape 0"/>
          <p:cNvSpPr/>
          <p:nvPr/>
        </p:nvSpPr>
        <p:spPr>
          <a:xfrm>
            <a:off x="548640" y="502920"/>
            <a:ext cx="2011680" cy="960120"/>
          </a:xfrm>
          <a:prstGeom prst="roundRect">
            <a:avLst>
              <a:gd name="adj" fmla="val 9524"/>
            </a:avLst>
          </a:prstGeom>
          <a:solidFill>
            <a:srgbClr val="FFFFFF"/>
          </a:solidFill>
          <a:ln w="12700">
            <a:solidFill>
              <a:srgbClr val="FFFFFF"/>
            </a:solidFill>
            <a:prstDash val="solid"/>
          </a:ln>
        </p:spPr>
      </p:sp>
      <p:pic>
        <p:nvPicPr>
          <p:cNvPr id="3" name="Image 0" descr="/home/claude/deck/logo.png"/>
          <p:cNvPicPr>
            <a:picLocks noChangeAspect="1"/>
          </p:cNvPicPr>
          <p:nvPr/>
        </p:nvPicPr>
        <p:blipFill>
          <a:blip r:embed="rId3"/>
          <a:stretch>
            <a:fillRect/>
          </a:stretch>
        </p:blipFill>
        <p:spPr>
          <a:xfrm>
            <a:off x="713232" y="594360"/>
            <a:ext cx="1682496" cy="798558"/>
          </a:xfrm>
          <a:prstGeom prst="rect">
            <a:avLst/>
          </a:prstGeom>
        </p:spPr>
      </p:pic>
      <p:sp>
        <p:nvSpPr>
          <p:cNvPr id="4" name="Text 1"/>
          <p:cNvSpPr/>
          <p:nvPr/>
        </p:nvSpPr>
        <p:spPr>
          <a:xfrm>
            <a:off x="548640" y="1828800"/>
            <a:ext cx="8046720" cy="91440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5" name="Text 2"/>
          <p:cNvSpPr/>
          <p:nvPr/>
        </p:nvSpPr>
        <p:spPr>
          <a:xfrm>
            <a:off x="548640" y="2743200"/>
            <a:ext cx="8046720" cy="457200"/>
          </a:xfrm>
          <a:prstGeom prst="rect">
            <a:avLst/>
          </a:prstGeom>
          <a:noFill/>
          <a:ln/>
        </p:spPr>
        <p:txBody>
          <a:bodyPr wrap="square" lIns="0" tIns="0" rIns="0" bIns="0" rtlCol="0" anchor="ctr"/>
          <a:lstStyle/>
          <a:p>
            <a:pPr marL="0" indent="0">
              <a:buNone/>
            </a:pPr>
            <a:r>
              <a:rPr lang="en-US" sz="2200" dirty="0">
                <a:solidFill>
                  <a:srgbClr val="7DD3FC"/>
                </a:solidFill>
                <a:latin typeface="Calibri" pitchFamily="34" charset="0"/>
                <a:ea typeface="Calibri" pitchFamily="34" charset="-122"/>
                <a:cs typeface="Calibri" pitchFamily="34" charset="-120"/>
              </a:rPr>
              <a:t>Questions?</a:t>
            </a:r>
            <a:endParaRPr lang="en-US" sz="2200" dirty="0"/>
          </a:p>
        </p:txBody>
      </p:sp>
      <p:sp>
        <p:nvSpPr>
          <p:cNvPr id="6" name="Text 3"/>
          <p:cNvSpPr/>
          <p:nvPr/>
        </p:nvSpPr>
        <p:spPr>
          <a:xfrm>
            <a:off x="548640" y="3931920"/>
            <a:ext cx="8046720" cy="320040"/>
          </a:xfrm>
          <a:prstGeom prst="rect">
            <a:avLst/>
          </a:prstGeom>
          <a:noFill/>
          <a:ln/>
        </p:spPr>
        <p:txBody>
          <a:bodyPr wrap="square" lIns="0" tIns="0" rIns="0" bIns="0" rtlCol="0" anchor="ctr"/>
          <a:lstStyle/>
          <a:p>
            <a:pPr marL="0" indent="0">
              <a:buNone/>
            </a:pPr>
            <a:r>
              <a:rPr lang="en-US" sz="1300" dirty="0">
                <a:solidFill>
                  <a:srgbClr val="CBD5E1"/>
                </a:solidFill>
                <a:latin typeface="Calibri" pitchFamily="34" charset="0"/>
                <a:ea typeface="Calibri" pitchFamily="34" charset="-122"/>
                <a:cs typeface="Calibri" pitchFamily="34" charset="-120"/>
              </a:rPr>
              <a:t>Team 22  ·  Param Manasvi (2520030072)  ·  Ch. Shravya Chowdary (2520030322)</a:t>
            </a:r>
            <a:endParaRPr lang="en-US" sz="1300" dirty="0"/>
          </a:p>
        </p:txBody>
      </p:sp>
      <p:sp>
        <p:nvSpPr>
          <p:cNvPr id="7" name="Text 4"/>
          <p:cNvSpPr/>
          <p:nvPr/>
        </p:nvSpPr>
        <p:spPr>
          <a:xfrm>
            <a:off x="548640" y="4297680"/>
            <a:ext cx="8046720" cy="32004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Guide: Dr. Y. Subbarayudu  ·  Dept. of Computer Science and Engineering  ·  KLH</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2606</Words>
  <Application>Microsoft Office PowerPoint</Application>
  <PresentationFormat>On-screen Show (16:9)</PresentationFormat>
  <Paragraphs>326</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Review – Online Auction and Bidding Platform</dc:title>
  <dc:subject>PptxGenJS Presentation</dc:subject>
  <dc:creator>Team 22 – Param Manasvi, Ch. Shravya Chowdary</dc:creator>
  <cp:lastModifiedBy>Manasvi P</cp:lastModifiedBy>
  <cp:revision>2</cp:revision>
  <dcterms:created xsi:type="dcterms:W3CDTF">2026-10-03T03:50:26Z</dcterms:created>
  <dcterms:modified xsi:type="dcterms:W3CDTF">2026-10-03T04:07:38Z</dcterms:modified>
</cp:coreProperties>
</file>
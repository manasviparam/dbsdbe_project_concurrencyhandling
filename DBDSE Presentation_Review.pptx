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EFFA73-5F86-4732-9C35-D57E1E4B5297}" v="18" dt="2026-08-18T03:52:06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6106" autoAdjust="0"/>
  </p:normalViewPr>
  <p:slideViewPr>
    <p:cSldViewPr snapToGrid="0" snapToObjects="1">
      <p:cViewPr varScale="1">
        <p:scale>
          <a:sx n="59" d="100"/>
          <a:sy n="59" d="100"/>
        </p:scale>
        <p:origin x="452" y="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vya chowdary Challagulla" userId="57cb85d01158d6be" providerId="LiveId" clId="{7F6DA6EC-BB0F-4501-8F20-EA1FC8B0DAF3}"/>
    <pc:docChg chg="undo custSel modSld">
      <pc:chgData name="Shravya chowdary Challagulla" userId="57cb85d01158d6be" providerId="LiveId" clId="{7F6DA6EC-BB0F-4501-8F20-EA1FC8B0DAF3}" dt="2026-08-18T03:52:18.927" v="470" actId="403"/>
      <pc:docMkLst>
        <pc:docMk/>
      </pc:docMkLst>
      <pc:sldChg chg="modSp mod">
        <pc:chgData name="Shravya chowdary Challagulla" userId="57cb85d01158d6be" providerId="LiveId" clId="{7F6DA6EC-BB0F-4501-8F20-EA1FC8B0DAF3}" dt="2026-08-17T05:17:49.011" v="283" actId="20577"/>
        <pc:sldMkLst>
          <pc:docMk/>
          <pc:sldMk cId="3362554174" sldId="258"/>
        </pc:sldMkLst>
        <pc:spChg chg="mod">
          <ac:chgData name="Shravya chowdary Challagulla" userId="57cb85d01158d6be" providerId="LiveId" clId="{7F6DA6EC-BB0F-4501-8F20-EA1FC8B0DAF3}" dt="2026-08-17T05:09:05.153" v="109" actId="113"/>
          <ac:spMkLst>
            <pc:docMk/>
            <pc:sldMk cId="3362554174" sldId="258"/>
            <ac:spMk id="2" creationId="{3C500A09-BF95-A121-71A4-33FFE91ACA86}"/>
          </ac:spMkLst>
        </pc:spChg>
        <pc:spChg chg="mod">
          <ac:chgData name="Shravya chowdary Challagulla" userId="57cb85d01158d6be" providerId="LiveId" clId="{7F6DA6EC-BB0F-4501-8F20-EA1FC8B0DAF3}" dt="2026-08-17T05:09:18.422" v="110" actId="313"/>
          <ac:spMkLst>
            <pc:docMk/>
            <pc:sldMk cId="3362554174" sldId="258"/>
            <ac:spMk id="10" creationId="{968465D1-CCC3-285A-3E29-8B23DC764FF6}"/>
          </ac:spMkLst>
        </pc:spChg>
        <pc:graphicFrameChg chg="modGraphic">
          <ac:chgData name="Shravya chowdary Challagulla" userId="57cb85d01158d6be" providerId="LiveId" clId="{7F6DA6EC-BB0F-4501-8F20-EA1FC8B0DAF3}" dt="2026-08-17T05:17:49.011" v="283" actId="20577"/>
          <ac:graphicFrameMkLst>
            <pc:docMk/>
            <pc:sldMk cId="3362554174" sldId="258"/>
            <ac:graphicFrameMk id="12" creationId="{F5C1A452-4633-BB68-A150-FAF552C36CB9}"/>
          </ac:graphicFrameMkLst>
        </pc:graphicFrameChg>
      </pc:sldChg>
      <pc:sldChg chg="addSp modSp mod">
        <pc:chgData name="Shravya chowdary Challagulla" userId="57cb85d01158d6be" providerId="LiveId" clId="{7F6DA6EC-BB0F-4501-8F20-EA1FC8B0DAF3}" dt="2026-08-18T03:52:18.927" v="470" actId="403"/>
        <pc:sldMkLst>
          <pc:docMk/>
          <pc:sldMk cId="1749009451" sldId="374"/>
        </pc:sldMkLst>
        <pc:spChg chg="add mod">
          <ac:chgData name="Shravya chowdary Challagulla" userId="57cb85d01158d6be" providerId="LiveId" clId="{7F6DA6EC-BB0F-4501-8F20-EA1FC8B0DAF3}" dt="2026-08-18T03:52:18.927" v="470" actId="403"/>
          <ac:spMkLst>
            <pc:docMk/>
            <pc:sldMk cId="1749009451" sldId="374"/>
            <ac:spMk id="3" creationId="{FE49CF0C-079F-62B1-EEFF-0951BEB7E998}"/>
          </ac:spMkLst>
        </pc:spChg>
      </pc:sldChg>
      <pc:sldChg chg="modSp mod">
        <pc:chgData name="Shravya chowdary Challagulla" userId="57cb85d01158d6be" providerId="LiveId" clId="{7F6DA6EC-BB0F-4501-8F20-EA1FC8B0DAF3}" dt="2026-08-17T05:18:16.212" v="296" actId="6549"/>
        <pc:sldMkLst>
          <pc:docMk/>
          <pc:sldMk cId="1183936719" sldId="377"/>
        </pc:sldMkLst>
        <pc:spChg chg="mod">
          <ac:chgData name="Shravya chowdary Challagulla" userId="57cb85d01158d6be" providerId="LiveId" clId="{7F6DA6EC-BB0F-4501-8F20-EA1FC8B0DAF3}" dt="2026-08-17T05:17:02.432" v="221" actId="20577"/>
          <ac:spMkLst>
            <pc:docMk/>
            <pc:sldMk cId="1183936719" sldId="377"/>
            <ac:spMk id="2" creationId="{BC0F0159-92E9-5749-2215-8FA86E40BAF0}"/>
          </ac:spMkLst>
        </pc:spChg>
        <pc:graphicFrameChg chg="modGraphic">
          <ac:chgData name="Shravya chowdary Challagulla" userId="57cb85d01158d6be" providerId="LiveId" clId="{7F6DA6EC-BB0F-4501-8F20-EA1FC8B0DAF3}" dt="2026-08-17T05:18:16.212" v="296" actId="6549"/>
          <ac:graphicFrameMkLst>
            <pc:docMk/>
            <pc:sldMk cId="1183936719" sldId="377"/>
            <ac:graphicFrameMk id="7" creationId="{BD94FEB8-52D1-2D12-5891-6583D8FD44BE}"/>
          </ac:graphicFrameMkLst>
        </pc:graphicFrameChg>
      </pc:sldChg>
      <pc:sldChg chg="modSp mod">
        <pc:chgData name="Shravya chowdary Challagulla" userId="57cb85d01158d6be" providerId="LiveId" clId="{7F6DA6EC-BB0F-4501-8F20-EA1FC8B0DAF3}" dt="2026-08-17T05:27:31.286" v="336" actId="255"/>
        <pc:sldMkLst>
          <pc:docMk/>
          <pc:sldMk cId="4206421878" sldId="391"/>
        </pc:sldMkLst>
        <pc:spChg chg="mod">
          <ac:chgData name="Shravya chowdary Challagulla" userId="57cb85d01158d6be" providerId="LiveId" clId="{7F6DA6EC-BB0F-4501-8F20-EA1FC8B0DAF3}" dt="2026-08-17T05:16:19.589" v="215" actId="1076"/>
          <ac:spMkLst>
            <pc:docMk/>
            <pc:sldMk cId="4206421878" sldId="391"/>
            <ac:spMk id="2" creationId="{E6C32EA0-1B53-65AA-CA98-61C6349CC410}"/>
          </ac:spMkLst>
        </pc:spChg>
        <pc:spChg chg="mod">
          <ac:chgData name="Shravya chowdary Challagulla" userId="57cb85d01158d6be" providerId="LiveId" clId="{7F6DA6EC-BB0F-4501-8F20-EA1FC8B0DAF3}" dt="2026-08-17T05:27:31.286" v="336" actId="255"/>
          <ac:spMkLst>
            <pc:docMk/>
            <pc:sldMk cId="4206421878" sldId="391"/>
            <ac:spMk id="4" creationId="{A4A63587-658B-D9DC-0DC8-293DA4D38FF8}"/>
          </ac:spMkLst>
        </pc:spChg>
      </pc:sldChg>
      <pc:sldChg chg="modSp mod">
        <pc:chgData name="Shravya chowdary Challagulla" userId="57cb85d01158d6be" providerId="LiveId" clId="{7F6DA6EC-BB0F-4501-8F20-EA1FC8B0DAF3}" dt="2026-08-17T05:27:13.242" v="334" actId="1076"/>
        <pc:sldMkLst>
          <pc:docMk/>
          <pc:sldMk cId="2105092368" sldId="392"/>
        </pc:sldMkLst>
        <pc:spChg chg="mod">
          <ac:chgData name="Shravya chowdary Challagulla" userId="57cb85d01158d6be" providerId="LiveId" clId="{7F6DA6EC-BB0F-4501-8F20-EA1FC8B0DAF3}" dt="2026-08-17T05:26:14.325" v="309" actId="1076"/>
          <ac:spMkLst>
            <pc:docMk/>
            <pc:sldMk cId="2105092368" sldId="392"/>
            <ac:spMk id="2" creationId="{90B67F0A-F575-131F-4FAD-BB774017A307}"/>
          </ac:spMkLst>
        </pc:spChg>
        <pc:spChg chg="mod">
          <ac:chgData name="Shravya chowdary Challagulla" userId="57cb85d01158d6be" providerId="LiveId" clId="{7F6DA6EC-BB0F-4501-8F20-EA1FC8B0DAF3}" dt="2026-08-17T05:27:13.242" v="334" actId="1076"/>
          <ac:spMkLst>
            <pc:docMk/>
            <pc:sldMk cId="2105092368" sldId="392"/>
            <ac:spMk id="4" creationId="{B50241EE-20FA-FE88-F0CE-F84CFE3ED762}"/>
          </ac:spMkLst>
        </pc:spChg>
      </pc:sldChg>
      <pc:sldChg chg="modSp mod">
        <pc:chgData name="Shravya chowdary Challagulla" userId="57cb85d01158d6be" providerId="LiveId" clId="{7F6DA6EC-BB0F-4501-8F20-EA1FC8B0DAF3}" dt="2026-08-17T05:46:05.425" v="339" actId="20577"/>
        <pc:sldMkLst>
          <pc:docMk/>
          <pc:sldMk cId="3485086799" sldId="393"/>
        </pc:sldMkLst>
        <pc:spChg chg="mod">
          <ac:chgData name="Shravya chowdary Challagulla" userId="57cb85d01158d6be" providerId="LiveId" clId="{7F6DA6EC-BB0F-4501-8F20-EA1FC8B0DAF3}" dt="2026-08-17T05:46:05.425" v="339" actId="20577"/>
          <ac:spMkLst>
            <pc:docMk/>
            <pc:sldMk cId="3485086799" sldId="393"/>
            <ac:spMk id="4" creationId="{056021FD-8573-454E-AAE6-0DB770428D43}"/>
          </ac:spMkLst>
        </pc:spChg>
      </pc:sldChg>
      <pc:sldChg chg="modSp mod">
        <pc:chgData name="Shravya chowdary Challagulla" userId="57cb85d01158d6be" providerId="LiveId" clId="{7F6DA6EC-BB0F-4501-8F20-EA1FC8B0DAF3}" dt="2026-08-18T03:49:52.359" v="455" actId="20577"/>
        <pc:sldMkLst>
          <pc:docMk/>
          <pc:sldMk cId="2029224968" sldId="394"/>
        </pc:sldMkLst>
        <pc:spChg chg="mod">
          <ac:chgData name="Shravya chowdary Challagulla" userId="57cb85d01158d6be" providerId="LiveId" clId="{7F6DA6EC-BB0F-4501-8F20-EA1FC8B0DAF3}" dt="2026-08-18T03:49:52.359" v="455" actId="20577"/>
          <ac:spMkLst>
            <pc:docMk/>
            <pc:sldMk cId="2029224968" sldId="394"/>
            <ac:spMk id="4" creationId="{1A1C0964-43C5-DE58-F74B-F0B3B1F5C984}"/>
          </ac:spMkLst>
        </pc:spChg>
      </pc:sldChg>
      <pc:sldChg chg="modSp mod">
        <pc:chgData name="Shravya chowdary Challagulla" userId="57cb85d01158d6be" providerId="LiveId" clId="{7F6DA6EC-BB0F-4501-8F20-EA1FC8B0DAF3}" dt="2026-08-17T05:46:53.093" v="346" actId="20577"/>
        <pc:sldMkLst>
          <pc:docMk/>
          <pc:sldMk cId="3949831833" sldId="395"/>
        </pc:sldMkLst>
        <pc:spChg chg="mod">
          <ac:chgData name="Shravya chowdary Challagulla" userId="57cb85d01158d6be" providerId="LiveId" clId="{7F6DA6EC-BB0F-4501-8F20-EA1FC8B0DAF3}" dt="2026-08-17T05:46:53.093" v="346" actId="20577"/>
          <ac:spMkLst>
            <pc:docMk/>
            <pc:sldMk cId="3949831833" sldId="395"/>
            <ac:spMk id="4" creationId="{A105A205-0B24-5585-AD3A-14F0657A956C}"/>
          </ac:spMkLst>
        </pc:spChg>
      </pc:sldChg>
      <pc:sldChg chg="modSp mod">
        <pc:chgData name="Shravya chowdary Challagulla" userId="57cb85d01158d6be" providerId="LiveId" clId="{7F6DA6EC-BB0F-4501-8F20-EA1FC8B0DAF3}" dt="2026-08-18T03:46:10.112" v="432" actId="404"/>
        <pc:sldMkLst>
          <pc:docMk/>
          <pc:sldMk cId="2402079705" sldId="396"/>
        </pc:sldMkLst>
        <pc:spChg chg="mod">
          <ac:chgData name="Shravya chowdary Challagulla" userId="57cb85d01158d6be" providerId="LiveId" clId="{7F6DA6EC-BB0F-4501-8F20-EA1FC8B0DAF3}" dt="2026-08-18T03:45:50.527" v="424" actId="1076"/>
          <ac:spMkLst>
            <pc:docMk/>
            <pc:sldMk cId="2402079705" sldId="396"/>
            <ac:spMk id="2" creationId="{845B2015-9851-BB00-C9BE-D0201418CFFF}"/>
          </ac:spMkLst>
        </pc:spChg>
        <pc:spChg chg="mod">
          <ac:chgData name="Shravya chowdary Challagulla" userId="57cb85d01158d6be" providerId="LiveId" clId="{7F6DA6EC-BB0F-4501-8F20-EA1FC8B0DAF3}" dt="2026-08-18T03:46:10.112" v="432" actId="404"/>
          <ac:spMkLst>
            <pc:docMk/>
            <pc:sldMk cId="2402079705" sldId="396"/>
            <ac:spMk id="4" creationId="{D440F2FD-B824-35C5-9EAA-5AF510938C36}"/>
          </ac:spMkLst>
        </pc:spChg>
      </pc:sldChg>
      <pc:sldChg chg="modSp mod">
        <pc:chgData name="Shravya chowdary Challagulla" userId="57cb85d01158d6be" providerId="LiveId" clId="{7F6DA6EC-BB0F-4501-8F20-EA1FC8B0DAF3}" dt="2026-08-18T03:50:49.653" v="457" actId="27636"/>
        <pc:sldMkLst>
          <pc:docMk/>
          <pc:sldMk cId="1098968653" sldId="397"/>
        </pc:sldMkLst>
        <pc:spChg chg="mod">
          <ac:chgData name="Shravya chowdary Challagulla" userId="57cb85d01158d6be" providerId="LiveId" clId="{7F6DA6EC-BB0F-4501-8F20-EA1FC8B0DAF3}" dt="2026-08-18T03:50:49.653" v="457" actId="27636"/>
          <ac:spMkLst>
            <pc:docMk/>
            <pc:sldMk cId="1098968653" sldId="397"/>
            <ac:spMk id="4" creationId="{68B3C331-E06F-D027-E4C0-6920D37072A9}"/>
          </ac:spMkLst>
        </pc:spChg>
      </pc:sldChg>
      <pc:sldChg chg="modSp mod">
        <pc:chgData name="Shravya chowdary Challagulla" userId="57cb85d01158d6be" providerId="LiveId" clId="{7F6DA6EC-BB0F-4501-8F20-EA1FC8B0DAF3}" dt="2026-08-18T03:47:38.456" v="452" actId="404"/>
        <pc:sldMkLst>
          <pc:docMk/>
          <pc:sldMk cId="1063077158" sldId="398"/>
        </pc:sldMkLst>
        <pc:spChg chg="mod">
          <ac:chgData name="Shravya chowdary Challagulla" userId="57cb85d01158d6be" providerId="LiveId" clId="{7F6DA6EC-BB0F-4501-8F20-EA1FC8B0DAF3}" dt="2026-08-18T03:47:29.088" v="448" actId="1076"/>
          <ac:spMkLst>
            <pc:docMk/>
            <pc:sldMk cId="1063077158" sldId="398"/>
            <ac:spMk id="2" creationId="{A1C0CE29-8CD2-1FFC-0567-2D18CBDB16C4}"/>
          </ac:spMkLst>
        </pc:spChg>
        <pc:spChg chg="mod">
          <ac:chgData name="Shravya chowdary Challagulla" userId="57cb85d01158d6be" providerId="LiveId" clId="{7F6DA6EC-BB0F-4501-8F20-EA1FC8B0DAF3}" dt="2026-08-18T03:47:38.456" v="452" actId="404"/>
          <ac:spMkLst>
            <pc:docMk/>
            <pc:sldMk cId="1063077158" sldId="398"/>
            <ac:spMk id="4" creationId="{D920CCCA-2419-39FC-4F64-F44FEFF2251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22-08-2026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22-08-2026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22-08-2026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22-08-2026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/>
              <a:t>Online Auction And Bidding Platform with Real time concurrency handling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 .Y </a:t>
            </a:r>
            <a:r>
              <a:rPr lang="en-US" sz="2400" dirty="0" err="1">
                <a:solidFill>
                  <a:srgbClr val="00B050"/>
                </a:solidFill>
              </a:rPr>
              <a:t>Subbarayudu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744903"/>
              </p:ext>
            </p:extLst>
          </p:nvPr>
        </p:nvGraphicFramePr>
        <p:xfrm>
          <a:off x="2032000" y="1680962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 Manasvi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Ch. Shravya Chowdary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2520030322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 22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0956569"/>
              </p:ext>
            </p:extLst>
          </p:nvPr>
        </p:nvGraphicFramePr>
        <p:xfrm>
          <a:off x="838199" y="1416193"/>
          <a:ext cx="10515600" cy="167812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Param  Manasvi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lead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Ch. Shravya Chowdary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member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36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043"/>
            <a:ext cx="10515600" cy="5286307"/>
          </a:xfrm>
        </p:spPr>
        <p:txBody>
          <a:bodyPr>
            <a:normAutofit/>
          </a:bodyPr>
          <a:lstStyle/>
          <a:p>
            <a:pPr lvl="0"/>
            <a:r>
              <a:rPr lang="en-IN" sz="2200" dirty="0"/>
              <a:t>The </a:t>
            </a:r>
            <a:r>
              <a:rPr lang="en-IN" sz="2200" b="1" dirty="0"/>
              <a:t>Online Auction and Bidding Platform</a:t>
            </a:r>
            <a:r>
              <a:rPr lang="en-IN" sz="2200" dirty="0"/>
              <a:t> is a web-based </a:t>
            </a:r>
            <a:r>
              <a:rPr lang="en-IN" sz="2200" b="1" dirty="0"/>
              <a:t>application</a:t>
            </a:r>
            <a:r>
              <a:rPr lang="en-IN" sz="2200" dirty="0"/>
              <a:t> developed to conduct auctions in a secure and efficient manner. </a:t>
            </a:r>
          </a:p>
          <a:p>
            <a:pPr lvl="0"/>
            <a:r>
              <a:rPr lang="en-IN" sz="2200" dirty="0"/>
              <a:t>Users can </a:t>
            </a:r>
            <a:r>
              <a:rPr lang="en-IN" sz="2200" b="1" dirty="0"/>
              <a:t>register, browse auction items, view auction details, and place bids</a:t>
            </a:r>
            <a:r>
              <a:rPr lang="en-IN" sz="2200" dirty="0"/>
              <a:t> through the platform. </a:t>
            </a:r>
          </a:p>
          <a:p>
            <a:pPr lvl="0"/>
            <a:r>
              <a:rPr lang="en-IN" sz="2200" dirty="0"/>
              <a:t>Administrators can </a:t>
            </a:r>
            <a:r>
              <a:rPr lang="en-IN" sz="2200" b="1" dirty="0"/>
              <a:t>manage users, products, auctions, and bidding activities</a:t>
            </a:r>
            <a:r>
              <a:rPr lang="en-IN" sz="2200" dirty="0"/>
              <a:t>. </a:t>
            </a:r>
          </a:p>
          <a:p>
            <a:pPr lvl="0"/>
            <a:r>
              <a:rPr lang="en-IN" sz="2200" b="1" dirty="0"/>
              <a:t>MySQL</a:t>
            </a:r>
            <a:r>
              <a:rPr lang="en-IN" sz="2200" dirty="0"/>
              <a:t> is used to store and manage user, product, auction, and bid-related data. </a:t>
            </a:r>
          </a:p>
          <a:p>
            <a:pPr lvl="0"/>
            <a:r>
              <a:rPr lang="en-IN" sz="2200" b="1" dirty="0"/>
              <a:t>Node.js and Express</a:t>
            </a:r>
            <a:r>
              <a:rPr lang="en-IN" sz="2200" dirty="0"/>
              <a:t> handle the application logic and server-side operations. </a:t>
            </a:r>
          </a:p>
          <a:p>
            <a:pPr lvl="0"/>
            <a:r>
              <a:rPr lang="en-IN" sz="2200" dirty="0"/>
              <a:t>The platform supports </a:t>
            </a:r>
            <a:r>
              <a:rPr lang="en-IN" sz="2200" b="1" dirty="0"/>
              <a:t>real-time bidding</a:t>
            </a:r>
            <a:r>
              <a:rPr lang="en-IN" sz="2200" dirty="0"/>
              <a:t>, allowing users to receive updated bid information during an active auction. </a:t>
            </a:r>
          </a:p>
          <a:p>
            <a:pPr lvl="0"/>
            <a:r>
              <a:rPr lang="en-IN" sz="2400" dirty="0"/>
              <a:t>Bid validation and updates are handled using MySQL transactions and row-level locking to ensure correctness when multiple users bid simultaneously.</a:t>
            </a:r>
            <a:endParaRPr lang="en-IN" sz="2200" dirty="0"/>
          </a:p>
          <a:p>
            <a:pPr lvl="0"/>
            <a:r>
              <a:rPr lang="en-IN" sz="2200" dirty="0"/>
              <a:t>The system aims to provide a </a:t>
            </a:r>
            <a:r>
              <a:rPr lang="en-IN" sz="2200" b="1" dirty="0"/>
              <a:t>reliable, transparent, and user-friendly environment</a:t>
            </a:r>
            <a:r>
              <a:rPr lang="en-IN" sz="2200" dirty="0"/>
              <a:t> for online auctions.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6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516"/>
            <a:ext cx="10515600" cy="5075582"/>
          </a:xfrm>
        </p:spPr>
        <p:txBody>
          <a:bodyPr>
            <a:normAutofit fontScale="25000" lnSpcReduction="20000"/>
          </a:bodyPr>
          <a:lstStyle/>
          <a:p>
            <a:pPr lvl="0" algn="just"/>
            <a:r>
              <a:rPr lang="en-IN" sz="8000" dirty="0"/>
              <a:t>Online auctions provide a convenient way to </a:t>
            </a:r>
            <a:r>
              <a:rPr lang="en-IN" sz="8000" b="1" dirty="0"/>
              <a:t>buy and sell products through digital platforms</a:t>
            </a:r>
            <a:r>
              <a:rPr lang="en-IN" sz="8000" dirty="0"/>
              <a:t> without requiring physical participation. </a:t>
            </a:r>
          </a:p>
          <a:p>
            <a:pPr lvl="0" algn="just"/>
            <a:endParaRPr lang="en-IN" sz="8000" dirty="0"/>
          </a:p>
          <a:p>
            <a:pPr lvl="0" algn="just"/>
            <a:r>
              <a:rPr lang="en-IN" sz="8000" dirty="0"/>
              <a:t>A key challenge is managing </a:t>
            </a:r>
            <a:r>
              <a:rPr lang="en-IN" sz="8000" b="1" dirty="0"/>
              <a:t>multiple users placing bids on the same item simultaneously</a:t>
            </a:r>
            <a:r>
              <a:rPr lang="en-IN" sz="8000" dirty="0"/>
              <a:t>. </a:t>
            </a:r>
          </a:p>
          <a:p>
            <a:pPr lvl="0" algn="just"/>
            <a:endParaRPr lang="en-IN" sz="8000" dirty="0"/>
          </a:p>
          <a:p>
            <a:pPr lvl="0" algn="just"/>
            <a:r>
              <a:rPr lang="en-IN" sz="8000" dirty="0"/>
              <a:t>The proposed system addresses this challenge using </a:t>
            </a:r>
            <a:r>
              <a:rPr lang="en-IN" sz="8000" b="1" dirty="0"/>
              <a:t>database transactions and row-level locking</a:t>
            </a:r>
            <a:r>
              <a:rPr lang="en-IN" sz="8000" dirty="0"/>
              <a:t> to ensure safe and consistent bid processing. </a:t>
            </a:r>
          </a:p>
          <a:p>
            <a:pPr lvl="0" algn="just"/>
            <a:endParaRPr lang="en-IN" sz="8000" dirty="0"/>
          </a:p>
          <a:p>
            <a:pPr lvl="0" algn="just"/>
            <a:r>
              <a:rPr lang="en-IN" sz="8000" dirty="0"/>
              <a:t>A bid is accepted only when it </a:t>
            </a:r>
            <a:r>
              <a:rPr lang="en-IN" sz="8000" b="1" dirty="0"/>
              <a:t>satisfies the auction rules and exceeds the current valid bid</a:t>
            </a:r>
            <a:r>
              <a:rPr lang="en-IN" sz="8000" dirty="0"/>
              <a:t>. </a:t>
            </a:r>
          </a:p>
          <a:p>
            <a:pPr lvl="0" algn="just"/>
            <a:endParaRPr lang="en-IN" sz="8000" dirty="0"/>
          </a:p>
          <a:p>
            <a:pPr lvl="0" algn="just"/>
            <a:r>
              <a:rPr lang="en-IN" sz="8000" dirty="0"/>
              <a:t>The system maintains a </a:t>
            </a:r>
            <a:r>
              <a:rPr lang="en-IN" sz="8000" b="1" dirty="0"/>
              <a:t>complete record of bidding activity</a:t>
            </a:r>
            <a:r>
              <a:rPr lang="en-IN" sz="8000" dirty="0"/>
              <a:t> and determines the highest valid bidder when the auction ends. </a:t>
            </a:r>
          </a:p>
          <a:p>
            <a:pPr lvl="0" algn="just"/>
            <a:endParaRPr lang="en-IN" sz="8000" dirty="0"/>
          </a:p>
          <a:p>
            <a:pPr lvl="0" algn="just"/>
            <a:r>
              <a:rPr lang="en-IN" sz="8000" dirty="0"/>
              <a:t>The project demonstrates practical applications of </a:t>
            </a:r>
            <a:r>
              <a:rPr lang="en-IN" sz="8000" b="1" dirty="0"/>
              <a:t>DBMS concepts such as data integrity, transactions, SQL operations, and concurrency control</a:t>
            </a:r>
            <a:r>
              <a:rPr lang="en-IN" sz="8000" dirty="0"/>
              <a:t>. </a:t>
            </a:r>
          </a:p>
          <a:p>
            <a:pPr lvl="0" algn="just"/>
            <a:endParaRPr lang="en-IN" sz="8000" dirty="0"/>
          </a:p>
          <a:p>
            <a:pPr lvl="0" algn="just"/>
            <a:r>
              <a:rPr lang="en-IN" sz="8000" dirty="0"/>
              <a:t>This ensures that the auction process remains </a:t>
            </a:r>
            <a:r>
              <a:rPr lang="en-IN" sz="8000" b="1" dirty="0"/>
              <a:t>fair, consistent, and reliable even during high bidding activity</a:t>
            </a:r>
            <a:r>
              <a:rPr lang="en-IN" sz="8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Support core auction functionality: product listing, bid placement, auction timers, and winner selection</a:t>
            </a:r>
          </a:p>
          <a:p>
            <a:r>
              <a:rPr lang="en-GB" dirty="0"/>
              <a:t>Operate at large commercial scale with proprietary, closed-source architectures</a:t>
            </a:r>
          </a:p>
          <a:p>
            <a:r>
              <a:rPr lang="en-GB" dirty="0"/>
              <a:t>Database design and concurrency-handling mechanisms are not publicly documented or accessible for academic study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45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990634" cy="5030787"/>
          </a:xfrm>
        </p:spPr>
        <p:txBody>
          <a:bodyPr>
            <a:normAutofit/>
          </a:bodyPr>
          <a:lstStyle/>
          <a:p>
            <a:r>
              <a:rPr lang="en-GB" dirty="0"/>
              <a:t>Simple SELECT then UPDATE logic (common in basic systems) is vulnerable to race conditions under concurrent load</a:t>
            </a:r>
          </a:p>
          <a:p>
            <a:r>
              <a:rPr lang="en-GB" dirty="0"/>
              <a:t>If Two users bid on the same item at nearly the same time; current highest bid is ₹500.Both read the same value (₹500) since nothing locks the record between read and write.</a:t>
            </a:r>
          </a:p>
          <a:p>
            <a:r>
              <a:rPr lang="en-GB" dirty="0"/>
              <a:t>Both independently validate their bid as higher than ₹500 and pass</a:t>
            </a:r>
          </a:p>
          <a:p>
            <a:r>
              <a:rPr lang="en-GB" dirty="0"/>
              <a:t>Whichever write happens last overwrites the other — a lower bid can overwrite a higher one</a:t>
            </a:r>
          </a:p>
          <a:p>
            <a:r>
              <a:rPr lang="en-GB" dirty="0"/>
              <a:t>Root cause: read, check, and write are separate, unsynchronized steps</a:t>
            </a:r>
          </a:p>
          <a:p>
            <a:r>
              <a:rPr lang="en-GB" dirty="0"/>
              <a:t>Most academic/mini-project systems skip proper transaction handling entirely, so the core DBMS problem is rarely demonstrated or tested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MySQL transactions wrap bid validation and update into a single atomic operation</a:t>
            </a:r>
          </a:p>
          <a:p>
            <a:r>
              <a:rPr lang="en-GB" dirty="0"/>
              <a:t>Row-level locking (SELECT ... FOR UPDATE) ensures only one transaction reads/updates the highest bid at a time</a:t>
            </a:r>
          </a:p>
          <a:p>
            <a:r>
              <a:rPr lang="en-GB" dirty="0"/>
              <a:t>REPEATABLE READ isolation level, combined with explicit locking, prevents race conditions between concurrent bids</a:t>
            </a:r>
          </a:p>
          <a:p>
            <a:r>
              <a:rPr lang="en-GB" dirty="0"/>
              <a:t>Deadlock retry logic maintains reliability under concurrent bidding activity</a:t>
            </a:r>
          </a:p>
          <a:p>
            <a:r>
              <a:rPr lang="en-GB" dirty="0"/>
              <a:t>Primary keys, foreign keys, and constraints maintain data integrity across the schema</a:t>
            </a:r>
          </a:p>
          <a:p>
            <a:r>
              <a:rPr lang="en-GB" dirty="0"/>
              <a:t>Correctness validated through simulated concurrent bid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060"/>
            <a:ext cx="10515600" cy="4351338"/>
          </a:xfrm>
        </p:spPr>
        <p:txBody>
          <a:bodyPr>
            <a:noAutofit/>
          </a:bodyPr>
          <a:lstStyle/>
          <a:p>
            <a:pPr lvl="0" algn="just"/>
            <a:r>
              <a:rPr lang="en-IN" sz="2000" dirty="0"/>
              <a:t>To develop a </a:t>
            </a:r>
            <a:r>
              <a:rPr lang="en-IN" sz="2000" b="1" dirty="0"/>
              <a:t>user-friendly online platform</a:t>
            </a:r>
            <a:r>
              <a:rPr lang="en-IN" sz="2000" dirty="0"/>
              <a:t> for conducting auctions digitally.</a:t>
            </a:r>
          </a:p>
          <a:p>
            <a:pPr lvl="0" algn="just"/>
            <a:r>
              <a:rPr lang="en-IN" sz="2000" dirty="0"/>
              <a:t>To allow users to </a:t>
            </a:r>
            <a:r>
              <a:rPr lang="en-IN" sz="2000" b="1" dirty="0"/>
              <a:t>register, view auction items, and place bids</a:t>
            </a:r>
            <a:r>
              <a:rPr lang="en-IN" sz="2000" dirty="0"/>
              <a:t> conveniently. </a:t>
            </a:r>
          </a:p>
          <a:p>
            <a:pPr lvl="0" algn="just"/>
            <a:r>
              <a:rPr lang="en-IN" sz="2000" dirty="0"/>
              <a:t>To provide </a:t>
            </a:r>
            <a:r>
              <a:rPr lang="en-IN" sz="2000" b="1" dirty="0"/>
              <a:t>real-time bid updates</a:t>
            </a:r>
            <a:r>
              <a:rPr lang="en-IN" sz="2000" dirty="0"/>
              <a:t> so users can view the latest bidding information instantly. </a:t>
            </a:r>
          </a:p>
          <a:p>
            <a:pPr lvl="0" algn="just"/>
            <a:r>
              <a:rPr lang="en-IN" sz="2000" dirty="0"/>
              <a:t>To handle </a:t>
            </a:r>
            <a:r>
              <a:rPr lang="en-IN" sz="2000" b="1" dirty="0"/>
              <a:t>multiple simultaneous bids</a:t>
            </a:r>
            <a:r>
              <a:rPr lang="en-IN" sz="2000" dirty="0"/>
              <a:t> without data conflicts or incorrect bid records.</a:t>
            </a:r>
          </a:p>
          <a:p>
            <a:pPr lvl="0" algn="just"/>
            <a:r>
              <a:rPr lang="en-IN" sz="2000" dirty="0"/>
              <a:t>To implement </a:t>
            </a:r>
            <a:r>
              <a:rPr lang="en-IN" sz="2000" b="1" dirty="0"/>
              <a:t>database transactions and concurrency control</a:t>
            </a:r>
            <a:r>
              <a:rPr lang="en-IN" sz="2000" dirty="0"/>
              <a:t> for safe and consistent bid processing. </a:t>
            </a:r>
          </a:p>
          <a:p>
            <a:pPr lvl="0" algn="just"/>
            <a:r>
              <a:rPr lang="en-IN" sz="2000" dirty="0"/>
              <a:t>To maintain </a:t>
            </a:r>
            <a:r>
              <a:rPr lang="en-IN" sz="2000" b="1" dirty="0"/>
              <a:t>accurate bidding history and auction records</a:t>
            </a:r>
            <a:r>
              <a:rPr lang="en-IN" sz="2000" dirty="0"/>
              <a:t> using MySQL. </a:t>
            </a:r>
          </a:p>
          <a:p>
            <a:pPr lvl="0" algn="just"/>
            <a:r>
              <a:rPr lang="en-IN" sz="2000" dirty="0"/>
              <a:t>To automatically identify the </a:t>
            </a:r>
            <a:r>
              <a:rPr lang="en-IN" sz="2000" b="1" dirty="0"/>
              <a:t>highest valid bidder as the auction winner</a:t>
            </a:r>
            <a:r>
              <a:rPr lang="en-IN" sz="2000" dirty="0"/>
              <a:t> when the auction ends. </a:t>
            </a:r>
          </a:p>
          <a:p>
            <a:pPr lvl="0" algn="just"/>
            <a:r>
              <a:rPr lang="en-IN" sz="2000" dirty="0"/>
              <a:t>To provide administrators with tools to </a:t>
            </a:r>
            <a:r>
              <a:rPr lang="en-IN" sz="2000" b="1" dirty="0"/>
              <a:t>manage users, products, auctions, and bidding activities</a:t>
            </a:r>
            <a:r>
              <a:rPr lang="en-IN" sz="2000" dirty="0"/>
              <a:t>.</a:t>
            </a:r>
          </a:p>
          <a:p>
            <a:pPr lvl="0" algn="just"/>
            <a:r>
              <a:rPr lang="en-IN" sz="2000" dirty="0"/>
              <a:t>To maintain </a:t>
            </a:r>
            <a:r>
              <a:rPr lang="en-IN" sz="2000" b="1" dirty="0"/>
              <a:t>data integrity, transparency, and reliability</a:t>
            </a:r>
            <a:r>
              <a:rPr lang="en-IN" sz="2000" dirty="0"/>
              <a:t> throughout the auction process. </a:t>
            </a:r>
          </a:p>
          <a:p>
            <a:pPr lvl="0" algn="just"/>
            <a:r>
              <a:rPr lang="en-IN" sz="2000" dirty="0"/>
              <a:t>To demonstrate the practical application of </a:t>
            </a:r>
            <a:r>
              <a:rPr lang="en-IN" sz="2000" b="1" dirty="0"/>
              <a:t>DBMS concepts such as transactions, locking, SQL, and concurrency control</a:t>
            </a:r>
            <a:r>
              <a:rPr lang="en-IN" sz="2000" dirty="0"/>
              <a:t>. </a:t>
            </a:r>
          </a:p>
          <a:p>
            <a:endParaRPr lang="en-US" sz="200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7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Autofit/>
          </a:bodyPr>
          <a:lstStyle/>
          <a:p>
            <a:pPr lvl="0"/>
            <a:r>
              <a:rPr lang="en-IN" sz="1800" b="1" dirty="0"/>
              <a:t>User Management Module</a:t>
            </a:r>
            <a:br>
              <a:rPr lang="en-IN" sz="1800" dirty="0"/>
            </a:br>
            <a:r>
              <a:rPr lang="en-IN" sz="1800" dirty="0"/>
              <a:t>Handles user registration, login, authentication, and user profile management. </a:t>
            </a:r>
          </a:p>
          <a:p>
            <a:pPr lvl="0"/>
            <a:r>
              <a:rPr lang="en-IN" sz="1800" b="1" dirty="0"/>
              <a:t>Product Management Module</a:t>
            </a:r>
            <a:br>
              <a:rPr lang="en-IN" sz="1800" dirty="0"/>
            </a:br>
            <a:r>
              <a:rPr lang="en-IN" sz="1800" dirty="0"/>
              <a:t>Allows administrators to add, update, delete, and manage products available for auction. </a:t>
            </a:r>
          </a:p>
          <a:p>
            <a:pPr lvl="0"/>
            <a:r>
              <a:rPr lang="en-IN" sz="1800" b="1" dirty="0"/>
              <a:t>Auction Management Module</a:t>
            </a:r>
            <a:br>
              <a:rPr lang="en-IN" sz="1800" dirty="0"/>
            </a:br>
            <a:r>
              <a:rPr lang="en-IN" sz="1800" dirty="0"/>
              <a:t>Manages auction details such as starting price, bidding period, auction status, and end time. </a:t>
            </a:r>
          </a:p>
          <a:p>
            <a:pPr lvl="0"/>
            <a:r>
              <a:rPr lang="en-IN" sz="1800" b="1" dirty="0"/>
              <a:t>Bidding Module</a:t>
            </a:r>
            <a:br>
              <a:rPr lang="en-IN" sz="1800" dirty="0"/>
            </a:br>
            <a:r>
              <a:rPr lang="en-IN" sz="1800" dirty="0"/>
              <a:t>Allows users to place bids and ensures that each new bid is higher than the current highest bid. </a:t>
            </a:r>
          </a:p>
          <a:p>
            <a:pPr lvl="0"/>
            <a:r>
              <a:rPr lang="en-IN" sz="1800" b="1" dirty="0"/>
              <a:t>Real-Time Concurrency Module</a:t>
            </a:r>
            <a:br>
              <a:rPr lang="en-IN" sz="1800" dirty="0"/>
            </a:br>
            <a:r>
              <a:rPr lang="en-IN" sz="1800" dirty="0"/>
              <a:t>Handles multiple users bidding simultaneously using transactions and row-level locking to prevent conflicts. </a:t>
            </a:r>
          </a:p>
          <a:p>
            <a:pPr lvl="0"/>
            <a:r>
              <a:rPr lang="en-IN" sz="1800" b="1" dirty="0"/>
              <a:t>Bid History Module</a:t>
            </a:r>
            <a:br>
              <a:rPr lang="en-IN" sz="1800" dirty="0"/>
            </a:br>
            <a:r>
              <a:rPr lang="en-IN" sz="1800" dirty="0"/>
              <a:t>Records and displays previous bids, including bidder details, bid amount, and bidding time. </a:t>
            </a:r>
          </a:p>
          <a:p>
            <a:pPr lvl="0"/>
            <a:r>
              <a:rPr lang="en-IN" sz="1800" b="1" dirty="0"/>
              <a:t>Winner Management Module</a:t>
            </a:r>
            <a:br>
              <a:rPr lang="en-IN" sz="1800" dirty="0"/>
            </a:br>
            <a:r>
              <a:rPr lang="en-IN" sz="1800" dirty="0"/>
              <a:t>Identifies the highest valid bidder and records the winner when the auction ends. </a:t>
            </a:r>
          </a:p>
          <a:p>
            <a:pPr lvl="0"/>
            <a:r>
              <a:rPr lang="en-IN" sz="1800" b="1" dirty="0"/>
              <a:t>Admin Module</a:t>
            </a:r>
            <a:br>
              <a:rPr lang="en-IN" sz="1800" dirty="0"/>
            </a:br>
            <a:r>
              <a:rPr lang="en-IN" sz="1800" dirty="0"/>
              <a:t>Provides administrators with control over users, products, auctions, bids, and overall system activities.</a:t>
            </a:r>
          </a:p>
          <a:p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Operating System:</a:t>
            </a:r>
            <a:r>
              <a:rPr lang="en-IN" dirty="0"/>
              <a:t> Windows 10/11 or Linux </a:t>
            </a:r>
          </a:p>
          <a:p>
            <a:pPr lvl="0"/>
            <a:r>
              <a:rPr lang="en-IN" b="1" dirty="0"/>
              <a:t>Frontend:</a:t>
            </a:r>
            <a:r>
              <a:rPr lang="en-IN" dirty="0"/>
              <a:t> React.js, HTML, CSS, JavaScript </a:t>
            </a:r>
          </a:p>
          <a:p>
            <a:pPr lvl="0"/>
            <a:r>
              <a:rPr lang="en-IN" b="1" dirty="0"/>
              <a:t>Backend:</a:t>
            </a:r>
            <a:r>
              <a:rPr lang="en-IN" dirty="0"/>
              <a:t> Node.js + Express.js 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MySQL 8.0+ with </a:t>
            </a:r>
            <a:r>
              <a:rPr lang="en-IN" dirty="0" err="1"/>
              <a:t>InnoDB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Real-Time Communication:</a:t>
            </a:r>
            <a:r>
              <a:rPr lang="en-IN" dirty="0"/>
              <a:t> Socket.IO </a:t>
            </a:r>
          </a:p>
          <a:p>
            <a:pPr lvl="0"/>
            <a:r>
              <a:rPr lang="en-IN" b="1" dirty="0"/>
              <a:t>Database Tool:</a:t>
            </a:r>
            <a:r>
              <a:rPr lang="en-IN" dirty="0"/>
              <a:t> MySQL Workbench </a:t>
            </a:r>
          </a:p>
          <a:p>
            <a:pPr lvl="0"/>
            <a:r>
              <a:rPr lang="en-IN" b="1" dirty="0"/>
              <a:t>Code Editor:</a:t>
            </a:r>
            <a:r>
              <a:rPr lang="en-IN" dirty="0"/>
              <a:t> Visual Studio Code </a:t>
            </a:r>
          </a:p>
          <a:p>
            <a:pPr lvl="0"/>
            <a:r>
              <a:rPr lang="en-IN" b="1" dirty="0"/>
              <a:t>Browser:</a:t>
            </a:r>
            <a:r>
              <a:rPr lang="en-IN" dirty="0"/>
              <a:t> Google Chrome / Microsoft Edge </a:t>
            </a:r>
          </a:p>
          <a:p>
            <a:pPr lvl="0"/>
            <a:r>
              <a:rPr lang="en-IN" b="1" dirty="0"/>
              <a:t>Libraries:</a:t>
            </a:r>
            <a:r>
              <a:rPr lang="en-IN" dirty="0"/>
              <a:t> Axios, React Router, Socket.IO Client </a:t>
            </a:r>
          </a:p>
          <a:p>
            <a:pPr lvl="0"/>
            <a:r>
              <a:rPr lang="en-IN" b="1" dirty="0"/>
              <a:t>Version Control:</a:t>
            </a:r>
            <a:r>
              <a:rPr lang="en-IN" dirty="0"/>
              <a:t> Git &amp; GitHub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9CF0C-079F-62B1-EEFF-0951BEB7E998}"/>
              </a:ext>
            </a:extLst>
          </p:cNvPr>
          <p:cNvSpPr txBox="1"/>
          <p:nvPr/>
        </p:nvSpPr>
        <p:spPr>
          <a:xfrm>
            <a:off x="838200" y="1349829"/>
            <a:ext cx="10515600" cy="5806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400" b="1" dirty="0">
                <a:solidFill>
                  <a:srgbClr val="0070C0"/>
                </a:solidFill>
              </a:rPr>
              <a:t>CONCLUSION</a:t>
            </a:r>
            <a:endParaRPr lang="en-IN" sz="24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Provides a </a:t>
            </a:r>
            <a:r>
              <a:rPr lang="en-IN" sz="2400" b="1" dirty="0"/>
              <a:t>secure, reliable, and user-friendly</a:t>
            </a:r>
            <a:r>
              <a:rPr lang="en-IN" sz="2400" dirty="0"/>
              <a:t> online auction platform.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Supports </a:t>
            </a:r>
            <a:r>
              <a:rPr lang="en-IN" sz="2400" b="1" dirty="0"/>
              <a:t>real-time bidding</a:t>
            </a:r>
            <a:r>
              <a:rPr lang="en-IN" sz="2400" dirty="0"/>
              <a:t> and accurate handling of simultaneous bids.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Ensures </a:t>
            </a:r>
            <a:r>
              <a:rPr lang="en-IN" sz="2400" b="1" dirty="0"/>
              <a:t>data consistency and integrity</a:t>
            </a:r>
            <a:r>
              <a:rPr lang="en-IN" sz="2400" dirty="0"/>
              <a:t> using MySQL transactions and concurrency control.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Demonstrates practical applications of </a:t>
            </a:r>
            <a:r>
              <a:rPr lang="en-IN" sz="2400" b="1" dirty="0"/>
              <a:t>DBMS and web technologies</a:t>
            </a:r>
            <a:r>
              <a:rPr lang="en-IN" sz="2400" dirty="0"/>
              <a:t>.</a:t>
            </a:r>
          </a:p>
          <a:p>
            <a:pPr lvl="0"/>
            <a:endParaRPr lang="en-US" sz="2400" b="1" dirty="0">
              <a:solidFill>
                <a:srgbClr val="0070C0"/>
              </a:solidFill>
            </a:endParaRPr>
          </a:p>
          <a:p>
            <a:pPr lvl="0"/>
            <a:r>
              <a:rPr lang="en-US" sz="2400" b="1" dirty="0">
                <a:solidFill>
                  <a:srgbClr val="0070C0"/>
                </a:solidFill>
              </a:rPr>
              <a:t>FUTURE SCOPE</a:t>
            </a:r>
            <a:endParaRPr lang="en-IN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Integration of </a:t>
            </a:r>
            <a:r>
              <a:rPr lang="en-IN" sz="2400" b="1" dirty="0"/>
              <a:t>online payment gateways</a:t>
            </a:r>
            <a:r>
              <a:rPr lang="en-IN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Development of a </a:t>
            </a:r>
            <a:r>
              <a:rPr lang="en-IN" sz="2400" b="1" dirty="0"/>
              <a:t>mobile application</a:t>
            </a:r>
            <a:r>
              <a:rPr lang="en-IN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Addition of </a:t>
            </a:r>
            <a:r>
              <a:rPr lang="en-IN" sz="2400" b="1" dirty="0"/>
              <a:t>AI-based price prediction and bidding recommendations</a:t>
            </a:r>
            <a:r>
              <a:rPr lang="en-IN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Implementation of </a:t>
            </a:r>
            <a:r>
              <a:rPr lang="en-IN" sz="2400" b="1" dirty="0"/>
              <a:t>notifications through Email/SMS/Push</a:t>
            </a:r>
            <a:r>
              <a:rPr lang="en-IN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Enhanced </a:t>
            </a:r>
            <a:r>
              <a:rPr lang="en-IN" sz="2400" b="1" dirty="0"/>
              <a:t>security and fraud detection</a:t>
            </a:r>
            <a:r>
              <a:rPr lang="en-IN" sz="2400" dirty="0"/>
              <a:t> for large-scale auctions.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8340</TotalTime>
  <Words>1094</Words>
  <Application>Microsoft Office PowerPoint</Application>
  <PresentationFormat>Widescreen</PresentationFormat>
  <Paragraphs>143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Online Auction And Bidding Platform with Real time concurrency handling </vt:lpstr>
      <vt:lpstr>GROUP NUMBER: 22</vt:lpstr>
      <vt:lpstr>ABSTRACT</vt:lpstr>
      <vt:lpstr>INTRODUCTION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Manasvi P</cp:lastModifiedBy>
  <cp:revision>96</cp:revision>
  <dcterms:created xsi:type="dcterms:W3CDTF">2022-05-20T10:20:31Z</dcterms:created>
  <dcterms:modified xsi:type="dcterms:W3CDTF">2026-08-22T03:15:07Z</dcterms:modified>
</cp:coreProperties>
</file>
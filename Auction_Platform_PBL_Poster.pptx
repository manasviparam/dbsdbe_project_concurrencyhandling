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shot1.jpeg"/><Relationship Id="rId5" Type="http://schemas.openxmlformats.org/officeDocument/2006/relationships/image" Target="../media/shot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&amp; Bidding Platform with Real-Time Concurrency Handling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22  |  Section: 7  |  Members: Param Manasvi – 2520030072, Ch. Shravya Chowdary – 2520030322  |  Guide: Dr. Y. Subbarayudu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web-based auction platform where users register, browse items and bid live, and admins manage products and auctions. Built with React, Node.js/Express, MySQL and Socket.IO.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MySQL transactions with row-level locking keep every bid correct, even when many users bid at once.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65176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39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Simple SELECT-then-UPDATE bidding is race-prone: two simultaneous bids can let a lower bid overwrite a higher one.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1: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Build a web platform to register, browse auctions and bid in real time.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2: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Guarantee correct bids under concurrency using transactions and row locks.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3: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Keep full bid history and auto-declare the highest valid bidder as winner.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Scope: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Bidders and Admin; modules for users, products, auctions, bidding, history and results.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6675120"/>
            <a:ext cx="4844034" cy="329184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766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132320"/>
          <a:ext cx="45720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805940"/>
                <a:gridCol w="18059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Listing, bidding, timers, winner selection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core, plus admin module and full bid history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systems use SELECT then UPDATE (race-prone)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transaction + SELECT … FOR UPDATE row 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Varies; often manual page refresh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Socket.IO pushes each new bid to all viewers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Mini-projects often skip transactions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PK/FK constraints, atomic commits, deadlock retry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systems are closed-source; DB design not documented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documented schema with a concurrency test script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10104120"/>
            <a:ext cx="4844034" cy="233172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0195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10561320"/>
            <a:ext cx="456971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Technical: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Mainstream JavaScript + SQL stack; all tools run on Windows or Linux.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Economic: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Fully open-source stack (React, Node.js, MySQL, Socket.IO); no licence cost, free-tier hosting is enough.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Operational: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Simple web UI for bidders and admins; JWT login and automatic auction closing keep maintenance low.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Schedule: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Core modules and concurrency testing are achievable within the semester timeline.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196596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Front-End: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React.js (Vite), HTML, CSS, JavaScript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Back-End: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Node.js + Express.js REST APIs, JWT auth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Real-Time: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Socket.IO (server and client)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Database: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MySQL 8.0 (InnoDB), MySQL Workbench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Tools: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Git &amp; GitHub, VS Code, Axios, node-cron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4114" y="4206240"/>
            <a:ext cx="4844034" cy="242316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2976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663440"/>
            <a:ext cx="456971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5484114" y="6766560"/>
            <a:ext cx="4844034" cy="310896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68580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223760"/>
            <a:ext cx="456971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5484114" y="10012680"/>
            <a:ext cx="4844034" cy="242316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041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pic>
        <p:nvPicPr>
          <p:cNvPr id="31" name="Screenshot 1" descr="Auctions page with category tiles, filters and auction car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10567754"/>
            <a:ext cx="2216277" cy="1004251"/>
          </a:xfrm>
          <a:prstGeom prst="rect">
            <a:avLst/>
          </a:prstGeom>
          <a:ln w="9525">
            <a:solidFill>
              <a:srgbClr val="0F766E"/>
            </a:solidFill>
          </a:ln>
        </p:spPr>
      </p:pic>
      <p:sp>
        <p:nvSpPr>
          <p:cNvPr id="32" name="Caption 1"/>
          <p:cNvSpPr txBox="1"/>
          <p:nvPr/>
        </p:nvSpPr>
        <p:spPr>
          <a:xfrm>
            <a:off x="5621274" y="11759880"/>
            <a:ext cx="2216277" cy="6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Screenshot 1</a:t>
            </a:r>
          </a:p>
          <a:p>
            <a:pPr algn="ctr" indent="0" marL="0">
              <a:buNone/>
            </a:pPr>
            <a:r>
              <a:rPr lang="en-US" sz="1000" b="0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Auctions page: category tiles, filters and live bid cards</a:t>
            </a:r>
          </a:p>
        </p:txBody>
      </p:sp>
      <p:pic>
        <p:nvPicPr>
          <p:cNvPr id="33" name="Screenshot 2" descr="Live Auctions page with map and nearby live auc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711" y="10511655"/>
            <a:ext cx="2216277" cy="1116450"/>
          </a:xfrm>
          <a:prstGeom prst="rect">
            <a:avLst/>
          </a:prstGeom>
          <a:ln w="9525">
            <a:solidFill>
              <a:srgbClr val="0F766E"/>
            </a:solidFill>
          </a:ln>
        </p:spPr>
      </p:pic>
      <p:sp>
        <p:nvSpPr>
          <p:cNvPr id="34" name="Caption 2"/>
          <p:cNvSpPr txBox="1"/>
          <p:nvPr/>
        </p:nvSpPr>
        <p:spPr>
          <a:xfrm>
            <a:off x="7974711" y="11759880"/>
            <a:ext cx="2216277" cy="6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Screenshot 2</a:t>
            </a:r>
          </a:p>
          <a:p>
            <a:pPr algn="ctr" indent="0" marL="0">
              <a:buNone/>
            </a:pPr>
            <a:r>
              <a:rPr lang="en-US" sz="1000" b="0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Live Auctions page: map view with pickup locations</a:t>
            </a:r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Simulated concurrent bids validated: no lost updates, correct highest bid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CRUD, bid validation and live updates working end to end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secure, consistent real-time auction platform with a full bid history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Meets all objectives: atomic bids, live updates, automatic winner selection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Online payment gateway and mobile app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Email / SMS / push notifications, AI price prediction and fraud detection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MySQL 8.0 Reference Manual, InnoDB Locking Reads (dev.mysql.com)   [2] Socket.IO v4 Documentation (socket.io/docs/v4)   [3] Express.js Documentation (expressjs.com)   [4] Elmasri &amp; Navathe, Fundamentals of Database Systems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7" name="Picture 4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678020"/>
            <a:ext cx="1188720" cy="56419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733288" y="4754880"/>
            <a:ext cx="1143000" cy="8686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Front-End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React + Vite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Login · Auctions · Bid form · Admin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33488" y="4754880"/>
            <a:ext cx="1143000" cy="8686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Back-End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Node.js + Express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REST API · JWT auth · Socket.IO server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33688" y="4754880"/>
            <a:ext cx="1143000" cy="8686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Database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MySQL 8 (InnoDB)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users · products · auctions · bids · results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894575" y="5189220"/>
            <a:ext cx="420625" cy="0"/>
          </a:xfrm>
          <a:prstGeom prst="line">
            <a:avLst/>
          </a:prstGeom>
          <a:ln w="19050">
            <a:solidFill>
              <a:srgbClr val="4C1D9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76288" y="5006340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4C1D95"/>
                </a:solidFill>
                <a:latin typeface="Calibri"/>
              </a:rPr>
              <a:t>REST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94776" y="5189220"/>
            <a:ext cx="420624" cy="0"/>
          </a:xfrm>
          <a:prstGeom prst="line">
            <a:avLst/>
          </a:prstGeom>
          <a:ln w="19050">
            <a:solidFill>
              <a:srgbClr val="4C1D9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476488" y="5006340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4C1D95"/>
                </a:solidFill>
                <a:latin typeface="Calibri"/>
              </a:rPr>
              <a:t>SQL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304788" y="5632704"/>
            <a:ext cx="0" cy="265176"/>
          </a:xfrm>
          <a:prstGeom prst="line">
            <a:avLst/>
          </a:prstGeom>
          <a:ln w="15875">
            <a:solidFill>
              <a:srgbClr val="4C1D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733288" y="5907024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>
                <a:solidFill>
                  <a:srgbClr val="1E293B"/>
                </a:solidFill>
                <a:latin typeface="Calibri"/>
              </a:rPr>
              <a:t>Receives live bid updates via Socket.IO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04988" y="5632704"/>
            <a:ext cx="0" cy="265176"/>
          </a:xfrm>
          <a:prstGeom prst="line">
            <a:avLst/>
          </a:prstGeom>
          <a:ln w="15875">
            <a:solidFill>
              <a:srgbClr val="4C1D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333488" y="5907024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>
                <a:solidFill>
                  <a:srgbClr val="1E293B"/>
                </a:solidFill>
                <a:latin typeface="Calibri"/>
              </a:rPr>
              <a:t>node-cron closes expired auctions every 30 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505188" y="5632704"/>
            <a:ext cx="0" cy="265176"/>
          </a:xfrm>
          <a:prstGeom prst="line">
            <a:avLst/>
          </a:prstGeom>
          <a:ln w="15875">
            <a:solidFill>
              <a:srgbClr val="4C1D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933688" y="5907024"/>
            <a:ext cx="1143000" cy="5029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>
                <a:solidFill>
                  <a:srgbClr val="1E293B"/>
                </a:solidFill>
                <a:latin typeface="Calibri"/>
              </a:rPr>
              <a:t>Row lock (SELECT … FOR UPDATE) on every bid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50992" y="7296912"/>
            <a:ext cx="12618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50992" y="7296912"/>
            <a:ext cx="1261872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5000" y="7562088"/>
            <a:ext cx="1170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PK </a:t>
            </a:r>
            <a:r>
              <a:rPr sz="850" b="1">
                <a:solidFill>
                  <a:srgbClr val="1E293B"/>
                </a:solidFill>
                <a:latin typeface="Calibri"/>
              </a:rPr>
              <a:t>id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name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email (UNIQUE)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password_hash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role (user / admin)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78624" y="7296912"/>
            <a:ext cx="12618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78624" y="7296912"/>
            <a:ext cx="1261872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2631" y="7562088"/>
            <a:ext cx="1170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PK </a:t>
            </a:r>
            <a:r>
              <a:rPr sz="850" b="1">
                <a:solidFill>
                  <a:srgbClr val="1E293B"/>
                </a:solidFill>
                <a:latin typeface="Calibri"/>
              </a:rPr>
              <a:t>id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name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description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image_url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FK </a:t>
            </a:r>
            <a:r>
              <a:rPr sz="850" b="0">
                <a:solidFill>
                  <a:srgbClr val="1E293B"/>
                </a:solidFill>
                <a:latin typeface="Calibri"/>
              </a:rPr>
              <a:t>created_by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06255" y="7296912"/>
            <a:ext cx="12618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906255" y="7296912"/>
            <a:ext cx="1261872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auctions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70263" y="7562088"/>
            <a:ext cx="1170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PK </a:t>
            </a:r>
            <a:r>
              <a:rPr sz="850" b="1">
                <a:solidFill>
                  <a:srgbClr val="1E293B"/>
                </a:solidFill>
                <a:latin typeface="Calibri"/>
              </a:rPr>
              <a:t>id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FK </a:t>
            </a:r>
            <a:r>
              <a:rPr sz="850" b="0">
                <a:solidFill>
                  <a:srgbClr val="1E293B"/>
                </a:solidFill>
                <a:latin typeface="Calibri"/>
              </a:rPr>
              <a:t>product_id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starting_price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current_highest_bid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FK </a:t>
            </a:r>
            <a:r>
              <a:rPr sz="850" b="0">
                <a:solidFill>
                  <a:srgbClr val="1E293B"/>
                </a:solidFill>
                <a:latin typeface="Calibri"/>
              </a:rPr>
              <a:t>highest_bidder_id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start_time, end_time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status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78624" y="8759952"/>
            <a:ext cx="126187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278624" y="8759952"/>
            <a:ext cx="1261872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bids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42631" y="9025128"/>
            <a:ext cx="1170431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PK </a:t>
            </a:r>
            <a:r>
              <a:rPr sz="850" b="1">
                <a:solidFill>
                  <a:srgbClr val="1E293B"/>
                </a:solidFill>
                <a:latin typeface="Calibri"/>
              </a:rPr>
              <a:t>id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FK </a:t>
            </a:r>
            <a:r>
              <a:rPr sz="850" b="0">
                <a:solidFill>
                  <a:srgbClr val="1E293B"/>
                </a:solidFill>
                <a:latin typeface="Calibri"/>
              </a:rPr>
              <a:t>auction_id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FK </a:t>
            </a:r>
            <a:r>
              <a:rPr sz="850" b="0">
                <a:solidFill>
                  <a:srgbClr val="1E293B"/>
                </a:solidFill>
                <a:latin typeface="Calibri"/>
              </a:rPr>
              <a:t>user_id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amount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created_at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06255" y="8759952"/>
            <a:ext cx="1261872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06255" y="8759952"/>
            <a:ext cx="1261872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auction_results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70263" y="9025128"/>
            <a:ext cx="1170431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PK,FK </a:t>
            </a:r>
            <a:r>
              <a:rPr sz="850" b="0">
                <a:solidFill>
                  <a:srgbClr val="1E293B"/>
                </a:solidFill>
                <a:latin typeface="Calibri"/>
              </a:rPr>
              <a:t>auction_id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FK </a:t>
            </a:r>
            <a:r>
              <a:rPr sz="850" b="0">
                <a:solidFill>
                  <a:srgbClr val="1E293B"/>
                </a:solidFill>
                <a:latin typeface="Calibri"/>
              </a:rPr>
              <a:t>winning_bid_id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FK </a:t>
            </a:r>
            <a:r>
              <a:rPr sz="850" b="0">
                <a:solidFill>
                  <a:srgbClr val="1E293B"/>
                </a:solidFill>
                <a:latin typeface="Calibri"/>
              </a:rPr>
              <a:t>winner_id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finalized_at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50992" y="8759952"/>
            <a:ext cx="1261872" cy="978408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9525">
            <a:solidFill>
              <a:srgbClr val="C2410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15000" y="8823960"/>
            <a:ext cx="1152143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Legend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PK</a:t>
            </a:r>
            <a:r>
              <a:rPr sz="850" b="0">
                <a:solidFill>
                  <a:srgbClr val="1E293B"/>
                </a:solidFill>
                <a:latin typeface="Calibri"/>
              </a:rPr>
              <a:t> primary key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FK</a:t>
            </a:r>
            <a:r>
              <a:rPr sz="850" b="0">
                <a:solidFill>
                  <a:srgbClr val="1E293B"/>
                </a:solidFill>
                <a:latin typeface="Calibri"/>
              </a:rPr>
              <a:t> foreign key</a:t>
            </a:r>
          </a:p>
          <a:p>
            <a:pPr algn="l"/>
            <a:r>
              <a:rPr sz="850" b="1">
                <a:solidFill>
                  <a:srgbClr val="C2410C"/>
                </a:solidFill>
                <a:latin typeface="Calibri"/>
              </a:rPr>
              <a:t>1 : N</a:t>
            </a:r>
            <a:r>
              <a:rPr sz="850" b="0">
                <a:solidFill>
                  <a:srgbClr val="1E293B"/>
                </a:solidFill>
                <a:latin typeface="Calibri"/>
              </a:rPr>
              <a:t> one-to-many</a:t>
            </a:r>
          </a:p>
          <a:p>
            <a:pPr algn="l"/>
            <a:r>
              <a:rPr sz="850" b="0">
                <a:solidFill>
                  <a:srgbClr val="1E293B"/>
                </a:solidFill>
                <a:latin typeface="Calibri"/>
              </a:rPr>
              <a:t>Engine: InnoDB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912864" y="7882127"/>
            <a:ext cx="365760" cy="0"/>
          </a:xfrm>
          <a:prstGeom prst="line">
            <a:avLst/>
          </a:prstGeom>
          <a:ln w="19050">
            <a:solidFill>
              <a:srgbClr val="7C2D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931151" y="7708392"/>
            <a:ext cx="1097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7C2D12"/>
                </a:solidFill>
                <a:latin typeface="Calibri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50608" y="7708392"/>
            <a:ext cx="1097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2D12"/>
                </a:solidFill>
                <a:latin typeface="Calibri"/>
              </a:rPr>
              <a:t>N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540496" y="7882127"/>
            <a:ext cx="365759" cy="0"/>
          </a:xfrm>
          <a:prstGeom prst="line">
            <a:avLst/>
          </a:prstGeom>
          <a:ln w="19050">
            <a:solidFill>
              <a:srgbClr val="7C2D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558784" y="7708392"/>
            <a:ext cx="1097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7C2D12"/>
                </a:solidFill>
                <a:latin typeface="Calibri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78239" y="7708392"/>
            <a:ext cx="1097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2D12"/>
                </a:solidFill>
                <a:latin typeface="Calibri"/>
              </a:rPr>
              <a:t>N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684264" y="8485632"/>
            <a:ext cx="822960" cy="274320"/>
          </a:xfrm>
          <a:prstGeom prst="line">
            <a:avLst/>
          </a:prstGeom>
          <a:ln w="19050">
            <a:solidFill>
              <a:srgbClr val="7C2D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729983" y="8494776"/>
            <a:ext cx="1097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7C2D12"/>
                </a:solidFill>
                <a:latin typeface="Calibri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88352" y="8604504"/>
            <a:ext cx="1097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7C2D12"/>
                </a:solidFill>
                <a:latin typeface="Calibri"/>
              </a:rPr>
              <a:t>N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8311896" y="8485632"/>
            <a:ext cx="822959" cy="274320"/>
          </a:xfrm>
          <a:prstGeom prst="line">
            <a:avLst/>
          </a:prstGeom>
          <a:ln w="19050">
            <a:solidFill>
              <a:srgbClr val="7C2D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025128" y="8494776"/>
            <a:ext cx="1097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C2D12"/>
                </a:solidFill>
                <a:latin typeface="Calibri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11896" y="8604504"/>
            <a:ext cx="1097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7C2D12"/>
                </a:solidFill>
                <a:latin typeface="Calibri"/>
              </a:rPr>
              <a:t>N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893807" y="8485632"/>
            <a:ext cx="0" cy="274320"/>
          </a:xfrm>
          <a:prstGeom prst="line">
            <a:avLst/>
          </a:prstGeom>
          <a:ln w="19050">
            <a:solidFill>
              <a:srgbClr val="7C2D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948671" y="8531352"/>
            <a:ext cx="274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7C2D12"/>
                </a:solidFill>
                <a:latin typeface="Calibri"/>
              </a:rPr>
              <a:t>1 :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